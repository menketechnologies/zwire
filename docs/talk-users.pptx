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c3f36cbf-89d5-cc3e-ef84-c63d48bd6792}">
          <p14:sldIdLst>
            <p14:sldId id="256"/>
            <p14:sldId id="257"/>
            <p14:sldId id="258"/>
            <p14:sldId id="259"/>
            <p14:sldId id="260"/>
            <p14:sldId id="261"/>
            <p14:sldId id="262"/>
            <p14:sldId id="263"/>
            <p14:sldId id="294"/>
          </p14:sldIdLst>
        </p14:section>
        <p14:section name="Workspace" id="{1186bbcf-b634-b605-9817-d316b07b9397}">
          <p14:sldIdLst>
            <p14:sldId id="264"/>
            <p14:sldId id="265"/>
            <p14:sldId id="266"/>
            <p14:sldId id="267"/>
            <p14:sldId id="268"/>
            <p14:sldId id="269"/>
            <p14:sldId id="270"/>
          </p14:sldIdLst>
        </p14:section>
        <p14:section name="Automation" id="{21ff5a90-4115-a3ab-6028-217d834031f9}">
          <p14:sldIdLst>
            <p14:sldId id="271"/>
            <p14:sldId id="272"/>
            <p14:sldId id="273"/>
            <p14:sldId id="274"/>
            <p14:sldId id="275"/>
            <p14:sldId id="276"/>
            <p14:sldId id="277"/>
          </p14:sldIdLst>
        </p14:section>
        <p14:section name="Pages" id="{0e5025ac-4539-9e1c-bde9-8906c9c25eba}">
          <p14:sldIdLst>
            <p14:sldId id="278"/>
            <p14:sldId id="279"/>
            <p14:sldId id="280"/>
            <p14:sldId id="281"/>
            <p14:sldId id="285"/>
            <p14:sldId id="286"/>
            <p14:sldId id="287"/>
            <p14:sldId id="288"/>
          </p14:sldIdLst>
        </p14:section>
        <p14:section name="Audio" id="{5866b4c4-0394-64c1-1128-d6e188264828}">
          <p14:sldIdLst>
            <p14:sldId id="282"/>
            <p14:sldId id="283"/>
            <p14:sldId id="284"/>
          </p14:sldIdLst>
        </p14:section>
        <p14:section name="Reference" id="{adabe6cf-b224-b792-ea16-b187b3e6c929}">
          <p14:sldIdLst>
            <p14:sldId id="289"/>
            <p14:sldId id="290"/>
            <p14:sldId id="291"/>
            <p14:sldId id="292"/>
            <p14:sldId id="29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Audience: people who would use zwire as their browser. Everything here is from the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zwire is a Chromium and Blink browser forked into a cyberpunk HUD. It is not a theme and not a wrapper: a real engine running a keyboard-driven workspace layered on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zpwrchrome is a Manifest V3 extension that needs userScripts, declarativeNetRequestWithHostAccess, nativeMessaging, webRequest and a service-worker background. Only a real Chromium engine loads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Clone with submodules and run the install script. It fetches the Chromium base, builds the Monaco editor bundle, links zwire on PATH and rebrands the macOS bundle.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localinstall bundles the browser, all three extensions and the native binaries into one artifact per platform. It needs cargo at build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Chromium flag is passed through. The tmux prefix arms the tiling overlay and Cmd-K opens the palette.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$ZWIRE_STATE defaults to the OS application-data directory. A legacy ~/.zwire is migrated on first launch.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tmux server in the browser. Each pane is an embedded webview of any site. Press the prefix, then an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Broadcast typing to a chosen subset of panes rather than all of them. Marks, a clock and a registry-driven help overlay round out the overlay.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Durable, named sessions with full CRUD and SVG layout previews, on pages/sessions.html.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palette renders on four surfaces that share one item source: web pages, HUD pages, the new tab and zpwrchrome pages. Cmd-K is owned browser-wide as a chrome.commands shortcut.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Backed by palette-cmds.js, the single source of truth for items and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palette lists the live panes of the multiplexer running in your terminal, runs commands in them and moves text between the browser and tmux paste buffers over tmux's own wire protocol, with no tmux subprocess.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schemes, each with a light variant, drive the browser chrome natively. A light and dark toggle syncs across the HUD, the new tab and zpwrchrome.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Hooks HUD page binds stryke scripts to 54 browser events: tab, window, navigation, download, bookmark, terminal, scheme, audio and palette-command lifecycle, plus an action catch-all.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Bind a regex to page text as it renders and run a chain of typed steps on a match, the browser analog of a terminal-emulator trigger.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persisted, reactive dataflow edge between tiled webviews: extract text from a source pane, transform it, deliver it to a sink pane. No rival ships piping between tiled 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namespaced browser.* surface that the palette, keyboard shortcuts and stryke hooks all drive through a single service-worker executor, published as a typed, introspectable manifest.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chain of verbs runs as one unit that rolls back. Each step's pre-state is journaled as it executes and an abort replays the inverses in reverse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suite bus can ask what the browser is showing, answered from the live DOM after login and JavaScript, with no remote-debugging 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page.assert makes a failed postcondition a failed step, so a transaction unwinds itself when the page did not come out right. page.witness declares a premise that must still hold at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HUD reimplementations of Chrome's internal pages: extensions, settings, history, bookmarks and version, plus a keyboard-remap page and a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port of Vivaldi's Start Page onto the zwire new tab: named layouts you switch between, each with its own Speed Dial groups, widget grid, navigation rail and background.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HUD pages that bring the rest of the workspace into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Quality-of-life features carried by the palette and verbs.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always-on zdsp-core chain is compiled into the audio service, so every stream is processed before the OS device, live-reconfigurable with nothing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live dashboard over the engine with real post-DSP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zdsp-core chain, stage by stage, with the limiter dead last so nothing re-clips.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HUD pages connect the browser to the rest of the 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tabs: provider is a boolean query over every open tab, available in the palette.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vim-style keymap and a find bar run in every page, rebindable on the Keyboard HUD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HUD is built on zgui-core, the shared ZGui component library of 260 modules, a git submodule loaded straight from lib/zgui-core/webui.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README notes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fork compiles a patched Chromium so the native chrome carries the HUD: sharp tab shapes, the Share Tech Mono UI font, the neon toolbar, the omnibox and native menus bound to the HUD palette.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README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Swap the Chromium base and re-apply the rebrand.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page people can photograph.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Audience: people who would use zwire as their browser. Everything here is from the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pic>
        <p:nvPicPr>
          <p:cNvPr id="2" name="Image 0" descr="/private/tmp/claude-501/-Users-wizard-RustroverProjects-zshrs/2555d359-9a79-4736-9207-869cc21577b1/scratchpad/zwire_logo/logo-mark.png">    </p:cNvPr>
          <p:cNvPicPr>
            <a:picLocks noChangeAspect="1"/>
          </p:cNvPicPr>
          <p:nvPr/>
        </p:nvPicPr>
        <p:blipFill>
          <a:blip r:embed="rId1"/>
          <a:stretch>
            <a:fillRect/>
          </a:stretch>
        </p:blipFill>
        <p:spPr>
          <a:xfrm>
            <a:off x="11384280" y="411480"/>
            <a:ext cx="502920" cy="502920"/>
          </a:xfrm>
          <a:prstGeom prst="rect">
            <a:avLst/>
          </a:prstGeom>
        </p:spPr>
      </p:pic>
      <p:sp>
        <p:nvSpPr>
          <p:cNvPr id="3" name="Text 0"/>
          <p:cNvSpPr/>
          <p:nvPr>
            <p:ph idx="101" type="title" hasCustomPrompt="1"/>
          </p:nvPr>
        </p:nvSpPr>
        <p:spPr>
          <a:xfrm>
            <a:off x="822960" y="457200"/>
            <a:ext cx="10515600" cy="914400"/>
          </a:xfrm>
          <a:prstGeom prst="rect">
            <a:avLst/>
          </a:prstGeom>
          <a:noFill/>
          <a:ln/>
        </p:spPr>
        <p:txBody>
          <a:bodyPr wrap="square" rtlCol="0"/>
          <a:lstStyle>
            <a:lvl1pPr algn="l" indent="0" marL="0">
              <a:buNone/>
              <a:defRPr lang="en-US" sz="3600" b="1" dirty="0">
                <a:solidFill>
                  <a:schemeClr val="bg2"/>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pic>
        <p:nvPicPr>
          <p:cNvPr id="2" name="Image 0" descr="/private/tmp/claude-501/-Users-wizard-RustroverProjects-zshrs/2555d359-9a79-4736-9207-869cc21577b1/scratchpad/zwire_logo/logo-mark.png">    </p:cNvPr>
          <p:cNvPicPr>
            <a:picLocks noChangeAspect="1"/>
          </p:cNvPicPr>
          <p:nvPr/>
        </p:nvPicPr>
        <p:blipFill>
          <a:blip r:embed="rId1"/>
          <a:stretch>
            <a:fillRect/>
          </a:stretch>
        </p:blipFill>
        <p:spPr>
          <a:xfrm>
            <a:off x="11384280" y="411480"/>
            <a:ext cx="502920" cy="502920"/>
          </a:xfrm>
          <a:prstGeom prst="rect">
            <a:avLst/>
          </a:prstGeom>
        </p:spPr>
      </p:pic>
      <p:sp>
        <p:nvSpPr>
          <p:cNvPr id="3" name="Text 0"/>
          <p:cNvSpPr/>
          <p:nvPr>
            <p:ph idx="101" type="title" hasCustomPrompt="1"/>
          </p:nvPr>
        </p:nvSpPr>
        <p:spPr>
          <a:xfrm>
            <a:off x="822960" y="457200"/>
            <a:ext cx="10515600" cy="914400"/>
          </a:xfrm>
          <a:prstGeom prst="rect">
            <a:avLst/>
          </a:prstGeom>
          <a:noFill/>
          <a:ln/>
        </p:spPr>
        <p:txBody>
          <a:bodyPr wrap="square" rtlCol="0"/>
          <a:lstStyle>
            <a:lvl1pPr algn="l" indent="0" marL="0">
              <a:buNone/>
              <a:defRPr lang="en-US" sz="3600" b="1" dirty="0">
                <a:solidFill>
                  <a:schemeClr val="bg2"/>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ivate/tmp/claude-501/-Users-wizard-RustroverProjects-zshrs/2555d359-9a79-4736-9207-869cc21577b1/scratchpad/zwire_logo/logo-mark.png">    </p:cNvPr>
          <p:cNvPicPr>
            <a:picLocks noChangeAspect="1"/>
          </p:cNvPicPr>
          <p:nvPr/>
        </p:nvPicPr>
        <p:blipFill>
          <a:blip r:embed="rId1"/>
          <a:stretch>
            <a:fillRect/>
          </a:stretch>
        </p:blipFill>
        <p:spPr>
          <a:xfrm>
            <a:off x="822960" y="640080"/>
            <a:ext cx="2011680" cy="2011680"/>
          </a:xfrm>
          <a:prstGeom prst="rect">
            <a:avLst/>
          </a:prstGeom>
        </p:spPr>
      </p:pic>
      <p:sp>
        <p:nvSpPr>
          <p:cNvPr id="4" name="Text 0"/>
          <p:cNvSpPr txBox="1"/>
          <p:nvPr/>
        </p:nvSpPr>
        <p:spPr>
          <a:xfrm>
            <a:off x="3200400" y="822960"/>
            <a:ext cx="7315200" cy="1188720"/>
          </a:xfrm>
          <a:prstGeom prst="rect">
            <a:avLst/>
          </a:prstGeom>
          <a:noFill/>
          <a:ln/>
        </p:spPr>
        <p:txBody>
          <a:bodyPr wrap="square" lIns="0" tIns="0" rIns="0" bIns="0" rtlCol="0" anchor="t"/>
          <a:lstStyle/>
          <a:p>
            <a:pPr indent="0" marL="0">
              <a:buNone/>
            </a:pPr>
            <a:r>
              <a:rPr lang="en-US" sz="6600" b="1" dirty="0">
                <a:solidFill>
                  <a:schemeClr val="bg2"/>
                </a:solidFill>
                <a:latin typeface="Cambria" pitchFamily="34" charset="0"/>
                <a:ea typeface="Cambria" pitchFamily="34" charset="-122"/>
                <a:cs typeface="Cambria" pitchFamily="34" charset="-120"/>
              </a:rPr>
              <a:t>zwire</a:t>
            </a:r>
            <a:endParaRPr lang="en-US" sz="6600" dirty="0"/>
          </a:p>
        </p:txBody>
      </p:sp>
      <p:sp>
        <p:nvSpPr>
          <p:cNvPr id="5" name="Text 1"/>
          <p:cNvSpPr txBox="1"/>
          <p:nvPr/>
        </p:nvSpPr>
        <p:spPr>
          <a:xfrm>
            <a:off x="3200400" y="2011680"/>
            <a:ext cx="7315200" cy="457200"/>
          </a:xfrm>
          <a:prstGeom prst="rect">
            <a:avLst/>
          </a:prstGeom>
          <a:noFill/>
          <a:ln/>
        </p:spPr>
        <p:txBody>
          <a:bodyPr wrap="square" lIns="0" tIns="0" rIns="0" bIns="0" rtlCol="0" anchor="t"/>
          <a:lstStyle/>
          <a:p>
            <a:pPr indent="0" marL="0">
              <a:buNone/>
            </a:pPr>
            <a:r>
              <a:rPr lang="en-US" sz="2200" dirty="0">
                <a:solidFill>
                  <a:schemeClr val="accent1"/>
                </a:solidFill>
                <a:latin typeface="Courier New" pitchFamily="34" charset="0"/>
                <a:ea typeface="Courier New" pitchFamily="34" charset="-122"/>
                <a:cs typeface="Courier New" pitchFamily="34" charset="-120"/>
              </a:rPr>
              <a:t>zwire for users</a:t>
            </a:r>
            <a:endParaRPr lang="en-US" sz="2200" dirty="0"/>
          </a:p>
        </p:txBody>
      </p:sp>
      <p:sp>
        <p:nvSpPr>
          <p:cNvPr id="6" name="Text 2"/>
          <p:cNvSpPr txBox="1"/>
          <p:nvPr/>
        </p:nvSpPr>
        <p:spPr>
          <a:xfrm>
            <a:off x="822960" y="3200400"/>
            <a:ext cx="10515600" cy="1280160"/>
          </a:xfrm>
          <a:prstGeom prst="rect">
            <a:avLst/>
          </a:prstGeom>
          <a:noFill/>
          <a:ln/>
        </p:spPr>
        <p:txBody>
          <a:bodyPr wrap="square" lIns="0" tIns="0" rIns="0" bIns="0" rtlCol="0" anchor="t"/>
          <a:lstStyle/>
          <a:p>
            <a:pPr indent="0" marL="0">
              <a:buNone/>
            </a:pPr>
            <a:r>
              <a:rPr lang="en-US" sz="4400" b="1" dirty="0">
                <a:solidFill>
                  <a:schemeClr val="bg2"/>
                </a:solidFill>
                <a:latin typeface="Cambria" pitchFamily="34" charset="0"/>
                <a:ea typeface="Cambria" pitchFamily="34" charset="-122"/>
                <a:cs typeface="Cambria" pitchFamily="34" charset="-120"/>
              </a:rPr>
              <a:t>A browser that is a tiling workspace</a:t>
            </a:r>
            <a:endParaRPr lang="en-US" sz="4400" dirty="0"/>
          </a:p>
        </p:txBody>
      </p:sp>
      <p:sp>
        <p:nvSpPr>
          <p:cNvPr id="7" name="Text 3"/>
          <p:cNvSpPr txBox="1"/>
          <p:nvPr/>
        </p:nvSpPr>
        <p:spPr>
          <a:xfrm>
            <a:off x="822960" y="4937760"/>
            <a:ext cx="10058400" cy="548640"/>
          </a:xfrm>
          <a:prstGeom prst="rect">
            <a:avLst/>
          </a:prstGeom>
          <a:noFill/>
          <a:ln/>
        </p:spPr>
        <p:txBody>
          <a:bodyPr wrap="square" lIns="0" tIns="0" rIns="0" bIns="0" rtlCol="0" anchor="t"/>
          <a:lstStyle/>
          <a:p>
            <a:pPr indent="0" marL="0">
              <a:buNone/>
            </a:pPr>
            <a:r>
              <a:rPr lang="en-US" sz="2600" dirty="0">
                <a:solidFill>
                  <a:schemeClr val="accent5"/>
                </a:solidFill>
              </a:rPr>
              <a:t>A real Blink engine forked into a cyberpunk HUD.</a:t>
            </a:r>
            <a:endParaRPr lang="en-US" sz="2600" dirty="0"/>
          </a:p>
        </p:txBody>
      </p:sp>
      <p:sp>
        <p:nvSpPr>
          <p:cNvPr id="8"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What it is</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zwire users / overview</a:t>
            </a:r>
            <a:endParaRPr lang="en-US" sz="1200" dirty="0"/>
          </a:p>
        </p:txBody>
      </p:sp>
      <p:sp>
        <p:nvSpPr>
          <p:cNvPr id="5" name="Text 2"/>
          <p:cNvSpPr txBox="1"/>
          <p:nvPr/>
        </p:nvSpPr>
        <p:spPr>
          <a:xfrm>
            <a:off x="822960" y="1463040"/>
            <a:ext cx="10515600" cy="1141095"/>
          </a:xfrm>
          <a:prstGeom prst="rect">
            <a:avLst/>
          </a:prstGeom>
          <a:noFill/>
          <a:ln/>
        </p:spPr>
        <p:txBody>
          <a:bodyPr wrap="square" lIns="0" tIns="0" rIns="0" bIns="0" rtlCol="0" anchor="t"/>
          <a:lstStyle/>
          <a:p>
            <a:pPr indent="0" marL="0">
              <a:buNone/>
            </a:pPr>
            <a:r>
              <a:rPr lang="en-US" sz="2300" dirty="0">
                <a:solidFill>
                  <a:schemeClr val="bg2"/>
                </a:solidFill>
              </a:rPr>
              <a:t>zwire is a Chromium and Blink browser forked into a cyberpunk HUD. It is not a theme and not a wrapper: a real engine running a keyboard-driven workspace layered on top.</a:t>
            </a:r>
            <a:endParaRPr lang="en-US" sz="2300" dirty="0"/>
          </a:p>
        </p:txBody>
      </p:sp>
      <p:sp>
        <p:nvSpPr>
          <p:cNvPr id="6" name="Shape 3"/>
          <p:cNvSpPr/>
          <p:nvPr/>
        </p:nvSpPr>
        <p:spPr>
          <a:xfrm>
            <a:off x="822960" y="2832735"/>
            <a:ext cx="2491740" cy="3293745"/>
          </a:xfrm>
          <a:prstGeom prst="roundRect">
            <a:avLst>
              <a:gd name="adj" fmla="val 4404"/>
            </a:avLst>
          </a:prstGeom>
          <a:solidFill>
            <a:schemeClr val="tx2"/>
          </a:solidFill>
          <a:ln w="12700">
            <a:solidFill>
              <a:srgbClr val="4A1A5E"/>
            </a:solidFill>
            <a:prstDash val="solid"/>
          </a:ln>
        </p:spPr>
      </p:sp>
      <p:sp>
        <p:nvSpPr>
          <p:cNvPr id="7" name="Text 4"/>
          <p:cNvSpPr txBox="1"/>
          <p:nvPr/>
        </p:nvSpPr>
        <p:spPr>
          <a:xfrm>
            <a:off x="1097280" y="3061335"/>
            <a:ext cx="1943100" cy="457200"/>
          </a:xfrm>
          <a:prstGeom prst="rect">
            <a:avLst/>
          </a:prstGeom>
          <a:noFill/>
          <a:ln/>
        </p:spPr>
        <p:txBody>
          <a:bodyPr wrap="square" lIns="0" tIns="0" rIns="0" bIns="0" rtlCol="0" anchor="t"/>
          <a:lstStyle/>
          <a:p>
            <a:pPr indent="0" marL="0">
              <a:buNone/>
            </a:pPr>
            <a:r>
              <a:rPr lang="en-US" sz="2500" b="1" dirty="0">
                <a:solidFill>
                  <a:schemeClr val="accent1"/>
                </a:solidFill>
                <a:latin typeface="Cambria" pitchFamily="34" charset="0"/>
                <a:ea typeface="Cambria" pitchFamily="34" charset="-122"/>
                <a:cs typeface="Cambria" pitchFamily="34" charset="-120"/>
              </a:rPr>
              <a:t>Tiling</a:t>
            </a:r>
            <a:endParaRPr lang="en-US" sz="2500" dirty="0"/>
          </a:p>
        </p:txBody>
      </p:sp>
      <p:sp>
        <p:nvSpPr>
          <p:cNvPr id="8" name="Text 5"/>
          <p:cNvSpPr txBox="1"/>
          <p:nvPr/>
        </p:nvSpPr>
        <p:spPr>
          <a:xfrm>
            <a:off x="1097280" y="3655695"/>
            <a:ext cx="1943100" cy="2242185"/>
          </a:xfrm>
          <a:prstGeom prst="rect">
            <a:avLst/>
          </a:prstGeom>
          <a:noFill/>
          <a:ln/>
        </p:spPr>
        <p:txBody>
          <a:bodyPr wrap="square" lIns="0" tIns="0" rIns="0" bIns="0" rtlCol="0" anchor="t"/>
          <a:lstStyle/>
          <a:p>
            <a:pPr indent="0" marL="0">
              <a:buNone/>
            </a:pPr>
            <a:r>
              <a:rPr lang="en-US" sz="2100" dirty="0">
                <a:solidFill>
                  <a:schemeClr val="bg2"/>
                </a:solidFill>
              </a:rPr>
              <a:t>tmux-style overlay with unlimited windows and recursive pane splits</a:t>
            </a:r>
            <a:endParaRPr lang="en-US" sz="2100" dirty="0"/>
          </a:p>
        </p:txBody>
      </p:sp>
      <p:sp>
        <p:nvSpPr>
          <p:cNvPr id="9" name="Shape 6"/>
          <p:cNvSpPr/>
          <p:nvPr/>
        </p:nvSpPr>
        <p:spPr>
          <a:xfrm>
            <a:off x="3497580" y="2832735"/>
            <a:ext cx="2491740" cy="3293745"/>
          </a:xfrm>
          <a:prstGeom prst="roundRect">
            <a:avLst>
              <a:gd name="adj" fmla="val 4404"/>
            </a:avLst>
          </a:prstGeom>
          <a:solidFill>
            <a:schemeClr val="tx2"/>
          </a:solidFill>
          <a:ln w="12700">
            <a:solidFill>
              <a:srgbClr val="4A1A5E"/>
            </a:solidFill>
            <a:prstDash val="solid"/>
          </a:ln>
        </p:spPr>
      </p:sp>
      <p:sp>
        <p:nvSpPr>
          <p:cNvPr id="10" name="Text 7"/>
          <p:cNvSpPr txBox="1"/>
          <p:nvPr/>
        </p:nvSpPr>
        <p:spPr>
          <a:xfrm>
            <a:off x="3771900" y="3061335"/>
            <a:ext cx="1943100" cy="457200"/>
          </a:xfrm>
          <a:prstGeom prst="rect">
            <a:avLst/>
          </a:prstGeom>
          <a:noFill/>
          <a:ln/>
        </p:spPr>
        <p:txBody>
          <a:bodyPr wrap="square" lIns="0" tIns="0" rIns="0" bIns="0" rtlCol="0" anchor="t"/>
          <a:lstStyle/>
          <a:p>
            <a:pPr indent="0" marL="0">
              <a:buNone/>
            </a:pPr>
            <a:r>
              <a:rPr lang="en-US" sz="2500" b="1" dirty="0">
                <a:solidFill>
                  <a:schemeClr val="accent1"/>
                </a:solidFill>
                <a:latin typeface="Cambria" pitchFamily="34" charset="0"/>
                <a:ea typeface="Cambria" pitchFamily="34" charset="-122"/>
                <a:cs typeface="Cambria" pitchFamily="34" charset="-120"/>
              </a:rPr>
              <a:t>Palette</a:t>
            </a:r>
            <a:endParaRPr lang="en-US" sz="2500" dirty="0"/>
          </a:p>
        </p:txBody>
      </p:sp>
      <p:sp>
        <p:nvSpPr>
          <p:cNvPr id="11" name="Text 8"/>
          <p:cNvSpPr txBox="1"/>
          <p:nvPr/>
        </p:nvSpPr>
        <p:spPr>
          <a:xfrm>
            <a:off x="3771900" y="3655695"/>
            <a:ext cx="1943100" cy="2242185"/>
          </a:xfrm>
          <a:prstGeom prst="rect">
            <a:avLst/>
          </a:prstGeom>
          <a:noFill/>
          <a:ln/>
        </p:spPr>
        <p:txBody>
          <a:bodyPr wrap="square" lIns="0" tIns="0" rIns="0" bIns="0" rtlCol="0" anchor="t"/>
          <a:lstStyle/>
          <a:p>
            <a:pPr indent="0" marL="0">
              <a:buNone/>
            </a:pPr>
            <a:r>
              <a:rPr lang="en-US" sz="2100" dirty="0">
                <a:solidFill>
                  <a:schemeClr val="bg2"/>
                </a:solidFill>
              </a:rPr>
              <a:t>A command palette on Cmd-K, vim-style navigation, find bar</a:t>
            </a:r>
            <a:endParaRPr lang="en-US" sz="2100" dirty="0"/>
          </a:p>
        </p:txBody>
      </p:sp>
      <p:sp>
        <p:nvSpPr>
          <p:cNvPr id="12" name="Shape 9"/>
          <p:cNvSpPr/>
          <p:nvPr/>
        </p:nvSpPr>
        <p:spPr>
          <a:xfrm>
            <a:off x="6172200" y="2832735"/>
            <a:ext cx="2491740" cy="3293745"/>
          </a:xfrm>
          <a:prstGeom prst="roundRect">
            <a:avLst>
              <a:gd name="adj" fmla="val 4404"/>
            </a:avLst>
          </a:prstGeom>
          <a:solidFill>
            <a:schemeClr val="tx2"/>
          </a:solidFill>
          <a:ln w="12700">
            <a:solidFill>
              <a:srgbClr val="4A1A5E"/>
            </a:solidFill>
            <a:prstDash val="solid"/>
          </a:ln>
        </p:spPr>
      </p:sp>
      <p:sp>
        <p:nvSpPr>
          <p:cNvPr id="13" name="Text 10"/>
          <p:cNvSpPr txBox="1"/>
          <p:nvPr/>
        </p:nvSpPr>
        <p:spPr>
          <a:xfrm>
            <a:off x="6446520" y="3061335"/>
            <a:ext cx="1943100" cy="457200"/>
          </a:xfrm>
          <a:prstGeom prst="rect">
            <a:avLst/>
          </a:prstGeom>
          <a:noFill/>
          <a:ln/>
        </p:spPr>
        <p:txBody>
          <a:bodyPr wrap="square" lIns="0" tIns="0" rIns="0" bIns="0" rtlCol="0" anchor="t"/>
          <a:lstStyle/>
          <a:p>
            <a:pPr indent="0" marL="0">
              <a:buNone/>
            </a:pPr>
            <a:r>
              <a:rPr lang="en-US" sz="2500" b="1" dirty="0">
                <a:solidFill>
                  <a:schemeClr val="accent1"/>
                </a:solidFill>
                <a:latin typeface="Cambria" pitchFamily="34" charset="0"/>
                <a:ea typeface="Cambria" pitchFamily="34" charset="-122"/>
                <a:cs typeface="Cambria" pitchFamily="34" charset="-120"/>
              </a:rPr>
              <a:t>Real tmux</a:t>
            </a:r>
            <a:endParaRPr lang="en-US" sz="2500" dirty="0"/>
          </a:p>
        </p:txBody>
      </p:sp>
      <p:sp>
        <p:nvSpPr>
          <p:cNvPr id="14" name="Text 11"/>
          <p:cNvSpPr txBox="1"/>
          <p:nvPr/>
        </p:nvSpPr>
        <p:spPr>
          <a:xfrm>
            <a:off x="6446520" y="3655695"/>
            <a:ext cx="1943100" cy="2242185"/>
          </a:xfrm>
          <a:prstGeom prst="rect">
            <a:avLst/>
          </a:prstGeom>
          <a:noFill/>
          <a:ln/>
        </p:spPr>
        <p:txBody>
          <a:bodyPr wrap="square" lIns="0" tIns="0" rIns="0" bIns="0" rtlCol="0" anchor="t"/>
          <a:lstStyle/>
          <a:p>
            <a:pPr indent="0" marL="0">
              <a:buNone/>
            </a:pPr>
            <a:r>
              <a:rPr lang="en-US" sz="2100" dirty="0">
                <a:solidFill>
                  <a:schemeClr val="bg2"/>
                </a:solidFill>
              </a:rPr>
              <a:t>Lists and drives the live panes of your terminal multiplexer</a:t>
            </a:r>
            <a:endParaRPr lang="en-US" sz="2100" dirty="0"/>
          </a:p>
        </p:txBody>
      </p:sp>
      <p:sp>
        <p:nvSpPr>
          <p:cNvPr id="15" name="Shape 12"/>
          <p:cNvSpPr/>
          <p:nvPr/>
        </p:nvSpPr>
        <p:spPr>
          <a:xfrm>
            <a:off x="8846820" y="2832735"/>
            <a:ext cx="2491740" cy="3293745"/>
          </a:xfrm>
          <a:prstGeom prst="roundRect">
            <a:avLst>
              <a:gd name="adj" fmla="val 4404"/>
            </a:avLst>
          </a:prstGeom>
          <a:solidFill>
            <a:schemeClr val="tx2"/>
          </a:solidFill>
          <a:ln w="12700">
            <a:solidFill>
              <a:srgbClr val="4A1A5E"/>
            </a:solidFill>
            <a:prstDash val="solid"/>
          </a:ln>
        </p:spPr>
      </p:sp>
      <p:sp>
        <p:nvSpPr>
          <p:cNvPr id="16" name="Text 13"/>
          <p:cNvSpPr txBox="1"/>
          <p:nvPr/>
        </p:nvSpPr>
        <p:spPr>
          <a:xfrm>
            <a:off x="9121140" y="3061335"/>
            <a:ext cx="1943100" cy="457200"/>
          </a:xfrm>
          <a:prstGeom prst="rect">
            <a:avLst/>
          </a:prstGeom>
          <a:noFill/>
          <a:ln/>
        </p:spPr>
        <p:txBody>
          <a:bodyPr wrap="square" lIns="0" tIns="0" rIns="0" bIns="0" rtlCol="0" anchor="t"/>
          <a:lstStyle/>
          <a:p>
            <a:pPr indent="0" marL="0">
              <a:buNone/>
            </a:pPr>
            <a:r>
              <a:rPr lang="en-US" sz="2500" b="1" dirty="0">
                <a:solidFill>
                  <a:schemeClr val="accent1"/>
                </a:solidFill>
                <a:latin typeface="Cambria" pitchFamily="34" charset="0"/>
                <a:ea typeface="Cambria" pitchFamily="34" charset="-122"/>
                <a:cs typeface="Cambria" pitchFamily="34" charset="-120"/>
              </a:rPr>
              <a:t>Schemes</a:t>
            </a:r>
            <a:endParaRPr lang="en-US" sz="2500" dirty="0"/>
          </a:p>
        </p:txBody>
      </p:sp>
      <p:sp>
        <p:nvSpPr>
          <p:cNvPr id="17" name="Text 14"/>
          <p:cNvSpPr txBox="1"/>
          <p:nvPr/>
        </p:nvSpPr>
        <p:spPr>
          <a:xfrm>
            <a:off x="9121140" y="3655695"/>
            <a:ext cx="1943100" cy="2242185"/>
          </a:xfrm>
          <a:prstGeom prst="rect">
            <a:avLst/>
          </a:prstGeom>
          <a:noFill/>
          <a:ln/>
        </p:spPr>
        <p:txBody>
          <a:bodyPr wrap="square" lIns="0" tIns="0" rIns="0" bIns="0" rtlCol="0" anchor="t"/>
          <a:lstStyle/>
          <a:p>
            <a:pPr indent="0" marL="0">
              <a:buNone/>
            </a:pPr>
            <a:r>
              <a:rPr lang="en-US" sz="2100" dirty="0">
                <a:solidFill>
                  <a:schemeClr val="bg2"/>
                </a:solidFill>
              </a:rPr>
              <a:t>Eight colour schemes, each with a light variant</a:t>
            </a:r>
            <a:endParaRPr lang="en-US" sz="21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What this deck covers</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zwire users / agenda</a:t>
            </a:r>
            <a:endParaRPr lang="en-US" sz="1200" dirty="0"/>
          </a:p>
        </p:txBody>
      </p:sp>
      <p:sp>
        <p:nvSpPr>
          <p:cNvPr id="5" name="Text 2"/>
          <p:cNvSpPr txBox="1"/>
          <p:nvPr/>
        </p:nvSpPr>
        <p:spPr>
          <a:xfrm>
            <a:off x="822960" y="1463040"/>
            <a:ext cx="10515600" cy="426720"/>
          </a:xfrm>
          <a:prstGeom prst="rect">
            <a:avLst/>
          </a:prstGeom>
          <a:noFill/>
          <a:ln/>
        </p:spPr>
        <p:txBody>
          <a:bodyPr wrap="square" lIns="0" tIns="0" rIns="0" bIns="0" rtlCol="0" anchor="t"/>
          <a:lstStyle/>
          <a:p>
            <a:pPr indent="0" marL="0">
              <a:buNone/>
            </a:pPr>
            <a:r>
              <a:rPr lang="en-US" sz="2400" dirty="0">
                <a:solidFill>
                  <a:schemeClr val="bg2"/>
                </a:solidFill>
              </a:rPr>
              <a:t>Six parts.</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2118360"/>
          <a:ext cx="10515600" cy="914400"/>
        </p:xfrm>
        <a:graphic>
          <a:graphicData uri="http://schemas.openxmlformats.org/drawingml/2006/table">
            <a:tbl>
              <a:tblPr/>
              <a:tblGrid>
                <a:gridCol w="2377440"/>
                <a:gridCol w="8138160"/>
              </a:tblGrid>
              <a:tr h="572589">
                <a:tc>
                  <a:txBody>
                    <a:bodyPr/>
                    <a:lstStyle/>
                    <a:p>
                      <a:pPr indent="0" marL="0">
                        <a:buNone/>
                      </a:pPr>
                      <a:r>
                        <a:rPr lang="en-US" sz="2300" b="1" dirty="0">
                          <a:solidFill>
                            <a:schemeClr val="accent1"/>
                          </a:solidFill>
                        </a:rPr>
                        <a:t>Part</a:t>
                      </a:r>
                      <a:endParaRPr lang="en-US" sz="23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c>
                  <a:txBody>
                    <a:bodyPr/>
                    <a:lstStyle/>
                    <a:p>
                      <a:pPr indent="0" marL="0">
                        <a:buNone/>
                      </a:pPr>
                      <a:r>
                        <a:rPr lang="en-US" sz="2300" b="1" dirty="0">
                          <a:solidFill>
                            <a:schemeClr val="accent1"/>
                          </a:solidFill>
                        </a:rPr>
                        <a:t>Contents</a:t>
                      </a:r>
                      <a:endParaRPr lang="en-US" sz="23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r>
              <a:tr h="572589">
                <a:tc>
                  <a:txBody>
                    <a:bodyPr/>
                    <a:lstStyle/>
                    <a:p>
                      <a:pPr indent="0" marL="0">
                        <a:buNone/>
                      </a:pPr>
                      <a:r>
                        <a:rPr lang="en-US" sz="2300" dirty="0">
                          <a:solidFill>
                            <a:schemeClr val="bg2"/>
                          </a:solidFill>
                        </a:rPr>
                        <a:t>Start</a:t>
                      </a:r>
                      <a:endParaRPr lang="en-US" sz="23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c>
                  <a:txBody>
                    <a:bodyPr/>
                    <a:lstStyle/>
                    <a:p>
                      <a:pPr indent="0" marL="0">
                        <a:buNone/>
                      </a:pPr>
                      <a:r>
                        <a:rPr lang="en-US" sz="2300" dirty="0">
                          <a:solidFill>
                            <a:schemeClr val="bg2"/>
                          </a:solidFill>
                        </a:rPr>
                        <a:t>Why a real engine, install, usage, state</a:t>
                      </a:r>
                      <a:endParaRPr lang="en-US" sz="23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r>
              <a:tr h="572589">
                <a:tc>
                  <a:txBody>
                    <a:bodyPr/>
                    <a:lstStyle/>
                    <a:p>
                      <a:pPr indent="0" marL="0">
                        <a:buNone/>
                      </a:pPr>
                      <a:r>
                        <a:rPr lang="en-US" sz="2300" dirty="0">
                          <a:solidFill>
                            <a:schemeClr val="bg2"/>
                          </a:solidFill>
                        </a:rPr>
                        <a:t>Workspace</a:t>
                      </a:r>
                      <a:endParaRPr lang="en-US" sz="23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c>
                  <a:txBody>
                    <a:bodyPr/>
                    <a:lstStyle/>
                    <a:p>
                      <a:pPr indent="0" marL="0">
                        <a:buNone/>
                      </a:pPr>
                      <a:r>
                        <a:rPr lang="en-US" sz="2300" dirty="0">
                          <a:solidFill>
                            <a:schemeClr val="bg2"/>
                          </a:solidFill>
                        </a:rPr>
                        <a:t>Tiling overlay, sessions, palette, tmux</a:t>
                      </a:r>
                      <a:endParaRPr lang="en-US" sz="23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r>
              <a:tr h="572589">
                <a:tc>
                  <a:txBody>
                    <a:bodyPr/>
                    <a:lstStyle/>
                    <a:p>
                      <a:pPr indent="0" marL="0">
                        <a:buNone/>
                      </a:pPr>
                      <a:r>
                        <a:rPr lang="en-US" sz="2300" dirty="0">
                          <a:solidFill>
                            <a:schemeClr val="bg2"/>
                          </a:solidFill>
                        </a:rPr>
                        <a:t>Automation</a:t>
                      </a:r>
                      <a:endParaRPr lang="en-US" sz="23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c>
                  <a:txBody>
                    <a:bodyPr/>
                    <a:lstStyle/>
                    <a:p>
                      <a:pPr indent="0" marL="0">
                        <a:buNone/>
                      </a:pPr>
                      <a:r>
                        <a:rPr lang="en-US" sz="2300" dirty="0">
                          <a:solidFill>
                            <a:schemeClr val="bg2"/>
                          </a:solidFill>
                        </a:rPr>
                        <a:t>Hooks, triggers, pipelines, undoable browsing</a:t>
                      </a:r>
                      <a:endParaRPr lang="en-US" sz="23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r>
              <a:tr h="572589">
                <a:tc>
                  <a:txBody>
                    <a:bodyPr/>
                    <a:lstStyle/>
                    <a:p>
                      <a:pPr indent="0" marL="0">
                        <a:buNone/>
                      </a:pPr>
                      <a:r>
                        <a:rPr lang="en-US" sz="2300" dirty="0">
                          <a:solidFill>
                            <a:schemeClr val="bg2"/>
                          </a:solidFill>
                        </a:rPr>
                        <a:t>Pages</a:t>
                      </a:r>
                      <a:endParaRPr lang="en-US" sz="23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c>
                  <a:txBody>
                    <a:bodyPr/>
                    <a:lstStyle/>
                    <a:p>
                      <a:pPr indent="0" marL="0">
                        <a:buNone/>
                      </a:pPr>
                      <a:r>
                        <a:rPr lang="en-US" sz="2300" dirty="0">
                          <a:solidFill>
                            <a:schemeClr val="bg2"/>
                          </a:solidFill>
                        </a:rPr>
                        <a:t>HUD pages, new tab layouts, files, timeline</a:t>
                      </a:r>
                      <a:endParaRPr lang="en-US" sz="23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r>
              <a:tr h="572589">
                <a:tc>
                  <a:txBody>
                    <a:bodyPr/>
                    <a:lstStyle/>
                    <a:p>
                      <a:pPr indent="0" marL="0">
                        <a:buNone/>
                      </a:pPr>
                      <a:r>
                        <a:rPr lang="en-US" sz="2300" dirty="0">
                          <a:solidFill>
                            <a:schemeClr val="bg2"/>
                          </a:solidFill>
                        </a:rPr>
                        <a:t>Audio</a:t>
                      </a:r>
                      <a:endParaRPr lang="en-US" sz="23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c>
                  <a:txBody>
                    <a:bodyPr/>
                    <a:lstStyle/>
                    <a:p>
                      <a:pPr indent="0" marL="0">
                        <a:buNone/>
                      </a:pPr>
                      <a:r>
                        <a:rPr lang="en-US" sz="2300" dirty="0">
                          <a:solidFill>
                            <a:schemeClr val="bg2"/>
                          </a:solidFill>
                        </a:rPr>
                        <a:t>The browser-wide DSP engine</a:t>
                      </a:r>
                      <a:endParaRPr lang="en-US" sz="23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r>
              <a:tr h="572589">
                <a:tc>
                  <a:txBody>
                    <a:bodyPr/>
                    <a:lstStyle/>
                    <a:p>
                      <a:pPr indent="0" marL="0">
                        <a:buNone/>
                      </a:pPr>
                      <a:r>
                        <a:rPr lang="en-US" sz="2300" dirty="0">
                          <a:solidFill>
                            <a:schemeClr val="bg2"/>
                          </a:solidFill>
                        </a:rPr>
                        <a:t>Reference</a:t>
                      </a:r>
                      <a:endParaRPr lang="en-US" sz="23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c>
                  <a:txBody>
                    <a:bodyPr/>
                    <a:lstStyle/>
                    <a:p>
                      <a:pPr indent="0" marL="0">
                        <a:buNone/>
                      </a:pPr>
                      <a:r>
                        <a:rPr lang="en-US" sz="2300" dirty="0">
                          <a:solidFill>
                            <a:schemeClr val="bg2"/>
                          </a:solidFill>
                        </a:rPr>
                        <a:t>Fork, platforms, cheat sheet</a:t>
                      </a:r>
                      <a:endParaRPr lang="en-US" sz="23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Why a real Blink base</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zwire users / base</a:t>
            </a:r>
            <a:endParaRPr lang="en-US" sz="1200" dirty="0"/>
          </a:p>
        </p:txBody>
      </p:sp>
      <p:sp>
        <p:nvSpPr>
          <p:cNvPr id="5" name="Text 2"/>
          <p:cNvSpPr txBox="1"/>
          <p:nvPr/>
        </p:nvSpPr>
        <p:spPr>
          <a:xfrm>
            <a:off x="822960" y="1463040"/>
            <a:ext cx="10515600" cy="998220"/>
          </a:xfrm>
          <a:prstGeom prst="rect">
            <a:avLst/>
          </a:prstGeom>
          <a:noFill/>
          <a:ln/>
        </p:spPr>
        <p:txBody>
          <a:bodyPr wrap="square" lIns="0" tIns="0" rIns="0" bIns="0" rtlCol="0" anchor="t"/>
          <a:lstStyle/>
          <a:p>
            <a:pPr indent="0" marL="0">
              <a:buNone/>
            </a:pPr>
            <a:r>
              <a:rPr lang="en-US" sz="2000" dirty="0">
                <a:solidFill>
                  <a:schemeClr val="bg2"/>
                </a:solidFill>
              </a:rPr>
              <a:t>zpwrchrome is a Manifest V3 extension that needs userScripts, declarativeNetRequestWithHostAccess, nativeMessaging, webRequest and a service-worker background. Only a real Chromium engine loads it.</a:t>
            </a:r>
            <a:endParaRPr lang="en-US" sz="2000" dirty="0"/>
          </a:p>
        </p:txBody>
      </p:sp>
      <p:sp>
        <p:nvSpPr>
          <p:cNvPr id="6" name="Shape 3"/>
          <p:cNvSpPr/>
          <p:nvPr/>
        </p:nvSpPr>
        <p:spPr>
          <a:xfrm>
            <a:off x="822960" y="2689860"/>
            <a:ext cx="2491740" cy="3436620"/>
          </a:xfrm>
          <a:prstGeom prst="roundRect">
            <a:avLst>
              <a:gd name="adj" fmla="val 4404"/>
            </a:avLst>
          </a:prstGeom>
          <a:solidFill>
            <a:schemeClr val="tx2"/>
          </a:solidFill>
          <a:ln w="12700">
            <a:solidFill>
              <a:srgbClr val="4A1A5E"/>
            </a:solidFill>
            <a:prstDash val="solid"/>
          </a:ln>
        </p:spPr>
      </p:sp>
      <p:sp>
        <p:nvSpPr>
          <p:cNvPr id="7" name="Text 4"/>
          <p:cNvSpPr txBox="1"/>
          <p:nvPr/>
        </p:nvSpPr>
        <p:spPr>
          <a:xfrm>
            <a:off x="1097280" y="2918460"/>
            <a:ext cx="194310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Not WebKit</a:t>
            </a:r>
            <a:endParaRPr lang="en-US" sz="2200" dirty="0"/>
          </a:p>
        </p:txBody>
      </p:sp>
      <p:sp>
        <p:nvSpPr>
          <p:cNvPr id="8" name="Text 5"/>
          <p:cNvSpPr txBox="1"/>
          <p:nvPr/>
        </p:nvSpPr>
        <p:spPr>
          <a:xfrm>
            <a:off x="1097280" y="3512820"/>
            <a:ext cx="1943100" cy="2385060"/>
          </a:xfrm>
          <a:prstGeom prst="rect">
            <a:avLst/>
          </a:prstGeom>
          <a:noFill/>
          <a:ln/>
        </p:spPr>
        <p:txBody>
          <a:bodyPr wrap="square" lIns="0" tIns="0" rIns="0" bIns="0" rtlCol="0" anchor="t"/>
          <a:lstStyle/>
          <a:p>
            <a:pPr indent="0" marL="0">
              <a:buNone/>
            </a:pPr>
            <a:r>
              <a:rPr lang="en-US" sz="2000" dirty="0">
                <a:solidFill>
                  <a:schemeClr val="bg2"/>
                </a:solidFill>
              </a:rPr>
              <a:t>None of it runs on Tauri, Safari or Servo</a:t>
            </a:r>
            <a:endParaRPr lang="en-US" sz="2000" dirty="0"/>
          </a:p>
        </p:txBody>
      </p:sp>
      <p:sp>
        <p:nvSpPr>
          <p:cNvPr id="9" name="Shape 6"/>
          <p:cNvSpPr/>
          <p:nvPr/>
        </p:nvSpPr>
        <p:spPr>
          <a:xfrm>
            <a:off x="3497580" y="2689860"/>
            <a:ext cx="2491740" cy="3436620"/>
          </a:xfrm>
          <a:prstGeom prst="roundRect">
            <a:avLst>
              <a:gd name="adj" fmla="val 4404"/>
            </a:avLst>
          </a:prstGeom>
          <a:solidFill>
            <a:schemeClr val="tx2"/>
          </a:solidFill>
          <a:ln w="12700">
            <a:solidFill>
              <a:srgbClr val="4A1A5E"/>
            </a:solidFill>
            <a:prstDash val="solid"/>
          </a:ln>
        </p:spPr>
      </p:sp>
      <p:sp>
        <p:nvSpPr>
          <p:cNvPr id="10" name="Text 7"/>
          <p:cNvSpPr txBox="1"/>
          <p:nvPr/>
        </p:nvSpPr>
        <p:spPr>
          <a:xfrm>
            <a:off x="3771900" y="2918460"/>
            <a:ext cx="194310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Framing</a:t>
            </a:r>
            <a:endParaRPr lang="en-US" sz="2200" dirty="0"/>
          </a:p>
        </p:txBody>
      </p:sp>
      <p:sp>
        <p:nvSpPr>
          <p:cNvPr id="11" name="Text 8"/>
          <p:cNvSpPr txBox="1"/>
          <p:nvPr/>
        </p:nvSpPr>
        <p:spPr>
          <a:xfrm>
            <a:off x="3771900" y="3512820"/>
            <a:ext cx="1943100" cy="2385060"/>
          </a:xfrm>
          <a:prstGeom prst="rect">
            <a:avLst/>
          </a:prstGeom>
          <a:noFill/>
          <a:ln/>
        </p:spPr>
        <p:txBody>
          <a:bodyPr wrap="square" lIns="0" tIns="0" rIns="0" bIns="0" rtlCol="0" anchor="t"/>
          <a:lstStyle/>
          <a:p>
            <a:pPr indent="0" marL="0">
              <a:buNone/>
            </a:pPr>
            <a:r>
              <a:rPr lang="en-US" sz="2000" dirty="0">
                <a:solidFill>
                  <a:schemeClr val="bg2"/>
                </a:solidFill>
              </a:rPr>
              <a:t>Panes iframe arbitrary sites, which needs the fork's frame-ancestors bypass</a:t>
            </a:r>
            <a:endParaRPr lang="en-US" sz="2000" dirty="0"/>
          </a:p>
        </p:txBody>
      </p:sp>
      <p:sp>
        <p:nvSpPr>
          <p:cNvPr id="12" name="Shape 9"/>
          <p:cNvSpPr/>
          <p:nvPr/>
        </p:nvSpPr>
        <p:spPr>
          <a:xfrm>
            <a:off x="6172200" y="2689860"/>
            <a:ext cx="2491740" cy="3436620"/>
          </a:xfrm>
          <a:prstGeom prst="roundRect">
            <a:avLst>
              <a:gd name="adj" fmla="val 4404"/>
            </a:avLst>
          </a:prstGeom>
          <a:solidFill>
            <a:schemeClr val="tx2"/>
          </a:solidFill>
          <a:ln w="12700">
            <a:solidFill>
              <a:srgbClr val="4A1A5E"/>
            </a:solidFill>
            <a:prstDash val="solid"/>
          </a:ln>
        </p:spPr>
      </p:sp>
      <p:sp>
        <p:nvSpPr>
          <p:cNvPr id="13" name="Text 10"/>
          <p:cNvSpPr txBox="1"/>
          <p:nvPr/>
        </p:nvSpPr>
        <p:spPr>
          <a:xfrm>
            <a:off x="6446520" y="2918460"/>
            <a:ext cx="194310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Unbranded</a:t>
            </a:r>
            <a:endParaRPr lang="en-US" sz="2200" dirty="0"/>
          </a:p>
        </p:txBody>
      </p:sp>
      <p:sp>
        <p:nvSpPr>
          <p:cNvPr id="14" name="Text 11"/>
          <p:cNvSpPr txBox="1"/>
          <p:nvPr/>
        </p:nvSpPr>
        <p:spPr>
          <a:xfrm>
            <a:off x="6446520" y="3512820"/>
            <a:ext cx="1943100" cy="2385060"/>
          </a:xfrm>
          <a:prstGeom prst="rect">
            <a:avLst/>
          </a:prstGeom>
          <a:noFill/>
          <a:ln/>
        </p:spPr>
        <p:txBody>
          <a:bodyPr wrap="square" lIns="0" tIns="0" rIns="0" bIns="0" rtlCol="0" anchor="t"/>
          <a:lstStyle/>
          <a:p>
            <a:pPr indent="0" marL="0">
              <a:buNone/>
            </a:pPr>
            <a:r>
              <a:rPr lang="en-US" sz="2000" dirty="0">
                <a:solidFill>
                  <a:schemeClr val="bg2"/>
                </a:solidFill>
              </a:rPr>
              <a:t>No Google logo and no automated-testing banner</a:t>
            </a:r>
            <a:endParaRPr lang="en-US" sz="2000" dirty="0"/>
          </a:p>
        </p:txBody>
      </p:sp>
      <p:sp>
        <p:nvSpPr>
          <p:cNvPr id="15" name="Shape 12"/>
          <p:cNvSpPr/>
          <p:nvPr/>
        </p:nvSpPr>
        <p:spPr>
          <a:xfrm>
            <a:off x="8846820" y="2689860"/>
            <a:ext cx="2491740" cy="3436620"/>
          </a:xfrm>
          <a:prstGeom prst="roundRect">
            <a:avLst>
              <a:gd name="adj" fmla="val 4404"/>
            </a:avLst>
          </a:prstGeom>
          <a:solidFill>
            <a:schemeClr val="tx2"/>
          </a:solidFill>
          <a:ln w="12700">
            <a:solidFill>
              <a:srgbClr val="4A1A5E"/>
            </a:solidFill>
            <a:prstDash val="solid"/>
          </a:ln>
        </p:spPr>
      </p:sp>
      <p:sp>
        <p:nvSpPr>
          <p:cNvPr id="16" name="Text 13"/>
          <p:cNvSpPr txBox="1"/>
          <p:nvPr/>
        </p:nvSpPr>
        <p:spPr>
          <a:xfrm>
            <a:off x="9121140" y="2918460"/>
            <a:ext cx="194310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Extensions</a:t>
            </a:r>
            <a:endParaRPr lang="en-US" sz="2200" dirty="0"/>
          </a:p>
        </p:txBody>
      </p:sp>
      <p:sp>
        <p:nvSpPr>
          <p:cNvPr id="17" name="Text 14"/>
          <p:cNvSpPr txBox="1"/>
          <p:nvPr/>
        </p:nvSpPr>
        <p:spPr>
          <a:xfrm>
            <a:off x="9121140" y="3512820"/>
            <a:ext cx="1943100" cy="2385060"/>
          </a:xfrm>
          <a:prstGeom prst="rect">
            <a:avLst/>
          </a:prstGeom>
          <a:noFill/>
          <a:ln/>
        </p:spPr>
        <p:txBody>
          <a:bodyPr wrap="square" lIns="0" tIns="0" rIns="0" bIns="0" rtlCol="0" anchor="t"/>
          <a:lstStyle/>
          <a:p>
            <a:pPr indent="0" marL="0">
              <a:buNone/>
            </a:pPr>
            <a:r>
              <a:rPr lang="en-US" sz="2000" dirty="0">
                <a:solidFill>
                  <a:schemeClr val="bg2"/>
                </a:solidFill>
              </a:rPr>
              <a:t>--load-extension survives; branded Chrome removed it in 137</a:t>
            </a:r>
            <a:endParaRPr lang="en-US" sz="20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Install</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zwire users / install</a:t>
            </a:r>
            <a:endParaRPr lang="en-US" sz="1200" dirty="0"/>
          </a:p>
        </p:txBody>
      </p:sp>
      <p:sp>
        <p:nvSpPr>
          <p:cNvPr id="5" name="Text 2"/>
          <p:cNvSpPr txBox="1"/>
          <p:nvPr/>
        </p:nvSpPr>
        <p:spPr>
          <a:xfrm>
            <a:off x="822960" y="1463040"/>
            <a:ext cx="10515600" cy="1141095"/>
          </a:xfrm>
          <a:prstGeom prst="rect">
            <a:avLst/>
          </a:prstGeom>
          <a:noFill/>
          <a:ln/>
        </p:spPr>
        <p:txBody>
          <a:bodyPr wrap="square" lIns="0" tIns="0" rIns="0" bIns="0" rtlCol="0" anchor="t"/>
          <a:lstStyle/>
          <a:p>
            <a:pPr indent="0" marL="0">
              <a:buNone/>
            </a:pPr>
            <a:r>
              <a:rPr lang="en-US" sz="2300" dirty="0">
                <a:solidFill>
                  <a:schemeClr val="bg2"/>
                </a:solidFill>
              </a:rPr>
              <a:t>Clone with submodules and run the install script. It fetches the Chromium base, builds the Monaco editor bundle, links zwire on PATH and rebrands the macOS bundle.</a:t>
            </a:r>
            <a:endParaRPr lang="en-US" sz="2300" dirty="0"/>
          </a:p>
        </p:txBody>
      </p:sp>
      <p:sp>
        <p:nvSpPr>
          <p:cNvPr id="6" name="Shape 3"/>
          <p:cNvSpPr/>
          <p:nvPr/>
        </p:nvSpPr>
        <p:spPr>
          <a:xfrm>
            <a:off x="822960" y="2832735"/>
            <a:ext cx="10515600" cy="1757680"/>
          </a:xfrm>
          <a:prstGeom prst="roundRect">
            <a:avLst>
              <a:gd name="adj" fmla="val 6243"/>
            </a:avLst>
          </a:prstGeom>
          <a:solidFill>
            <a:schemeClr val="tx2"/>
          </a:solidFill>
          <a:ln w="12700">
            <a:solidFill>
              <a:srgbClr val="4A1A5E"/>
            </a:solidFill>
            <a:prstDash val="solid"/>
          </a:ln>
        </p:spPr>
      </p:sp>
      <p:sp>
        <p:nvSpPr>
          <p:cNvPr id="7" name="Text 4"/>
          <p:cNvSpPr txBox="1"/>
          <p:nvPr/>
        </p:nvSpPr>
        <p:spPr>
          <a:xfrm>
            <a:off x="1143000" y="3061335"/>
            <a:ext cx="9875520" cy="1300480"/>
          </a:xfrm>
          <a:prstGeom prst="rect">
            <a:avLst/>
          </a:prstGeom>
          <a:noFill/>
          <a:ln/>
        </p:spPr>
        <p:txBody>
          <a:bodyPr wrap="square" lIns="0" tIns="0" rIns="0" bIns="0" rtlCol="0" anchor="t"/>
          <a:lstStyle/>
          <a:p>
            <a:pPr indent="0" marL="0">
              <a:lnSpc>
                <a:spcPct val="125000"/>
              </a:lnSpc>
              <a:buNone/>
            </a:pPr>
            <a:r>
              <a:rPr lang="en-US" sz="1600" dirty="0">
                <a:solidFill>
                  <a:schemeClr val="accent1"/>
                </a:solidFill>
                <a:latin typeface="Courier New" pitchFamily="34" charset="0"/>
                <a:ea typeface="Courier New" pitchFamily="34" charset="-122"/>
                <a:cs typeface="Courier New" pitchFamily="34" charset="-120"/>
              </a:rPr>
              <a:t>git clone --recurse-submodules https://github.com/MenkeTechnologies/zwire.git</a:t>
            </a:r>
            <a:endParaRPr lang="en-US" sz="1600" dirty="0"/>
          </a:p>
          <a:p>
            <a:pPr indent="0" marL="0">
              <a:lnSpc>
                <a:spcPct val="125000"/>
              </a:lnSpc>
              <a:buNone/>
            </a:pPr>
            <a:r>
              <a:rPr lang="en-US" sz="1600" dirty="0">
                <a:solidFill>
                  <a:schemeClr val="accent1"/>
                </a:solidFill>
                <a:latin typeface="Courier New" pitchFamily="34" charset="0"/>
                <a:ea typeface="Courier New" pitchFamily="34" charset="-122"/>
                <a:cs typeface="Courier New" pitchFamily="34" charset="-120"/>
              </a:rPr>
              <a:t>cd zwire</a:t>
            </a:r>
            <a:endParaRPr lang="en-US" sz="1600" dirty="0"/>
          </a:p>
          <a:p>
            <a:pPr indent="0" marL="0">
              <a:lnSpc>
                <a:spcPct val="125000"/>
              </a:lnSpc>
              <a:buNone/>
            </a:pPr>
            <a:r>
              <a:rPr lang="en-US" sz="1600" dirty="0">
                <a:solidFill>
                  <a:schemeClr val="accent1"/>
                </a:solidFill>
                <a:latin typeface="Courier New" pitchFamily="34" charset="0"/>
                <a:ea typeface="Courier New" pitchFamily="34" charset="-122"/>
                <a:cs typeface="Courier New" pitchFamily="34" charset="-120"/>
              </a:rPr>
              <a:t>scripts/install.sh</a:t>
            </a:r>
            <a:endParaRPr lang="en-US" sz="1600" dirty="0"/>
          </a:p>
          <a:p>
            <a:pPr indent="0" marL="0">
              <a:lnSpc>
                <a:spcPct val="125000"/>
              </a:lnSpc>
              <a:buNone/>
            </a:pPr>
            <a:r>
              <a:rPr lang="en-US" sz="1600" dirty="0">
                <a:solidFill>
                  <a:schemeClr val="accent1"/>
                </a:solidFill>
                <a:latin typeface="Courier New" pitchFamily="34" charset="0"/>
                <a:ea typeface="Courier New" pitchFamily="34" charset="-122"/>
                <a:cs typeface="Courier New" pitchFamily="34" charset="-120"/>
              </a:rPr>
              <a:t>zwire</a:t>
            </a:r>
            <a:endParaRPr lang="en-US" sz="16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Self-contained install</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zwire users / install</a:t>
            </a:r>
            <a:endParaRPr lang="en-US" sz="1200" dirty="0"/>
          </a:p>
        </p:txBody>
      </p:sp>
      <p:sp>
        <p:nvSpPr>
          <p:cNvPr id="5" name="Text 2"/>
          <p:cNvSpPr txBox="1"/>
          <p:nvPr/>
        </p:nvSpPr>
        <p:spPr>
          <a:xfrm>
            <a:off x="822960" y="1463040"/>
            <a:ext cx="10515600" cy="775970"/>
          </a:xfrm>
          <a:prstGeom prst="rect">
            <a:avLst/>
          </a:prstGeom>
          <a:noFill/>
          <a:ln/>
        </p:spPr>
        <p:txBody>
          <a:bodyPr wrap="square" lIns="0" tIns="0" rIns="0" bIns="0" rtlCol="0" anchor="t"/>
          <a:lstStyle/>
          <a:p>
            <a:pPr indent="0" marL="0">
              <a:buNone/>
            </a:pPr>
            <a:r>
              <a:rPr lang="en-US" sz="2300" dirty="0">
                <a:solidFill>
                  <a:schemeClr val="bg2"/>
                </a:solidFill>
              </a:rPr>
              <a:t>localinstall bundles the browser, all three extensions and the native binaries into one artifact per platform. It needs cargo at build time.</a:t>
            </a:r>
            <a:endParaRPr lang="en-US" sz="2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2467610"/>
          <a:ext cx="10515600" cy="914400"/>
        </p:xfrm>
        <a:graphic>
          <a:graphicData uri="http://schemas.openxmlformats.org/drawingml/2006/table">
            <a:tbl>
              <a:tblPr/>
              <a:tblGrid>
                <a:gridCol w="2011680"/>
                <a:gridCol w="4572000"/>
                <a:gridCol w="3931920"/>
              </a:tblGrid>
              <a:tr h="822960">
                <a:tc>
                  <a:txBody>
                    <a:bodyPr/>
                    <a:lstStyle/>
                    <a:p>
                      <a:pPr indent="0" marL="0">
                        <a:buNone/>
                      </a:pPr>
                      <a:r>
                        <a:rPr lang="en-US" sz="2100" b="1" dirty="0">
                          <a:solidFill>
                            <a:schemeClr val="accent1"/>
                          </a:solidFill>
                        </a:rPr>
                        <a:t>Platform</a:t>
                      </a:r>
                      <a:endParaRPr lang="en-US" sz="21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c>
                  <a:txBody>
                    <a:bodyPr/>
                    <a:lstStyle/>
                    <a:p>
                      <a:pPr indent="0" marL="0">
                        <a:buNone/>
                      </a:pPr>
                      <a:r>
                        <a:rPr lang="en-US" sz="2100" b="1" dirty="0">
                          <a:solidFill>
                            <a:schemeClr val="accent1"/>
                          </a:solidFill>
                        </a:rPr>
                        <a:t>Script</a:t>
                      </a:r>
                      <a:endParaRPr lang="en-US" sz="21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c>
                  <a:txBody>
                    <a:bodyPr/>
                    <a:lstStyle/>
                    <a:p>
                      <a:pPr indent="0" marL="0">
                        <a:buNone/>
                      </a:pPr>
                      <a:r>
                        <a:rPr lang="en-US" sz="2100" b="1" dirty="0">
                          <a:solidFill>
                            <a:schemeClr val="accent1"/>
                          </a:solidFill>
                        </a:rPr>
                        <a:t>Installs to</a:t>
                      </a:r>
                      <a:endParaRPr lang="en-US" sz="21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r>
              <a:tr h="822960">
                <a:tc>
                  <a:txBody>
                    <a:bodyPr/>
                    <a:lstStyle/>
                    <a:p>
                      <a:pPr indent="0" marL="0">
                        <a:buNone/>
                      </a:pPr>
                      <a:r>
                        <a:rPr lang="en-US" sz="2100" dirty="0">
                          <a:solidFill>
                            <a:schemeClr val="bg2"/>
                          </a:solidFill>
                        </a:rPr>
                        <a:t>macOS</a:t>
                      </a:r>
                      <a:endParaRPr lang="en-US" sz="21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c>
                  <a:txBody>
                    <a:bodyPr/>
                    <a:lstStyle/>
                    <a:p>
                      <a:pPr indent="0" marL="0">
                        <a:buNone/>
                      </a:pPr>
                      <a:r>
                        <a:rPr lang="en-US" sz="2100" dirty="0">
                          <a:solidFill>
                            <a:schemeClr val="bg2"/>
                          </a:solidFill>
                        </a:rPr>
                        <a:t>scripts/localinstall.sh</a:t>
                      </a:r>
                      <a:endParaRPr lang="en-US" sz="21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c>
                  <a:txBody>
                    <a:bodyPr/>
                    <a:lstStyle/>
                    <a:p>
                      <a:pPr indent="0" marL="0">
                        <a:buNone/>
                      </a:pPr>
                      <a:r>
                        <a:rPr lang="en-US" sz="2100" dirty="0">
                          <a:solidFill>
                            <a:schemeClr val="bg2"/>
                          </a:solidFill>
                        </a:rPr>
                        <a:t>/Applications/zwire.app</a:t>
                      </a:r>
                      <a:endParaRPr lang="en-US" sz="21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r>
              <a:tr h="822960">
                <a:tc>
                  <a:txBody>
                    <a:bodyPr/>
                    <a:lstStyle/>
                    <a:p>
                      <a:pPr indent="0" marL="0">
                        <a:buNone/>
                      </a:pPr>
                      <a:r>
                        <a:rPr lang="en-US" sz="2100" dirty="0">
                          <a:solidFill>
                            <a:schemeClr val="bg2"/>
                          </a:solidFill>
                        </a:rPr>
                        <a:t>Linux</a:t>
                      </a:r>
                      <a:endParaRPr lang="en-US" sz="21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c>
                  <a:txBody>
                    <a:bodyPr/>
                    <a:lstStyle/>
                    <a:p>
                      <a:pPr indent="0" marL="0">
                        <a:buNone/>
                      </a:pPr>
                      <a:r>
                        <a:rPr lang="en-US" sz="2100" dirty="0">
                          <a:solidFill>
                            <a:schemeClr val="bg2"/>
                          </a:solidFill>
                        </a:rPr>
                        <a:t>scripts/localinstall-linux.sh</a:t>
                      </a:r>
                      <a:endParaRPr lang="en-US" sz="21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c>
                  <a:txBody>
                    <a:bodyPr/>
                    <a:lstStyle/>
                    <a:p>
                      <a:pPr indent="0" marL="0">
                        <a:buNone/>
                      </a:pPr>
                      <a:r>
                        <a:rPr lang="en-US" sz="2100" dirty="0">
                          <a:solidFill>
                            <a:schemeClr val="bg2"/>
                          </a:solidFill>
                        </a:rPr>
                        <a:t>~/.local/opt/zwire plus a .desktop entry</a:t>
                      </a:r>
                      <a:endParaRPr lang="en-US" sz="21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r>
              <a:tr h="822960">
                <a:tc>
                  <a:txBody>
                    <a:bodyPr/>
                    <a:lstStyle/>
                    <a:p>
                      <a:pPr indent="0" marL="0">
                        <a:buNone/>
                      </a:pPr>
                      <a:r>
                        <a:rPr lang="en-US" sz="2100" dirty="0">
                          <a:solidFill>
                            <a:schemeClr val="bg2"/>
                          </a:solidFill>
                        </a:rPr>
                        <a:t>Windows</a:t>
                      </a:r>
                      <a:endParaRPr lang="en-US" sz="21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c>
                  <a:txBody>
                    <a:bodyPr/>
                    <a:lstStyle/>
                    <a:p>
                      <a:pPr indent="0" marL="0">
                        <a:buNone/>
                      </a:pPr>
                      <a:r>
                        <a:rPr lang="en-US" sz="2100" dirty="0">
                          <a:solidFill>
                            <a:schemeClr val="bg2"/>
                          </a:solidFill>
                        </a:rPr>
                        <a:t>scripts/localinstall-windows.ps1</a:t>
                      </a:r>
                      <a:endParaRPr lang="en-US" sz="21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c>
                  <a:txBody>
                    <a:bodyPr/>
                    <a:lstStyle/>
                    <a:p>
                      <a:pPr indent="0" marL="0">
                        <a:buNone/>
                      </a:pPr>
                      <a:r>
                        <a:rPr lang="en-US" sz="2100" dirty="0">
                          <a:solidFill>
                            <a:schemeClr val="bg2"/>
                          </a:solidFill>
                        </a:rPr>
                        <a:t>%LOCALAPPDATA%\zwire plus Start Menu</a:t>
                      </a:r>
                      <a:endParaRPr lang="en-US" sz="21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Usage</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zwire users / usage</a:t>
            </a:r>
            <a:endParaRPr lang="en-US" sz="1200" dirty="0"/>
          </a:p>
        </p:txBody>
      </p:sp>
      <p:sp>
        <p:nvSpPr>
          <p:cNvPr id="5" name="Text 2"/>
          <p:cNvSpPr txBox="1"/>
          <p:nvPr/>
        </p:nvSpPr>
        <p:spPr>
          <a:xfrm>
            <a:off x="822960" y="1463040"/>
            <a:ext cx="10515600" cy="807720"/>
          </a:xfrm>
          <a:prstGeom prst="rect">
            <a:avLst/>
          </a:prstGeom>
          <a:noFill/>
          <a:ln/>
        </p:spPr>
        <p:txBody>
          <a:bodyPr wrap="square" lIns="0" tIns="0" rIns="0" bIns="0" rtlCol="0" anchor="t"/>
          <a:lstStyle/>
          <a:p>
            <a:pPr indent="0" marL="0">
              <a:buNone/>
            </a:pPr>
            <a:r>
              <a:rPr lang="en-US" sz="2400" dirty="0">
                <a:solidFill>
                  <a:schemeClr val="bg2"/>
                </a:solidFill>
              </a:rPr>
              <a:t>Any Chromium flag is passed through. The tmux prefix arms the tiling overlay and Cmd-K opens the palette.</a:t>
            </a:r>
            <a:endParaRPr lang="en-US" sz="2400" dirty="0"/>
          </a:p>
        </p:txBody>
      </p:sp>
      <p:sp>
        <p:nvSpPr>
          <p:cNvPr id="6" name="Shape 3"/>
          <p:cNvSpPr/>
          <p:nvPr/>
        </p:nvSpPr>
        <p:spPr>
          <a:xfrm>
            <a:off x="822960" y="2499360"/>
            <a:ext cx="10515600" cy="1798320"/>
          </a:xfrm>
          <a:prstGeom prst="roundRect">
            <a:avLst>
              <a:gd name="adj" fmla="val 6102"/>
            </a:avLst>
          </a:prstGeom>
          <a:solidFill>
            <a:schemeClr val="tx2"/>
          </a:solidFill>
          <a:ln w="12700">
            <a:solidFill>
              <a:srgbClr val="4A1A5E"/>
            </a:solidFill>
            <a:prstDash val="solid"/>
          </a:ln>
        </p:spPr>
      </p:sp>
      <p:sp>
        <p:nvSpPr>
          <p:cNvPr id="7" name="Text 4"/>
          <p:cNvSpPr txBox="1"/>
          <p:nvPr/>
        </p:nvSpPr>
        <p:spPr>
          <a:xfrm>
            <a:off x="1143000" y="2727960"/>
            <a:ext cx="9875520" cy="1341120"/>
          </a:xfrm>
          <a:prstGeom prst="rect">
            <a:avLst/>
          </a:prstGeom>
          <a:noFill/>
          <a:ln/>
        </p:spPr>
        <p:txBody>
          <a:bodyPr wrap="square" lIns="0" tIns="0" rIns="0" bIns="0" rtlCol="0" anchor="t"/>
          <a:lstStyle/>
          <a:p>
            <a:pPr indent="0" marL="0">
              <a:lnSpc>
                <a:spcPct val="125000"/>
              </a:lnSpc>
              <a:buNone/>
            </a:pPr>
            <a:r>
              <a:rPr lang="en-US" sz="2200" dirty="0">
                <a:solidFill>
                  <a:schemeClr val="accent1"/>
                </a:solidFill>
                <a:latin typeface="Courier New" pitchFamily="34" charset="0"/>
                <a:ea typeface="Courier New" pitchFamily="34" charset="-122"/>
                <a:cs typeface="Courier New" pitchFamily="34" charset="-120"/>
              </a:rPr>
              <a:t>zwire                         # open with the HUD new tab</a:t>
            </a:r>
            <a:endParaRPr lang="en-US" sz="2200" dirty="0"/>
          </a:p>
          <a:p>
            <a:pPr indent="0" marL="0">
              <a:lnSpc>
                <a:spcPct val="125000"/>
              </a:lnSpc>
              <a:buNone/>
            </a:pPr>
            <a:r>
              <a:rPr lang="en-US" sz="2200" dirty="0">
                <a:solidFill>
                  <a:schemeClr val="accent1"/>
                </a:solidFill>
                <a:latin typeface="Courier New" pitchFamily="34" charset="0"/>
                <a:ea typeface="Courier New" pitchFamily="34" charset="-122"/>
                <a:cs typeface="Courier New" pitchFamily="34" charset="-120"/>
              </a:rPr>
              <a:t>zwire https://github.com      # open a url</a:t>
            </a:r>
            <a:endParaRPr lang="en-US" sz="2200" dirty="0"/>
          </a:p>
          <a:p>
            <a:pPr indent="0" marL="0">
              <a:lnSpc>
                <a:spcPct val="125000"/>
              </a:lnSpc>
              <a:buNone/>
            </a:pPr>
            <a:r>
              <a:rPr lang="en-US" sz="2200" dirty="0">
                <a:solidFill>
                  <a:schemeClr val="accent1"/>
                </a:solidFill>
                <a:latin typeface="Courier New" pitchFamily="34" charset="0"/>
                <a:ea typeface="Courier New" pitchFamily="34" charset="-122"/>
                <a:cs typeface="Courier New" pitchFamily="34" charset="-120"/>
              </a:rPr>
              <a:t>zwire --incognito             # any Chromium flag</a:t>
            </a:r>
            <a:endParaRPr lang="en-US" sz="2200" dirty="0"/>
          </a:p>
        </p:txBody>
      </p:sp>
      <p:sp>
        <p:nvSpPr>
          <p:cNvPr id="8" name="Text 5"/>
          <p:cNvSpPr txBox="1"/>
          <p:nvPr/>
        </p:nvSpPr>
        <p:spPr>
          <a:xfrm>
            <a:off x="822960" y="4572000"/>
            <a:ext cx="10515600" cy="1554480"/>
          </a:xfrm>
          <a:prstGeom prst="rect">
            <a:avLst/>
          </a:prstGeom>
          <a:noFill/>
          <a:ln/>
        </p:spPr>
        <p:txBody>
          <a:bodyPr wrap="square" lIns="0" tIns="0" rIns="0" bIns="0" rtlCol="0" anchor="t"/>
          <a:lstStyle/>
          <a:p>
            <a:pPr marL="342900" indent="-342900">
              <a:spcAft>
                <a:spcPts val="1000"/>
              </a:spcAft>
              <a:buSzPct val="100000"/>
              <a:buChar char="•"/>
            </a:pPr>
            <a:r>
              <a:rPr lang="en-US" sz="3000" dirty="0">
                <a:solidFill>
                  <a:schemeClr val="bg2"/>
                </a:solidFill>
              </a:rPr>
              <a:t>Default prefix is Ctrl-b or Option-B; rebind it on the Keyboard HUD page</a:t>
            </a:r>
            <a:endParaRPr lang="en-US" sz="30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Where state lives</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zwire users / state</a:t>
            </a:r>
            <a:endParaRPr lang="en-US" sz="1200" dirty="0"/>
          </a:p>
        </p:txBody>
      </p:sp>
      <p:sp>
        <p:nvSpPr>
          <p:cNvPr id="5" name="Text 2"/>
          <p:cNvSpPr txBox="1"/>
          <p:nvPr/>
        </p:nvSpPr>
        <p:spPr>
          <a:xfrm>
            <a:off x="822960" y="1463040"/>
            <a:ext cx="10515600" cy="807720"/>
          </a:xfrm>
          <a:prstGeom prst="rect">
            <a:avLst/>
          </a:prstGeom>
          <a:noFill/>
          <a:ln/>
        </p:spPr>
        <p:txBody>
          <a:bodyPr wrap="square" lIns="0" tIns="0" rIns="0" bIns="0" rtlCol="0" anchor="t"/>
          <a:lstStyle/>
          <a:p>
            <a:pPr indent="0" marL="0">
              <a:buNone/>
            </a:pPr>
            <a:r>
              <a:rPr lang="en-US" sz="2400" dirty="0">
                <a:solidFill>
                  <a:schemeClr val="bg2"/>
                </a:solidFill>
              </a:rPr>
              <a:t>$ZWIRE_STATE defaults to the OS application-data directory. A legacy ~/.zwire is migrated on first launch.</a:t>
            </a:r>
            <a:endParaRPr lang="en-US" sz="2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2960" y="2499360"/>
          <a:ext cx="10515600" cy="914400"/>
        </p:xfrm>
        <a:graphic>
          <a:graphicData uri="http://schemas.openxmlformats.org/drawingml/2006/table">
            <a:tbl>
              <a:tblPr/>
              <a:tblGrid>
                <a:gridCol w="3840480"/>
                <a:gridCol w="6675120"/>
              </a:tblGrid>
              <a:tr h="725424">
                <a:tc>
                  <a:txBody>
                    <a:bodyPr/>
                    <a:lstStyle/>
                    <a:p>
                      <a:pPr indent="0" marL="0">
                        <a:buNone/>
                      </a:pPr>
                      <a:r>
                        <a:rPr lang="en-US" sz="1800" b="1" dirty="0">
                          <a:solidFill>
                            <a:schemeClr val="accent1"/>
                          </a:solidFill>
                        </a:rPr>
                        <a:t>Path</a:t>
                      </a:r>
                      <a:endParaRPr lang="en-US" sz="18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c>
                  <a:txBody>
                    <a:bodyPr/>
                    <a:lstStyle/>
                    <a:p>
                      <a:pPr indent="0" marL="0">
                        <a:buNone/>
                      </a:pPr>
                      <a:r>
                        <a:rPr lang="en-US" sz="1800" b="1" dirty="0">
                          <a:solidFill>
                            <a:schemeClr val="accent1"/>
                          </a:solidFill>
                        </a:rPr>
                        <a:t>Purpose</a:t>
                      </a:r>
                      <a:endParaRPr lang="en-US" sz="18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r>
              <a:tr h="725424">
                <a:tc>
                  <a:txBody>
                    <a:bodyPr/>
                    <a:lstStyle/>
                    <a:p>
                      <a:pPr indent="0" marL="0">
                        <a:buNone/>
                      </a:pPr>
                      <a:r>
                        <a:rPr lang="en-US" sz="1800" dirty="0">
                          <a:solidFill>
                            <a:schemeClr val="bg2"/>
                          </a:solidFill>
                        </a:rPr>
                        <a:t>base/</a:t>
                      </a:r>
                      <a:endParaRPr lang="en-US" sz="18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c>
                  <a:txBody>
                    <a:bodyPr/>
                    <a:lstStyle/>
                    <a:p>
                      <a:pPr indent="0" marL="0">
                        <a:buNone/>
                      </a:pPr>
                      <a:r>
                        <a:rPr lang="en-US" sz="1800" dirty="0">
                          <a:solidFill>
                            <a:schemeClr val="bg2"/>
                          </a:solidFill>
                        </a:rPr>
                        <a:t>The Chromium binary</a:t>
                      </a:r>
                      <a:endParaRPr lang="en-US" sz="18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r>
              <a:tr h="725424">
                <a:tc>
                  <a:txBody>
                    <a:bodyPr/>
                    <a:lstStyle/>
                    <a:p>
                      <a:pPr indent="0" marL="0">
                        <a:buNone/>
                      </a:pPr>
                      <a:r>
                        <a:rPr lang="en-US" sz="1800" dirty="0">
                          <a:solidFill>
                            <a:schemeClr val="bg2"/>
                          </a:solidFill>
                        </a:rPr>
                        <a:t>base.path, base.version</a:t>
                      </a:r>
                      <a:endParaRPr lang="en-US" sz="18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c>
                  <a:txBody>
                    <a:bodyPr/>
                    <a:lstStyle/>
                    <a:p>
                      <a:pPr indent="0" marL="0">
                        <a:buNone/>
                      </a:pPr>
                      <a:r>
                        <a:rPr lang="en-US" sz="1800" dirty="0">
                          <a:solidFill>
                            <a:schemeClr val="bg2"/>
                          </a:solidFill>
                        </a:rPr>
                        <a:t>Resolved binary and pinned revision</a:t>
                      </a:r>
                      <a:endParaRPr lang="en-US" sz="18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r>
              <a:tr h="725424">
                <a:tc>
                  <a:txBody>
                    <a:bodyPr/>
                    <a:lstStyle/>
                    <a:p>
                      <a:pPr indent="0" marL="0">
                        <a:buNone/>
                      </a:pPr>
                      <a:r>
                        <a:rPr lang="en-US" sz="1800" dirty="0">
                          <a:solidFill>
                            <a:schemeClr val="bg2"/>
                          </a:solidFill>
                        </a:rPr>
                        <a:t>profile/</a:t>
                      </a:r>
                      <a:endParaRPr lang="en-US" sz="18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c>
                  <a:txBody>
                    <a:bodyPr/>
                    <a:lstStyle/>
                    <a:p>
                      <a:pPr indent="0" marL="0">
                        <a:buNone/>
                      </a:pPr>
                      <a:r>
                        <a:rPr lang="en-US" sz="1800" dirty="0">
                          <a:solidFill>
                            <a:schemeClr val="bg2"/>
                          </a:solidFill>
                        </a:rPr>
                        <a:t>Dedicated user-data-dir: bookmarks, history, sessions</a:t>
                      </a:r>
                      <a:endParaRPr lang="en-US" sz="18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r>
              <a:tr h="725424">
                <a:tc>
                  <a:txBody>
                    <a:bodyPr/>
                    <a:lstStyle/>
                    <a:p>
                      <a:pPr indent="0" marL="0">
                        <a:buNone/>
                      </a:pPr>
                      <a:r>
                        <a:rPr lang="en-US" sz="1800" dirty="0">
                          <a:solidFill>
                            <a:schemeClr val="bg2"/>
                          </a:solidFill>
                        </a:rPr>
                        <a:t>ext/</a:t>
                      </a:r>
                      <a:endParaRPr lang="en-US" sz="18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c>
                  <a:txBody>
                    <a:bodyPr/>
                    <a:lstStyle/>
                    <a:p>
                      <a:pPr indent="0" marL="0">
                        <a:buNone/>
                      </a:pPr>
                      <a:r>
                        <a:rPr lang="en-US" sz="1800" dirty="0">
                          <a:solidFill>
                            <a:schemeClr val="bg2"/>
                          </a:solidFill>
                        </a:rPr>
                        <a:t>Per-user writable copy of the loaded extensions</a:t>
                      </a:r>
                      <a:endParaRPr lang="en-US" sz="18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ztmux: tiling overlay</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zwire users / tiling</a:t>
            </a:r>
            <a:endParaRPr lang="en-US" sz="1200" dirty="0"/>
          </a:p>
        </p:txBody>
      </p:sp>
      <p:sp>
        <p:nvSpPr>
          <p:cNvPr id="5" name="Text 2"/>
          <p:cNvSpPr txBox="1"/>
          <p:nvPr/>
        </p:nvSpPr>
        <p:spPr>
          <a:xfrm>
            <a:off x="822960" y="1463040"/>
            <a:ext cx="10515600" cy="807720"/>
          </a:xfrm>
          <a:prstGeom prst="rect">
            <a:avLst/>
          </a:prstGeom>
          <a:noFill/>
          <a:ln/>
        </p:spPr>
        <p:txBody>
          <a:bodyPr wrap="square" lIns="0" tIns="0" rIns="0" bIns="0" rtlCol="0" anchor="t"/>
          <a:lstStyle/>
          <a:p>
            <a:pPr indent="0" marL="0">
              <a:buNone/>
            </a:pPr>
            <a:r>
              <a:rPr lang="en-US" sz="2400" dirty="0">
                <a:solidFill>
                  <a:schemeClr val="bg2"/>
                </a:solidFill>
              </a:rPr>
              <a:t>A tmux server in the browser. Each pane is an embedded webview of any site. Press the prefix, then an action.</a:t>
            </a:r>
            <a:endParaRPr lang="en-US" sz="2400" dirty="0"/>
          </a:p>
        </p:txBody>
      </p:sp>
      <p:sp>
        <p:nvSpPr>
          <p:cNvPr id="6" name="Shape 3"/>
          <p:cNvSpPr/>
          <p:nvPr/>
        </p:nvSpPr>
        <p:spPr>
          <a:xfrm>
            <a:off x="822960" y="2499360"/>
            <a:ext cx="2491740" cy="3627120"/>
          </a:xfrm>
          <a:prstGeom prst="roundRect">
            <a:avLst>
              <a:gd name="adj" fmla="val 4404"/>
            </a:avLst>
          </a:prstGeom>
          <a:solidFill>
            <a:schemeClr val="tx2"/>
          </a:solidFill>
          <a:ln w="12700">
            <a:solidFill>
              <a:srgbClr val="4A1A5E"/>
            </a:solidFill>
            <a:prstDash val="solid"/>
          </a:ln>
        </p:spPr>
      </p:sp>
      <p:sp>
        <p:nvSpPr>
          <p:cNvPr id="7" name="Text 4"/>
          <p:cNvSpPr txBox="1"/>
          <p:nvPr/>
        </p:nvSpPr>
        <p:spPr>
          <a:xfrm>
            <a:off x="1097280" y="2727960"/>
            <a:ext cx="1943100" cy="457200"/>
          </a:xfrm>
          <a:prstGeom prst="rect">
            <a:avLst/>
          </a:prstGeom>
          <a:noFill/>
          <a:ln/>
        </p:spPr>
        <p:txBody>
          <a:bodyPr wrap="square" lIns="0" tIns="0" rIns="0" bIns="0" rtlCol="0" anchor="t"/>
          <a:lstStyle/>
          <a:p>
            <a:pPr indent="0" marL="0">
              <a:buNone/>
            </a:pPr>
            <a:r>
              <a:rPr lang="en-US" sz="2500" b="1" dirty="0">
                <a:solidFill>
                  <a:schemeClr val="accent1"/>
                </a:solidFill>
                <a:latin typeface="Cambria" pitchFamily="34" charset="0"/>
                <a:ea typeface="Cambria" pitchFamily="34" charset="-122"/>
                <a:cs typeface="Cambria" pitchFamily="34" charset="-120"/>
              </a:rPr>
              <a:t>Panes</a:t>
            </a:r>
            <a:endParaRPr lang="en-US" sz="2500" dirty="0"/>
          </a:p>
        </p:txBody>
      </p:sp>
      <p:sp>
        <p:nvSpPr>
          <p:cNvPr id="8" name="Text 5"/>
          <p:cNvSpPr txBox="1"/>
          <p:nvPr/>
        </p:nvSpPr>
        <p:spPr>
          <a:xfrm>
            <a:off x="1097280" y="3322320"/>
            <a:ext cx="1943100" cy="2575560"/>
          </a:xfrm>
          <a:prstGeom prst="rect">
            <a:avLst/>
          </a:prstGeom>
          <a:noFill/>
          <a:ln/>
        </p:spPr>
        <p:txBody>
          <a:bodyPr wrap="square" lIns="0" tIns="0" rIns="0" bIns="0" rtlCol="0" anchor="t"/>
          <a:lstStyle/>
          <a:p>
            <a:pPr indent="0" marL="0">
              <a:buNone/>
            </a:pPr>
            <a:r>
              <a:rPr lang="en-US" sz="2300" dirty="0">
                <a:solidFill>
                  <a:schemeClr val="bg2"/>
                </a:solidFill>
              </a:rPr>
              <a:t>Split h or v, directional nav with arrows and h j k l, resize</a:t>
            </a:r>
            <a:endParaRPr lang="en-US" sz="2300" dirty="0"/>
          </a:p>
        </p:txBody>
      </p:sp>
      <p:sp>
        <p:nvSpPr>
          <p:cNvPr id="9" name="Shape 6"/>
          <p:cNvSpPr/>
          <p:nvPr/>
        </p:nvSpPr>
        <p:spPr>
          <a:xfrm>
            <a:off x="3497580" y="2499360"/>
            <a:ext cx="2491740" cy="3627120"/>
          </a:xfrm>
          <a:prstGeom prst="roundRect">
            <a:avLst>
              <a:gd name="adj" fmla="val 4404"/>
            </a:avLst>
          </a:prstGeom>
          <a:solidFill>
            <a:schemeClr val="tx2"/>
          </a:solidFill>
          <a:ln w="12700">
            <a:solidFill>
              <a:srgbClr val="4A1A5E"/>
            </a:solidFill>
            <a:prstDash val="solid"/>
          </a:ln>
        </p:spPr>
      </p:sp>
      <p:sp>
        <p:nvSpPr>
          <p:cNvPr id="10" name="Text 7"/>
          <p:cNvSpPr txBox="1"/>
          <p:nvPr/>
        </p:nvSpPr>
        <p:spPr>
          <a:xfrm>
            <a:off x="3771900" y="2727960"/>
            <a:ext cx="1943100" cy="457200"/>
          </a:xfrm>
          <a:prstGeom prst="rect">
            <a:avLst/>
          </a:prstGeom>
          <a:noFill/>
          <a:ln/>
        </p:spPr>
        <p:txBody>
          <a:bodyPr wrap="square" lIns="0" tIns="0" rIns="0" bIns="0" rtlCol="0" anchor="t"/>
          <a:lstStyle/>
          <a:p>
            <a:pPr indent="0" marL="0">
              <a:buNone/>
            </a:pPr>
            <a:r>
              <a:rPr lang="en-US" sz="2500" b="1" dirty="0">
                <a:solidFill>
                  <a:schemeClr val="accent1"/>
                </a:solidFill>
                <a:latin typeface="Cambria" pitchFamily="34" charset="0"/>
                <a:ea typeface="Cambria" pitchFamily="34" charset="-122"/>
                <a:cs typeface="Cambria" pitchFamily="34" charset="-120"/>
              </a:rPr>
              <a:t>Layouts</a:t>
            </a:r>
            <a:endParaRPr lang="en-US" sz="2500" dirty="0"/>
          </a:p>
        </p:txBody>
      </p:sp>
      <p:sp>
        <p:nvSpPr>
          <p:cNvPr id="11" name="Text 8"/>
          <p:cNvSpPr txBox="1"/>
          <p:nvPr/>
        </p:nvSpPr>
        <p:spPr>
          <a:xfrm>
            <a:off x="3771900" y="3322320"/>
            <a:ext cx="1943100" cy="2575560"/>
          </a:xfrm>
          <a:prstGeom prst="rect">
            <a:avLst/>
          </a:prstGeom>
          <a:noFill/>
          <a:ln/>
        </p:spPr>
        <p:txBody>
          <a:bodyPr wrap="square" lIns="0" tIns="0" rIns="0" bIns="0" rtlCol="0" anchor="t"/>
          <a:lstStyle/>
          <a:p>
            <a:pPr indent="0" marL="0">
              <a:buNone/>
            </a:pPr>
            <a:r>
              <a:rPr lang="en-US" sz="2300" dirty="0">
                <a:solidFill>
                  <a:schemeClr val="bg2"/>
                </a:solidFill>
              </a:rPr>
              <a:t>Cycle even, main, tiled; presets of 4, 8 and 16 panes</a:t>
            </a:r>
            <a:endParaRPr lang="en-US" sz="2300" dirty="0"/>
          </a:p>
        </p:txBody>
      </p:sp>
      <p:sp>
        <p:nvSpPr>
          <p:cNvPr id="12" name="Shape 9"/>
          <p:cNvSpPr/>
          <p:nvPr/>
        </p:nvSpPr>
        <p:spPr>
          <a:xfrm>
            <a:off x="6172200" y="2499360"/>
            <a:ext cx="2491740" cy="3627120"/>
          </a:xfrm>
          <a:prstGeom prst="roundRect">
            <a:avLst>
              <a:gd name="adj" fmla="val 4404"/>
            </a:avLst>
          </a:prstGeom>
          <a:solidFill>
            <a:schemeClr val="tx2"/>
          </a:solidFill>
          <a:ln w="12700">
            <a:solidFill>
              <a:srgbClr val="4A1A5E"/>
            </a:solidFill>
            <a:prstDash val="solid"/>
          </a:ln>
        </p:spPr>
      </p:sp>
      <p:sp>
        <p:nvSpPr>
          <p:cNvPr id="13" name="Text 10"/>
          <p:cNvSpPr txBox="1"/>
          <p:nvPr/>
        </p:nvSpPr>
        <p:spPr>
          <a:xfrm>
            <a:off x="6446520" y="2727960"/>
            <a:ext cx="1943100" cy="457200"/>
          </a:xfrm>
          <a:prstGeom prst="rect">
            <a:avLst/>
          </a:prstGeom>
          <a:noFill/>
          <a:ln/>
        </p:spPr>
        <p:txBody>
          <a:bodyPr wrap="square" lIns="0" tIns="0" rIns="0" bIns="0" rtlCol="0" anchor="t"/>
          <a:lstStyle/>
          <a:p>
            <a:pPr indent="0" marL="0">
              <a:buNone/>
            </a:pPr>
            <a:r>
              <a:rPr lang="en-US" sz="2500" b="1" dirty="0">
                <a:solidFill>
                  <a:schemeClr val="accent1"/>
                </a:solidFill>
                <a:latin typeface="Cambria" pitchFamily="34" charset="0"/>
                <a:ea typeface="Cambria" pitchFamily="34" charset="-122"/>
                <a:cs typeface="Cambria" pitchFamily="34" charset="-120"/>
              </a:rPr>
              <a:t>Windows</a:t>
            </a:r>
            <a:endParaRPr lang="en-US" sz="2500" dirty="0"/>
          </a:p>
        </p:txBody>
      </p:sp>
      <p:sp>
        <p:nvSpPr>
          <p:cNvPr id="14" name="Text 11"/>
          <p:cNvSpPr txBox="1"/>
          <p:nvPr/>
        </p:nvSpPr>
        <p:spPr>
          <a:xfrm>
            <a:off x="6446520" y="3322320"/>
            <a:ext cx="1943100" cy="2575560"/>
          </a:xfrm>
          <a:prstGeom prst="rect">
            <a:avLst/>
          </a:prstGeom>
          <a:noFill/>
          <a:ln/>
        </p:spPr>
        <p:txBody>
          <a:bodyPr wrap="square" lIns="0" tIns="0" rIns="0" bIns="0" rtlCol="0" anchor="t"/>
          <a:lstStyle/>
          <a:p>
            <a:pPr indent="0" marL="0">
              <a:buNone/>
            </a:pPr>
            <a:r>
              <a:rPr lang="en-US" sz="2300" dirty="0">
                <a:solidFill>
                  <a:schemeClr val="bg2"/>
                </a:solidFill>
              </a:rPr>
              <a:t>New, next, prev, last, rename, move, go-to, kill</a:t>
            </a:r>
            <a:endParaRPr lang="en-US" sz="2300" dirty="0"/>
          </a:p>
        </p:txBody>
      </p:sp>
      <p:sp>
        <p:nvSpPr>
          <p:cNvPr id="15" name="Shape 12"/>
          <p:cNvSpPr/>
          <p:nvPr/>
        </p:nvSpPr>
        <p:spPr>
          <a:xfrm>
            <a:off x="8846820" y="2499360"/>
            <a:ext cx="2491740" cy="3627120"/>
          </a:xfrm>
          <a:prstGeom prst="roundRect">
            <a:avLst>
              <a:gd name="adj" fmla="val 4404"/>
            </a:avLst>
          </a:prstGeom>
          <a:solidFill>
            <a:schemeClr val="tx2"/>
          </a:solidFill>
          <a:ln w="12700">
            <a:solidFill>
              <a:srgbClr val="4A1A5E"/>
            </a:solidFill>
            <a:prstDash val="solid"/>
          </a:ln>
        </p:spPr>
      </p:sp>
      <p:sp>
        <p:nvSpPr>
          <p:cNvPr id="16" name="Text 13"/>
          <p:cNvSpPr txBox="1"/>
          <p:nvPr/>
        </p:nvSpPr>
        <p:spPr>
          <a:xfrm>
            <a:off x="9121140" y="2727960"/>
            <a:ext cx="1943100" cy="457200"/>
          </a:xfrm>
          <a:prstGeom prst="rect">
            <a:avLst/>
          </a:prstGeom>
          <a:noFill/>
          <a:ln/>
        </p:spPr>
        <p:txBody>
          <a:bodyPr wrap="square" lIns="0" tIns="0" rIns="0" bIns="0" rtlCol="0" anchor="t"/>
          <a:lstStyle/>
          <a:p>
            <a:pPr indent="0" marL="0">
              <a:buNone/>
            </a:pPr>
            <a:r>
              <a:rPr lang="en-US" sz="2500" b="1" dirty="0">
                <a:solidFill>
                  <a:schemeClr val="accent1"/>
                </a:solidFill>
                <a:latin typeface="Cambria" pitchFamily="34" charset="0"/>
                <a:ea typeface="Cambria" pitchFamily="34" charset="-122"/>
                <a:cs typeface="Cambria" pitchFamily="34" charset="-120"/>
              </a:rPr>
              <a:t>Copy mode</a:t>
            </a:r>
            <a:endParaRPr lang="en-US" sz="2500" dirty="0"/>
          </a:p>
        </p:txBody>
      </p:sp>
      <p:sp>
        <p:nvSpPr>
          <p:cNvPr id="17" name="Text 14"/>
          <p:cNvSpPr txBox="1"/>
          <p:nvPr/>
        </p:nvSpPr>
        <p:spPr>
          <a:xfrm>
            <a:off x="9121140" y="3322320"/>
            <a:ext cx="1943100" cy="2575560"/>
          </a:xfrm>
          <a:prstGeom prst="rect">
            <a:avLst/>
          </a:prstGeom>
          <a:noFill/>
          <a:ln/>
        </p:spPr>
        <p:txBody>
          <a:bodyPr wrap="square" lIns="0" tIns="0" rIns="0" bIns="0" rtlCol="0" anchor="t"/>
          <a:lstStyle/>
          <a:p>
            <a:pPr indent="0" marL="0">
              <a:buNone/>
            </a:pPr>
            <a:r>
              <a:rPr lang="en-US" sz="2300" dirty="0">
                <a:solidFill>
                  <a:schemeClr val="bg2"/>
                </a:solidFill>
              </a:rPr>
              <a:t>Scroll and yank into a paste-buffer stack</a:t>
            </a:r>
            <a:endParaRPr lang="en-US" sz="23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Partial synchronize-panes</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zwire users / tiling</a:t>
            </a:r>
            <a:endParaRPr lang="en-US" sz="1200" dirty="0"/>
          </a:p>
        </p:txBody>
      </p:sp>
      <p:sp>
        <p:nvSpPr>
          <p:cNvPr id="5" name="Text 2"/>
          <p:cNvSpPr txBox="1"/>
          <p:nvPr/>
        </p:nvSpPr>
        <p:spPr>
          <a:xfrm>
            <a:off x="822960" y="1463040"/>
            <a:ext cx="10515600" cy="775970"/>
          </a:xfrm>
          <a:prstGeom prst="rect">
            <a:avLst/>
          </a:prstGeom>
          <a:noFill/>
          <a:ln/>
        </p:spPr>
        <p:txBody>
          <a:bodyPr wrap="square" lIns="0" tIns="0" rIns="0" bIns="0" rtlCol="0" anchor="t"/>
          <a:lstStyle/>
          <a:p>
            <a:pPr indent="0" marL="0">
              <a:buNone/>
            </a:pPr>
            <a:r>
              <a:rPr lang="en-US" sz="2300" dirty="0">
                <a:solidFill>
                  <a:schemeClr val="bg2"/>
                </a:solidFill>
              </a:rPr>
              <a:t>Broadcast typing to a chosen subset of panes rather than all of them. Marks, a clock and a registry-driven help overlay round out the overlay.</a:t>
            </a:r>
            <a:endParaRPr lang="en-US" sz="2300" dirty="0"/>
          </a:p>
        </p:txBody>
      </p:sp>
      <p:sp>
        <p:nvSpPr>
          <p:cNvPr id="6" name="Shape 3"/>
          <p:cNvSpPr/>
          <p:nvPr/>
        </p:nvSpPr>
        <p:spPr>
          <a:xfrm>
            <a:off x="822960" y="2467610"/>
            <a:ext cx="2491740" cy="3658870"/>
          </a:xfrm>
          <a:prstGeom prst="roundRect">
            <a:avLst>
              <a:gd name="adj" fmla="val 4404"/>
            </a:avLst>
          </a:prstGeom>
          <a:solidFill>
            <a:schemeClr val="tx2"/>
          </a:solidFill>
          <a:ln w="12700">
            <a:solidFill>
              <a:srgbClr val="4A1A5E"/>
            </a:solidFill>
            <a:prstDash val="solid"/>
          </a:ln>
        </p:spPr>
      </p:sp>
      <p:sp>
        <p:nvSpPr>
          <p:cNvPr id="7" name="Text 4"/>
          <p:cNvSpPr txBox="1"/>
          <p:nvPr/>
        </p:nvSpPr>
        <p:spPr>
          <a:xfrm>
            <a:off x="1097280" y="2696210"/>
            <a:ext cx="1943100" cy="45720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Subset sync</a:t>
            </a:r>
            <a:endParaRPr lang="en-US" sz="2000" dirty="0"/>
          </a:p>
        </p:txBody>
      </p:sp>
      <p:sp>
        <p:nvSpPr>
          <p:cNvPr id="8" name="Text 5"/>
          <p:cNvSpPr txBox="1"/>
          <p:nvPr/>
        </p:nvSpPr>
        <p:spPr>
          <a:xfrm>
            <a:off x="1097280" y="3290570"/>
            <a:ext cx="1943100" cy="2607310"/>
          </a:xfrm>
          <a:prstGeom prst="rect">
            <a:avLst/>
          </a:prstGeom>
          <a:noFill/>
          <a:ln/>
        </p:spPr>
        <p:txBody>
          <a:bodyPr wrap="square" lIns="0" tIns="0" rIns="0" bIns="0" rtlCol="0" anchor="t"/>
          <a:lstStyle/>
          <a:p>
            <a:pPr indent="0" marL="0">
              <a:buNone/>
            </a:pPr>
            <a:r>
              <a:rPr lang="en-US" sz="2800" dirty="0">
                <a:solidFill>
                  <a:schemeClr val="bg2"/>
                </a:solidFill>
              </a:rPr>
              <a:t>Choose which panes receive typing</a:t>
            </a:r>
            <a:endParaRPr lang="en-US" sz="2800" dirty="0"/>
          </a:p>
        </p:txBody>
      </p:sp>
      <p:sp>
        <p:nvSpPr>
          <p:cNvPr id="9" name="Shape 6"/>
          <p:cNvSpPr/>
          <p:nvPr/>
        </p:nvSpPr>
        <p:spPr>
          <a:xfrm>
            <a:off x="3497580" y="2467610"/>
            <a:ext cx="2491740" cy="3658870"/>
          </a:xfrm>
          <a:prstGeom prst="roundRect">
            <a:avLst>
              <a:gd name="adj" fmla="val 4404"/>
            </a:avLst>
          </a:prstGeom>
          <a:solidFill>
            <a:schemeClr val="tx2"/>
          </a:solidFill>
          <a:ln w="12700">
            <a:solidFill>
              <a:srgbClr val="4A1A5E"/>
            </a:solidFill>
            <a:prstDash val="solid"/>
          </a:ln>
        </p:spPr>
      </p:sp>
      <p:sp>
        <p:nvSpPr>
          <p:cNvPr id="10" name="Text 7"/>
          <p:cNvSpPr txBox="1"/>
          <p:nvPr/>
        </p:nvSpPr>
        <p:spPr>
          <a:xfrm>
            <a:off x="3771900" y="2696210"/>
            <a:ext cx="1943100" cy="45720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Marks</a:t>
            </a:r>
            <a:endParaRPr lang="en-US" sz="2000" dirty="0"/>
          </a:p>
        </p:txBody>
      </p:sp>
      <p:sp>
        <p:nvSpPr>
          <p:cNvPr id="11" name="Text 8"/>
          <p:cNvSpPr txBox="1"/>
          <p:nvPr/>
        </p:nvSpPr>
        <p:spPr>
          <a:xfrm>
            <a:off x="3771900" y="3290570"/>
            <a:ext cx="1943100" cy="2607310"/>
          </a:xfrm>
          <a:prstGeom prst="rect">
            <a:avLst/>
          </a:prstGeom>
          <a:noFill/>
          <a:ln/>
        </p:spPr>
        <p:txBody>
          <a:bodyPr wrap="square" lIns="0" tIns="0" rIns="0" bIns="0" rtlCol="0" anchor="t"/>
          <a:lstStyle/>
          <a:p>
            <a:pPr indent="0" marL="0">
              <a:buNone/>
            </a:pPr>
            <a:r>
              <a:rPr lang="en-US" sz="2800" dirty="0">
                <a:solidFill>
                  <a:schemeClr val="bg2"/>
                </a:solidFill>
              </a:rPr>
              <a:t>Mark panes to act on</a:t>
            </a:r>
            <a:endParaRPr lang="en-US" sz="2800" dirty="0"/>
          </a:p>
        </p:txBody>
      </p:sp>
      <p:sp>
        <p:nvSpPr>
          <p:cNvPr id="12" name="Shape 9"/>
          <p:cNvSpPr/>
          <p:nvPr/>
        </p:nvSpPr>
        <p:spPr>
          <a:xfrm>
            <a:off x="6172200" y="2467610"/>
            <a:ext cx="2491740" cy="3658870"/>
          </a:xfrm>
          <a:prstGeom prst="roundRect">
            <a:avLst>
              <a:gd name="adj" fmla="val 4404"/>
            </a:avLst>
          </a:prstGeom>
          <a:solidFill>
            <a:schemeClr val="tx2"/>
          </a:solidFill>
          <a:ln w="12700">
            <a:solidFill>
              <a:srgbClr val="4A1A5E"/>
            </a:solidFill>
            <a:prstDash val="solid"/>
          </a:ln>
        </p:spPr>
      </p:sp>
      <p:sp>
        <p:nvSpPr>
          <p:cNvPr id="13" name="Text 10"/>
          <p:cNvSpPr txBox="1"/>
          <p:nvPr/>
        </p:nvSpPr>
        <p:spPr>
          <a:xfrm>
            <a:off x="6446520" y="2696210"/>
            <a:ext cx="1943100" cy="45720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Clock</a:t>
            </a:r>
            <a:endParaRPr lang="en-US" sz="2000" dirty="0"/>
          </a:p>
        </p:txBody>
      </p:sp>
      <p:sp>
        <p:nvSpPr>
          <p:cNvPr id="14" name="Text 11"/>
          <p:cNvSpPr txBox="1"/>
          <p:nvPr/>
        </p:nvSpPr>
        <p:spPr>
          <a:xfrm>
            <a:off x="6446520" y="3290570"/>
            <a:ext cx="1943100" cy="2607310"/>
          </a:xfrm>
          <a:prstGeom prst="rect">
            <a:avLst/>
          </a:prstGeom>
          <a:noFill/>
          <a:ln/>
        </p:spPr>
        <p:txBody>
          <a:bodyPr wrap="square" lIns="0" tIns="0" rIns="0" bIns="0" rtlCol="0" anchor="t"/>
          <a:lstStyle/>
          <a:p>
            <a:pPr indent="0" marL="0">
              <a:buNone/>
            </a:pPr>
            <a:r>
              <a:rPr lang="en-US" sz="2800" dirty="0">
                <a:solidFill>
                  <a:schemeClr val="bg2"/>
                </a:solidFill>
              </a:rPr>
              <a:t>An overlay clock</a:t>
            </a:r>
            <a:endParaRPr lang="en-US" sz="2800" dirty="0"/>
          </a:p>
        </p:txBody>
      </p:sp>
      <p:sp>
        <p:nvSpPr>
          <p:cNvPr id="15" name="Shape 12"/>
          <p:cNvSpPr/>
          <p:nvPr/>
        </p:nvSpPr>
        <p:spPr>
          <a:xfrm>
            <a:off x="8846820" y="2467610"/>
            <a:ext cx="2491740" cy="3658870"/>
          </a:xfrm>
          <a:prstGeom prst="roundRect">
            <a:avLst>
              <a:gd name="adj" fmla="val 4404"/>
            </a:avLst>
          </a:prstGeom>
          <a:solidFill>
            <a:schemeClr val="tx2"/>
          </a:solidFill>
          <a:ln w="12700">
            <a:solidFill>
              <a:srgbClr val="4A1A5E"/>
            </a:solidFill>
            <a:prstDash val="solid"/>
          </a:ln>
        </p:spPr>
      </p:sp>
      <p:sp>
        <p:nvSpPr>
          <p:cNvPr id="16" name="Text 13"/>
          <p:cNvSpPr txBox="1"/>
          <p:nvPr/>
        </p:nvSpPr>
        <p:spPr>
          <a:xfrm>
            <a:off x="9121140" y="2696210"/>
            <a:ext cx="1943100" cy="45720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Help</a:t>
            </a:r>
            <a:endParaRPr lang="en-US" sz="2000" dirty="0"/>
          </a:p>
        </p:txBody>
      </p:sp>
      <p:sp>
        <p:nvSpPr>
          <p:cNvPr id="17" name="Text 14"/>
          <p:cNvSpPr txBox="1"/>
          <p:nvPr/>
        </p:nvSpPr>
        <p:spPr>
          <a:xfrm>
            <a:off x="9121140" y="3290570"/>
            <a:ext cx="1943100" cy="2607310"/>
          </a:xfrm>
          <a:prstGeom prst="rect">
            <a:avLst/>
          </a:prstGeom>
          <a:noFill/>
          <a:ln/>
        </p:spPr>
        <p:txBody>
          <a:bodyPr wrap="square" lIns="0" tIns="0" rIns="0" bIns="0" rtlCol="0" anchor="t"/>
          <a:lstStyle/>
          <a:p>
            <a:pPr indent="0" marL="0">
              <a:buNone/>
            </a:pPr>
            <a:r>
              <a:rPr lang="en-US" sz="2800" dirty="0">
                <a:solidFill>
                  <a:schemeClr val="bg2"/>
                </a:solidFill>
              </a:rPr>
              <a:t>Generated from the registry</a:t>
            </a:r>
            <a:endParaRPr lang="en-US" sz="28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Sessions</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zwire users / sessions</a:t>
            </a:r>
            <a:endParaRPr lang="en-US" sz="1200" dirty="0"/>
          </a:p>
        </p:txBody>
      </p:sp>
      <p:sp>
        <p:nvSpPr>
          <p:cNvPr id="5" name="Text 2"/>
          <p:cNvSpPr txBox="1"/>
          <p:nvPr/>
        </p:nvSpPr>
        <p:spPr>
          <a:xfrm>
            <a:off x="822960" y="1463040"/>
            <a:ext cx="10515600" cy="807720"/>
          </a:xfrm>
          <a:prstGeom prst="rect">
            <a:avLst/>
          </a:prstGeom>
          <a:noFill/>
          <a:ln/>
        </p:spPr>
        <p:txBody>
          <a:bodyPr wrap="square" lIns="0" tIns="0" rIns="0" bIns="0" rtlCol="0" anchor="t"/>
          <a:lstStyle/>
          <a:p>
            <a:pPr indent="0" marL="0">
              <a:buNone/>
            </a:pPr>
            <a:r>
              <a:rPr lang="en-US" sz="2400" dirty="0">
                <a:solidFill>
                  <a:schemeClr val="bg2"/>
                </a:solidFill>
              </a:rPr>
              <a:t>Durable, named sessions with full CRUD and SVG layout previews, on pages/sessions.html.</a:t>
            </a:r>
            <a:endParaRPr lang="en-US" sz="2400" dirty="0"/>
          </a:p>
        </p:txBody>
      </p:sp>
      <p:sp>
        <p:nvSpPr>
          <p:cNvPr id="6" name="Shape 3"/>
          <p:cNvSpPr/>
          <p:nvPr/>
        </p:nvSpPr>
        <p:spPr>
          <a:xfrm>
            <a:off x="822960" y="2499360"/>
            <a:ext cx="2491740" cy="3627120"/>
          </a:xfrm>
          <a:prstGeom prst="roundRect">
            <a:avLst>
              <a:gd name="adj" fmla="val 4404"/>
            </a:avLst>
          </a:prstGeom>
          <a:solidFill>
            <a:schemeClr val="tx2"/>
          </a:solidFill>
          <a:ln w="12700">
            <a:solidFill>
              <a:srgbClr val="4A1A5E"/>
            </a:solidFill>
            <a:prstDash val="solid"/>
          </a:ln>
        </p:spPr>
      </p:sp>
      <p:sp>
        <p:nvSpPr>
          <p:cNvPr id="7" name="Text 4"/>
          <p:cNvSpPr txBox="1"/>
          <p:nvPr/>
        </p:nvSpPr>
        <p:spPr>
          <a:xfrm>
            <a:off x="1097280" y="2727960"/>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Durable</a:t>
            </a:r>
            <a:endParaRPr lang="en-US" sz="2600" dirty="0"/>
          </a:p>
        </p:txBody>
      </p:sp>
      <p:sp>
        <p:nvSpPr>
          <p:cNvPr id="8" name="Text 5"/>
          <p:cNvSpPr txBox="1"/>
          <p:nvPr/>
        </p:nvSpPr>
        <p:spPr>
          <a:xfrm>
            <a:off x="1097280" y="3322320"/>
            <a:ext cx="1943100" cy="2575560"/>
          </a:xfrm>
          <a:prstGeom prst="rect">
            <a:avLst/>
          </a:prstGeom>
          <a:noFill/>
          <a:ln/>
        </p:spPr>
        <p:txBody>
          <a:bodyPr wrap="square" lIns="0" tIns="0" rIns="0" bIns="0" rtlCol="0" anchor="t"/>
          <a:lstStyle/>
          <a:p>
            <a:pPr indent="0" marL="0">
              <a:buNone/>
            </a:pPr>
            <a:r>
              <a:rPr lang="en-US" sz="2800" dirty="0">
                <a:solidFill>
                  <a:schemeClr val="bg2"/>
                </a:solidFill>
              </a:rPr>
              <a:t>Windows and panes persist</a:t>
            </a:r>
            <a:endParaRPr lang="en-US" sz="2800" dirty="0"/>
          </a:p>
        </p:txBody>
      </p:sp>
      <p:sp>
        <p:nvSpPr>
          <p:cNvPr id="9" name="Shape 6"/>
          <p:cNvSpPr/>
          <p:nvPr/>
        </p:nvSpPr>
        <p:spPr>
          <a:xfrm>
            <a:off x="3497580" y="2499360"/>
            <a:ext cx="2491740" cy="3627120"/>
          </a:xfrm>
          <a:prstGeom prst="roundRect">
            <a:avLst>
              <a:gd name="adj" fmla="val 4404"/>
            </a:avLst>
          </a:prstGeom>
          <a:solidFill>
            <a:schemeClr val="tx2"/>
          </a:solidFill>
          <a:ln w="12700">
            <a:solidFill>
              <a:srgbClr val="4A1A5E"/>
            </a:solidFill>
            <a:prstDash val="solid"/>
          </a:ln>
        </p:spPr>
      </p:sp>
      <p:sp>
        <p:nvSpPr>
          <p:cNvPr id="10" name="Text 7"/>
          <p:cNvSpPr txBox="1"/>
          <p:nvPr/>
        </p:nvSpPr>
        <p:spPr>
          <a:xfrm>
            <a:off x="3771900" y="2727960"/>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Named</a:t>
            </a:r>
            <a:endParaRPr lang="en-US" sz="2600" dirty="0"/>
          </a:p>
        </p:txBody>
      </p:sp>
      <p:sp>
        <p:nvSpPr>
          <p:cNvPr id="11" name="Text 8"/>
          <p:cNvSpPr txBox="1"/>
          <p:nvPr/>
        </p:nvSpPr>
        <p:spPr>
          <a:xfrm>
            <a:off x="3771900" y="3322320"/>
            <a:ext cx="1943100" cy="2575560"/>
          </a:xfrm>
          <a:prstGeom prst="rect">
            <a:avLst/>
          </a:prstGeom>
          <a:noFill/>
          <a:ln/>
        </p:spPr>
        <p:txBody>
          <a:bodyPr wrap="square" lIns="0" tIns="0" rIns="0" bIns="0" rtlCol="0" anchor="t"/>
          <a:lstStyle/>
          <a:p>
            <a:pPr indent="0" marL="0">
              <a:buNone/>
            </a:pPr>
            <a:r>
              <a:rPr lang="en-US" sz="2800" dirty="0">
                <a:solidFill>
                  <a:schemeClr val="bg2"/>
                </a:solidFill>
              </a:rPr>
              <a:t>Create, rename, delete</a:t>
            </a:r>
            <a:endParaRPr lang="en-US" sz="2800" dirty="0"/>
          </a:p>
        </p:txBody>
      </p:sp>
      <p:sp>
        <p:nvSpPr>
          <p:cNvPr id="12" name="Shape 9"/>
          <p:cNvSpPr/>
          <p:nvPr/>
        </p:nvSpPr>
        <p:spPr>
          <a:xfrm>
            <a:off x="6172200" y="2499360"/>
            <a:ext cx="2491740" cy="3627120"/>
          </a:xfrm>
          <a:prstGeom prst="roundRect">
            <a:avLst>
              <a:gd name="adj" fmla="val 4404"/>
            </a:avLst>
          </a:prstGeom>
          <a:solidFill>
            <a:schemeClr val="tx2"/>
          </a:solidFill>
          <a:ln w="12700">
            <a:solidFill>
              <a:srgbClr val="4A1A5E"/>
            </a:solidFill>
            <a:prstDash val="solid"/>
          </a:ln>
        </p:spPr>
      </p:sp>
      <p:sp>
        <p:nvSpPr>
          <p:cNvPr id="13" name="Text 10"/>
          <p:cNvSpPr txBox="1"/>
          <p:nvPr/>
        </p:nvSpPr>
        <p:spPr>
          <a:xfrm>
            <a:off x="6446520" y="2727960"/>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Preview</a:t>
            </a:r>
            <a:endParaRPr lang="en-US" sz="2600" dirty="0"/>
          </a:p>
        </p:txBody>
      </p:sp>
      <p:sp>
        <p:nvSpPr>
          <p:cNvPr id="14" name="Text 11"/>
          <p:cNvSpPr txBox="1"/>
          <p:nvPr/>
        </p:nvSpPr>
        <p:spPr>
          <a:xfrm>
            <a:off x="6446520" y="3322320"/>
            <a:ext cx="1943100" cy="2575560"/>
          </a:xfrm>
          <a:prstGeom prst="rect">
            <a:avLst/>
          </a:prstGeom>
          <a:noFill/>
          <a:ln/>
        </p:spPr>
        <p:txBody>
          <a:bodyPr wrap="square" lIns="0" tIns="0" rIns="0" bIns="0" rtlCol="0" anchor="t"/>
          <a:lstStyle/>
          <a:p>
            <a:pPr indent="0" marL="0">
              <a:buNone/>
            </a:pPr>
            <a:r>
              <a:rPr lang="en-US" sz="2800" dirty="0">
                <a:solidFill>
                  <a:schemeClr val="bg2"/>
                </a:solidFill>
              </a:rPr>
              <a:t>SVG layout previews</a:t>
            </a:r>
            <a:endParaRPr lang="en-US" sz="2800" dirty="0"/>
          </a:p>
        </p:txBody>
      </p:sp>
      <p:sp>
        <p:nvSpPr>
          <p:cNvPr id="15" name="Shape 12"/>
          <p:cNvSpPr/>
          <p:nvPr/>
        </p:nvSpPr>
        <p:spPr>
          <a:xfrm>
            <a:off x="8846820" y="2499360"/>
            <a:ext cx="2491740" cy="3627120"/>
          </a:xfrm>
          <a:prstGeom prst="roundRect">
            <a:avLst>
              <a:gd name="adj" fmla="val 4404"/>
            </a:avLst>
          </a:prstGeom>
          <a:solidFill>
            <a:schemeClr val="tx2"/>
          </a:solidFill>
          <a:ln w="12700">
            <a:solidFill>
              <a:srgbClr val="4A1A5E"/>
            </a:solidFill>
            <a:prstDash val="solid"/>
          </a:ln>
        </p:spPr>
      </p:sp>
      <p:sp>
        <p:nvSpPr>
          <p:cNvPr id="16" name="Text 13"/>
          <p:cNvSpPr txBox="1"/>
          <p:nvPr/>
        </p:nvSpPr>
        <p:spPr>
          <a:xfrm>
            <a:off x="9121140" y="2727960"/>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Restore</a:t>
            </a:r>
            <a:endParaRPr lang="en-US" sz="2600" dirty="0"/>
          </a:p>
        </p:txBody>
      </p:sp>
      <p:sp>
        <p:nvSpPr>
          <p:cNvPr id="17" name="Text 14"/>
          <p:cNvSpPr txBox="1"/>
          <p:nvPr/>
        </p:nvSpPr>
        <p:spPr>
          <a:xfrm>
            <a:off x="9121140" y="3322320"/>
            <a:ext cx="1943100" cy="2575560"/>
          </a:xfrm>
          <a:prstGeom prst="rect">
            <a:avLst/>
          </a:prstGeom>
          <a:noFill/>
          <a:ln/>
        </p:spPr>
        <p:txBody>
          <a:bodyPr wrap="square" lIns="0" tIns="0" rIns="0" bIns="0" rtlCol="0" anchor="t"/>
          <a:lstStyle/>
          <a:p>
            <a:pPr indent="0" marL="0">
              <a:buNone/>
            </a:pPr>
            <a:r>
              <a:rPr lang="en-US" sz="2800" dirty="0">
                <a:solidFill>
                  <a:schemeClr val="bg2"/>
                </a:solidFill>
              </a:rPr>
              <a:t>Startup restores the last session</a:t>
            </a:r>
            <a:endParaRPr lang="en-US" sz="28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Command palette</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zwire users / palette</a:t>
            </a:r>
            <a:endParaRPr lang="en-US" sz="1200" dirty="0"/>
          </a:p>
        </p:txBody>
      </p:sp>
      <p:sp>
        <p:nvSpPr>
          <p:cNvPr id="5" name="Text 2"/>
          <p:cNvSpPr txBox="1"/>
          <p:nvPr/>
        </p:nvSpPr>
        <p:spPr>
          <a:xfrm>
            <a:off x="822960" y="1463040"/>
            <a:ext cx="10515600" cy="1093470"/>
          </a:xfrm>
          <a:prstGeom prst="rect">
            <a:avLst/>
          </a:prstGeom>
          <a:noFill/>
          <a:ln/>
        </p:spPr>
        <p:txBody>
          <a:bodyPr wrap="square" lIns="0" tIns="0" rIns="0" bIns="0" rtlCol="0" anchor="t"/>
          <a:lstStyle/>
          <a:p>
            <a:pPr indent="0" marL="0">
              <a:buNone/>
            </a:pPr>
            <a:r>
              <a:rPr lang="en-US" sz="2200" dirty="0">
                <a:solidFill>
                  <a:schemeClr val="bg2"/>
                </a:solidFill>
              </a:rPr>
              <a:t>The same palette renders on four surfaces that share one item source: web pages, HUD pages, the new tab and zpwrchrome pages. Cmd-K is owned browser-wide as a chrome.commands shortcut.</a:t>
            </a:r>
            <a:endParaRPr lang="en-US" sz="2200" dirty="0"/>
          </a:p>
        </p:txBody>
      </p:sp>
      <p:sp>
        <p:nvSpPr>
          <p:cNvPr id="6" name="Shape 3"/>
          <p:cNvSpPr/>
          <p:nvPr/>
        </p:nvSpPr>
        <p:spPr>
          <a:xfrm>
            <a:off x="822960" y="2785110"/>
            <a:ext cx="2491740" cy="3341370"/>
          </a:xfrm>
          <a:prstGeom prst="roundRect">
            <a:avLst>
              <a:gd name="adj" fmla="val 4404"/>
            </a:avLst>
          </a:prstGeom>
          <a:solidFill>
            <a:schemeClr val="tx2"/>
          </a:solidFill>
          <a:ln w="12700">
            <a:solidFill>
              <a:srgbClr val="4A1A5E"/>
            </a:solidFill>
            <a:prstDash val="solid"/>
          </a:ln>
        </p:spPr>
      </p:sp>
      <p:sp>
        <p:nvSpPr>
          <p:cNvPr id="7" name="Text 4"/>
          <p:cNvSpPr txBox="1"/>
          <p:nvPr/>
        </p:nvSpPr>
        <p:spPr>
          <a:xfrm>
            <a:off x="1097280" y="3013710"/>
            <a:ext cx="194310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Web page</a:t>
            </a:r>
            <a:endParaRPr lang="en-US" sz="2200" dirty="0"/>
          </a:p>
        </p:txBody>
      </p:sp>
      <p:sp>
        <p:nvSpPr>
          <p:cNvPr id="8" name="Text 5"/>
          <p:cNvSpPr txBox="1"/>
          <p:nvPr/>
        </p:nvSpPr>
        <p:spPr>
          <a:xfrm>
            <a:off x="1097280" y="3608070"/>
            <a:ext cx="1943100" cy="2289810"/>
          </a:xfrm>
          <a:prstGeom prst="rect">
            <a:avLst/>
          </a:prstGeom>
          <a:noFill/>
          <a:ln/>
        </p:spPr>
        <p:txBody>
          <a:bodyPr wrap="square" lIns="0" tIns="0" rIns="0" bIns="0" rtlCol="0" anchor="t"/>
          <a:lstStyle/>
          <a:p>
            <a:pPr indent="0" marL="0">
              <a:buNone/>
            </a:pPr>
            <a:r>
              <a:rPr lang="en-US" sz="2800" dirty="0">
                <a:solidFill>
                  <a:schemeClr val="bg2"/>
                </a:solidFill>
              </a:rPr>
              <a:t>Content-script palette</a:t>
            </a:r>
            <a:endParaRPr lang="en-US" sz="2800" dirty="0"/>
          </a:p>
        </p:txBody>
      </p:sp>
      <p:sp>
        <p:nvSpPr>
          <p:cNvPr id="9" name="Shape 6"/>
          <p:cNvSpPr/>
          <p:nvPr/>
        </p:nvSpPr>
        <p:spPr>
          <a:xfrm>
            <a:off x="3497580" y="2785110"/>
            <a:ext cx="2491740" cy="3341370"/>
          </a:xfrm>
          <a:prstGeom prst="roundRect">
            <a:avLst>
              <a:gd name="adj" fmla="val 4404"/>
            </a:avLst>
          </a:prstGeom>
          <a:solidFill>
            <a:schemeClr val="tx2"/>
          </a:solidFill>
          <a:ln w="12700">
            <a:solidFill>
              <a:srgbClr val="4A1A5E"/>
            </a:solidFill>
            <a:prstDash val="solid"/>
          </a:ln>
        </p:spPr>
      </p:sp>
      <p:sp>
        <p:nvSpPr>
          <p:cNvPr id="10" name="Text 7"/>
          <p:cNvSpPr txBox="1"/>
          <p:nvPr/>
        </p:nvSpPr>
        <p:spPr>
          <a:xfrm>
            <a:off x="3771900" y="3013710"/>
            <a:ext cx="194310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HUD page</a:t>
            </a:r>
            <a:endParaRPr lang="en-US" sz="2200" dirty="0"/>
          </a:p>
        </p:txBody>
      </p:sp>
      <p:sp>
        <p:nvSpPr>
          <p:cNvPr id="11" name="Text 8"/>
          <p:cNvSpPr txBox="1"/>
          <p:nvPr/>
        </p:nvSpPr>
        <p:spPr>
          <a:xfrm>
            <a:off x="3771900" y="3608070"/>
            <a:ext cx="1943100" cy="2289810"/>
          </a:xfrm>
          <a:prstGeom prst="rect">
            <a:avLst/>
          </a:prstGeom>
          <a:noFill/>
          <a:ln/>
        </p:spPr>
        <p:txBody>
          <a:bodyPr wrap="square" lIns="0" tIns="0" rIns="0" bIns="0" rtlCol="0" anchor="t"/>
          <a:lstStyle/>
          <a:p>
            <a:pPr indent="0" marL="0">
              <a:buNone/>
            </a:pPr>
            <a:r>
              <a:rPr lang="en-US" sz="2800" dirty="0">
                <a:solidFill>
                  <a:schemeClr val="bg2"/>
                </a:solidFill>
              </a:rPr>
              <a:t>The zg-boot palette</a:t>
            </a:r>
            <a:endParaRPr lang="en-US" sz="2800" dirty="0"/>
          </a:p>
        </p:txBody>
      </p:sp>
      <p:sp>
        <p:nvSpPr>
          <p:cNvPr id="12" name="Shape 9"/>
          <p:cNvSpPr/>
          <p:nvPr/>
        </p:nvSpPr>
        <p:spPr>
          <a:xfrm>
            <a:off x="6172200" y="2785110"/>
            <a:ext cx="2491740" cy="3341370"/>
          </a:xfrm>
          <a:prstGeom prst="roundRect">
            <a:avLst>
              <a:gd name="adj" fmla="val 4404"/>
            </a:avLst>
          </a:prstGeom>
          <a:solidFill>
            <a:schemeClr val="tx2"/>
          </a:solidFill>
          <a:ln w="12700">
            <a:solidFill>
              <a:srgbClr val="4A1A5E"/>
            </a:solidFill>
            <a:prstDash val="solid"/>
          </a:ln>
        </p:spPr>
      </p:sp>
      <p:sp>
        <p:nvSpPr>
          <p:cNvPr id="13" name="Text 10"/>
          <p:cNvSpPr txBox="1"/>
          <p:nvPr/>
        </p:nvSpPr>
        <p:spPr>
          <a:xfrm>
            <a:off x="6446520" y="3013710"/>
            <a:ext cx="194310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New tab</a:t>
            </a:r>
            <a:endParaRPr lang="en-US" sz="2200" dirty="0"/>
          </a:p>
        </p:txBody>
      </p:sp>
      <p:sp>
        <p:nvSpPr>
          <p:cNvPr id="14" name="Text 11"/>
          <p:cNvSpPr txBox="1"/>
          <p:nvPr/>
        </p:nvSpPr>
        <p:spPr>
          <a:xfrm>
            <a:off x="6446520" y="3608070"/>
            <a:ext cx="1943100" cy="2289810"/>
          </a:xfrm>
          <a:prstGeom prst="rect">
            <a:avLst/>
          </a:prstGeom>
          <a:noFill/>
          <a:ln/>
        </p:spPr>
        <p:txBody>
          <a:bodyPr wrap="square" lIns="0" tIns="0" rIns="0" bIns="0" rtlCol="0" anchor="t"/>
          <a:lstStyle/>
          <a:p>
            <a:pPr indent="0" marL="0">
              <a:buNone/>
            </a:pPr>
            <a:r>
              <a:rPr lang="en-US" sz="2800" dirty="0">
                <a:solidFill>
                  <a:schemeClr val="bg2"/>
                </a:solidFill>
              </a:rPr>
              <a:t>newtab/palette.js</a:t>
            </a:r>
            <a:endParaRPr lang="en-US" sz="2800" dirty="0"/>
          </a:p>
        </p:txBody>
      </p:sp>
      <p:sp>
        <p:nvSpPr>
          <p:cNvPr id="15" name="Shape 12"/>
          <p:cNvSpPr/>
          <p:nvPr/>
        </p:nvSpPr>
        <p:spPr>
          <a:xfrm>
            <a:off x="8846820" y="2785110"/>
            <a:ext cx="2491740" cy="3341370"/>
          </a:xfrm>
          <a:prstGeom prst="roundRect">
            <a:avLst>
              <a:gd name="adj" fmla="val 4404"/>
            </a:avLst>
          </a:prstGeom>
          <a:solidFill>
            <a:schemeClr val="tx2"/>
          </a:solidFill>
          <a:ln w="12700">
            <a:solidFill>
              <a:srgbClr val="4A1A5E"/>
            </a:solidFill>
            <a:prstDash val="solid"/>
          </a:ln>
        </p:spPr>
      </p:sp>
      <p:sp>
        <p:nvSpPr>
          <p:cNvPr id="16" name="Text 13"/>
          <p:cNvSpPr txBox="1"/>
          <p:nvPr/>
        </p:nvSpPr>
        <p:spPr>
          <a:xfrm>
            <a:off x="9121140" y="3013710"/>
            <a:ext cx="194310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zpwrchrome</a:t>
            </a:r>
            <a:endParaRPr lang="en-US" sz="2200" dirty="0"/>
          </a:p>
        </p:txBody>
      </p:sp>
      <p:sp>
        <p:nvSpPr>
          <p:cNvPr id="17" name="Text 14"/>
          <p:cNvSpPr txBox="1"/>
          <p:nvPr/>
        </p:nvSpPr>
        <p:spPr>
          <a:xfrm>
            <a:off x="9121140" y="3608070"/>
            <a:ext cx="1943100" cy="2289810"/>
          </a:xfrm>
          <a:prstGeom prst="rect">
            <a:avLst/>
          </a:prstGeom>
          <a:noFill/>
          <a:ln/>
        </p:spPr>
        <p:txBody>
          <a:bodyPr wrap="square" lIns="0" tIns="0" rIns="0" bIns="0" rtlCol="0" anchor="t"/>
          <a:lstStyle/>
          <a:p>
            <a:pPr indent="0" marL="0">
              <a:buNone/>
            </a:pPr>
            <a:r>
              <a:rPr lang="en-US" sz="2800" dirty="0">
                <a:solidFill>
                  <a:schemeClr val="bg2"/>
                </a:solidFill>
              </a:rPr>
              <a:t>Its own dashboard palette</a:t>
            </a:r>
            <a:endParaRPr lang="en-US" sz="28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Palette power features</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zwire users / palette</a:t>
            </a:r>
            <a:endParaRPr lang="en-US" sz="1200" dirty="0"/>
          </a:p>
        </p:txBody>
      </p:sp>
      <p:sp>
        <p:nvSpPr>
          <p:cNvPr id="5" name="Text 2"/>
          <p:cNvSpPr txBox="1"/>
          <p:nvPr/>
        </p:nvSpPr>
        <p:spPr>
          <a:xfrm>
            <a:off x="822960" y="1463040"/>
            <a:ext cx="10515600" cy="807720"/>
          </a:xfrm>
          <a:prstGeom prst="rect">
            <a:avLst/>
          </a:prstGeom>
          <a:noFill/>
          <a:ln/>
        </p:spPr>
        <p:txBody>
          <a:bodyPr wrap="square" lIns="0" tIns="0" rIns="0" bIns="0" rtlCol="0" anchor="t"/>
          <a:lstStyle/>
          <a:p>
            <a:pPr indent="0" marL="0">
              <a:buNone/>
            </a:pPr>
            <a:r>
              <a:rPr lang="en-US" sz="2400" dirty="0">
                <a:solidFill>
                  <a:schemeClr val="bg2"/>
                </a:solidFill>
              </a:rPr>
              <a:t>Backed by palette-cmds.js, the single source of truth for items and ranking.</a:t>
            </a:r>
            <a:endParaRPr lang="en-US" sz="2400" dirty="0"/>
          </a:p>
        </p:txBody>
      </p:sp>
      <p:sp>
        <p:nvSpPr>
          <p:cNvPr id="6" name="Shape 3"/>
          <p:cNvSpPr/>
          <p:nvPr/>
        </p:nvSpPr>
        <p:spPr>
          <a:xfrm>
            <a:off x="822960" y="2499360"/>
            <a:ext cx="2491740" cy="3627120"/>
          </a:xfrm>
          <a:prstGeom prst="roundRect">
            <a:avLst>
              <a:gd name="adj" fmla="val 4404"/>
            </a:avLst>
          </a:prstGeom>
          <a:solidFill>
            <a:schemeClr val="tx2"/>
          </a:solidFill>
          <a:ln w="12700">
            <a:solidFill>
              <a:srgbClr val="4A1A5E"/>
            </a:solidFill>
            <a:prstDash val="solid"/>
          </a:ln>
        </p:spPr>
      </p:sp>
      <p:sp>
        <p:nvSpPr>
          <p:cNvPr id="7" name="Text 4"/>
          <p:cNvSpPr txBox="1"/>
          <p:nvPr/>
        </p:nvSpPr>
        <p:spPr>
          <a:xfrm>
            <a:off x="1097280" y="2727960"/>
            <a:ext cx="1943100" cy="457200"/>
          </a:xfrm>
          <a:prstGeom prst="rect">
            <a:avLst/>
          </a:prstGeom>
          <a:noFill/>
          <a:ln/>
        </p:spPr>
        <p:txBody>
          <a:bodyPr wrap="square" lIns="0" tIns="0" rIns="0" bIns="0" rtlCol="0" anchor="t"/>
          <a:lstStyle/>
          <a:p>
            <a:pPr indent="0" marL="0">
              <a:buNone/>
            </a:pPr>
            <a:r>
              <a:rPr lang="en-US" sz="1400" b="1" dirty="0">
                <a:solidFill>
                  <a:schemeClr val="accent1"/>
                </a:solidFill>
                <a:latin typeface="Cambria" pitchFamily="34" charset="0"/>
                <a:ea typeface="Cambria" pitchFamily="34" charset="-122"/>
                <a:cs typeface="Cambria" pitchFamily="34" charset="-120"/>
              </a:rPr>
              <a:t>tabs: queries</a:t>
            </a:r>
            <a:endParaRPr lang="en-US" sz="1400" dirty="0"/>
          </a:p>
        </p:txBody>
      </p:sp>
      <p:sp>
        <p:nvSpPr>
          <p:cNvPr id="8" name="Text 5"/>
          <p:cNvSpPr txBox="1"/>
          <p:nvPr/>
        </p:nvSpPr>
        <p:spPr>
          <a:xfrm>
            <a:off x="1097280" y="3322320"/>
            <a:ext cx="1943100" cy="2575560"/>
          </a:xfrm>
          <a:prstGeom prst="rect">
            <a:avLst/>
          </a:prstGeom>
          <a:noFill/>
          <a:ln/>
        </p:spPr>
        <p:txBody>
          <a:bodyPr wrap="square" lIns="0" tIns="0" rIns="0" bIns="0" rtlCol="0" anchor="t"/>
          <a:lstStyle/>
          <a:p>
            <a:pPr indent="0" marL="0">
              <a:buNone/>
            </a:pPr>
            <a:r>
              <a:rPr lang="en-US" sz="2600" dirty="0">
                <a:solidFill>
                  <a:schemeClr val="bg2"/>
                </a:solidFill>
              </a:rPr>
              <a:t>Boolean tab-query provider over every open tab</a:t>
            </a:r>
            <a:endParaRPr lang="en-US" sz="2600" dirty="0"/>
          </a:p>
        </p:txBody>
      </p:sp>
      <p:sp>
        <p:nvSpPr>
          <p:cNvPr id="9" name="Shape 6"/>
          <p:cNvSpPr/>
          <p:nvPr/>
        </p:nvSpPr>
        <p:spPr>
          <a:xfrm>
            <a:off x="3497580" y="2499360"/>
            <a:ext cx="2491740" cy="3627120"/>
          </a:xfrm>
          <a:prstGeom prst="roundRect">
            <a:avLst>
              <a:gd name="adj" fmla="val 4404"/>
            </a:avLst>
          </a:prstGeom>
          <a:solidFill>
            <a:schemeClr val="tx2"/>
          </a:solidFill>
          <a:ln w="12700">
            <a:solidFill>
              <a:srgbClr val="4A1A5E"/>
            </a:solidFill>
            <a:prstDash val="solid"/>
          </a:ln>
        </p:spPr>
      </p:sp>
      <p:sp>
        <p:nvSpPr>
          <p:cNvPr id="10" name="Text 7"/>
          <p:cNvSpPr txBox="1"/>
          <p:nvPr/>
        </p:nvSpPr>
        <p:spPr>
          <a:xfrm>
            <a:off x="3771900" y="2727960"/>
            <a:ext cx="1943100" cy="457200"/>
          </a:xfrm>
          <a:prstGeom prst="rect">
            <a:avLst/>
          </a:prstGeom>
          <a:noFill/>
          <a:ln/>
        </p:spPr>
        <p:txBody>
          <a:bodyPr wrap="square" lIns="0" tIns="0" rIns="0" bIns="0" rtlCol="0" anchor="t"/>
          <a:lstStyle/>
          <a:p>
            <a:pPr indent="0" marL="0">
              <a:buNone/>
            </a:pPr>
            <a:r>
              <a:rPr lang="en-US" sz="1400" b="1" dirty="0">
                <a:solidFill>
                  <a:schemeClr val="accent1"/>
                </a:solidFill>
                <a:latin typeface="Cambria" pitchFamily="34" charset="0"/>
                <a:ea typeface="Cambria" pitchFamily="34" charset="-122"/>
                <a:cs typeface="Cambria" pitchFamily="34" charset="-120"/>
              </a:rPr>
              <a:t>Brace expansion</a:t>
            </a:r>
            <a:endParaRPr lang="en-US" sz="1400" dirty="0"/>
          </a:p>
        </p:txBody>
      </p:sp>
      <p:sp>
        <p:nvSpPr>
          <p:cNvPr id="11" name="Text 8"/>
          <p:cNvSpPr txBox="1"/>
          <p:nvPr/>
        </p:nvSpPr>
        <p:spPr>
          <a:xfrm>
            <a:off x="3771900" y="3322320"/>
            <a:ext cx="1943100" cy="2575560"/>
          </a:xfrm>
          <a:prstGeom prst="rect">
            <a:avLst/>
          </a:prstGeom>
          <a:noFill/>
          <a:ln/>
        </p:spPr>
        <p:txBody>
          <a:bodyPr wrap="square" lIns="0" tIns="0" rIns="0" bIns="0" rtlCol="0" anchor="t"/>
          <a:lstStyle/>
          <a:p>
            <a:pPr indent="0" marL="0">
              <a:buNone/>
            </a:pPr>
            <a:r>
              <a:rPr lang="en-US" sz="2600" dirty="0">
                <a:solidFill>
                  <a:schemeClr val="bg2"/>
                </a:solidFill>
              </a:rPr>
              <a:t>A batch launcher</a:t>
            </a:r>
            <a:endParaRPr lang="en-US" sz="2600" dirty="0"/>
          </a:p>
        </p:txBody>
      </p:sp>
      <p:sp>
        <p:nvSpPr>
          <p:cNvPr id="12" name="Shape 9"/>
          <p:cNvSpPr/>
          <p:nvPr/>
        </p:nvSpPr>
        <p:spPr>
          <a:xfrm>
            <a:off x="6172200" y="2499360"/>
            <a:ext cx="2491740" cy="3627120"/>
          </a:xfrm>
          <a:prstGeom prst="roundRect">
            <a:avLst>
              <a:gd name="adj" fmla="val 4404"/>
            </a:avLst>
          </a:prstGeom>
          <a:solidFill>
            <a:schemeClr val="tx2"/>
          </a:solidFill>
          <a:ln w="12700">
            <a:solidFill>
              <a:srgbClr val="4A1A5E"/>
            </a:solidFill>
            <a:prstDash val="solid"/>
          </a:ln>
        </p:spPr>
      </p:sp>
      <p:sp>
        <p:nvSpPr>
          <p:cNvPr id="13" name="Text 10"/>
          <p:cNvSpPr txBox="1"/>
          <p:nvPr/>
        </p:nvSpPr>
        <p:spPr>
          <a:xfrm>
            <a:off x="6446520" y="2727960"/>
            <a:ext cx="1943100" cy="457200"/>
          </a:xfrm>
          <a:prstGeom prst="rect">
            <a:avLst/>
          </a:prstGeom>
          <a:noFill/>
          <a:ln/>
        </p:spPr>
        <p:txBody>
          <a:bodyPr wrap="square" lIns="0" tIns="0" rIns="0" bIns="0" rtlCol="0" anchor="t"/>
          <a:lstStyle/>
          <a:p>
            <a:pPr indent="0" marL="0">
              <a:buNone/>
            </a:pPr>
            <a:r>
              <a:rPr lang="en-US" sz="1400" b="1" dirty="0">
                <a:solidFill>
                  <a:schemeClr val="accent1"/>
                </a:solidFill>
                <a:latin typeface="Cambria" pitchFamily="34" charset="0"/>
                <a:ea typeface="Cambria" pitchFamily="34" charset="-122"/>
                <a:cs typeface="Cambria" pitchFamily="34" charset="-120"/>
              </a:rPr>
              <a:t>url: surgery</a:t>
            </a:r>
            <a:endParaRPr lang="en-US" sz="1400" dirty="0"/>
          </a:p>
        </p:txBody>
      </p:sp>
      <p:sp>
        <p:nvSpPr>
          <p:cNvPr id="14" name="Text 11"/>
          <p:cNvSpPr txBox="1"/>
          <p:nvPr/>
        </p:nvSpPr>
        <p:spPr>
          <a:xfrm>
            <a:off x="6446520" y="3322320"/>
            <a:ext cx="1943100" cy="2575560"/>
          </a:xfrm>
          <a:prstGeom prst="rect">
            <a:avLst/>
          </a:prstGeom>
          <a:noFill/>
          <a:ln/>
        </p:spPr>
        <p:txBody>
          <a:bodyPr wrap="square" lIns="0" tIns="0" rIns="0" bIns="0" rtlCol="0" anchor="t"/>
          <a:lstStyle/>
          <a:p>
            <a:pPr indent="0" marL="0">
              <a:buNone/>
            </a:pPr>
            <a:r>
              <a:rPr lang="en-US" sz="2600" dirty="0">
                <a:solidFill>
                  <a:schemeClr val="bg2"/>
                </a:solidFill>
              </a:rPr>
              <a:t>A URL rewrite engine</a:t>
            </a:r>
            <a:endParaRPr lang="en-US" sz="2600" dirty="0"/>
          </a:p>
        </p:txBody>
      </p:sp>
      <p:sp>
        <p:nvSpPr>
          <p:cNvPr id="15" name="Shape 12"/>
          <p:cNvSpPr/>
          <p:nvPr/>
        </p:nvSpPr>
        <p:spPr>
          <a:xfrm>
            <a:off x="8846820" y="2499360"/>
            <a:ext cx="2491740" cy="3627120"/>
          </a:xfrm>
          <a:prstGeom prst="roundRect">
            <a:avLst>
              <a:gd name="adj" fmla="val 4404"/>
            </a:avLst>
          </a:prstGeom>
          <a:solidFill>
            <a:schemeClr val="tx2"/>
          </a:solidFill>
          <a:ln w="12700">
            <a:solidFill>
              <a:srgbClr val="4A1A5E"/>
            </a:solidFill>
            <a:prstDash val="solid"/>
          </a:ln>
        </p:spPr>
      </p:sp>
      <p:sp>
        <p:nvSpPr>
          <p:cNvPr id="16" name="Text 13"/>
          <p:cNvSpPr txBox="1"/>
          <p:nvPr/>
        </p:nvSpPr>
        <p:spPr>
          <a:xfrm>
            <a:off x="9121140" y="2727960"/>
            <a:ext cx="1943100" cy="457200"/>
          </a:xfrm>
          <a:prstGeom prst="rect">
            <a:avLst/>
          </a:prstGeom>
          <a:noFill/>
          <a:ln/>
        </p:spPr>
        <p:txBody>
          <a:bodyPr wrap="square" lIns="0" tIns="0" rIns="0" bIns="0" rtlCol="0" anchor="t"/>
          <a:lstStyle/>
          <a:p>
            <a:pPr indent="0" marL="0">
              <a:buNone/>
            </a:pPr>
            <a:r>
              <a:rPr lang="en-US" sz="1400" b="1" dirty="0">
                <a:solidFill>
                  <a:schemeClr val="accent1"/>
                </a:solidFill>
                <a:latin typeface="Cambria" pitchFamily="34" charset="0"/>
                <a:ea typeface="Cambria" pitchFamily="34" charset="-122"/>
                <a:cs typeface="Cambria" pitchFamily="34" charset="-120"/>
              </a:rPr>
              <a:t>Inline compute</a:t>
            </a:r>
            <a:endParaRPr lang="en-US" sz="1400" dirty="0"/>
          </a:p>
        </p:txBody>
      </p:sp>
      <p:sp>
        <p:nvSpPr>
          <p:cNvPr id="17" name="Text 14"/>
          <p:cNvSpPr txBox="1"/>
          <p:nvPr/>
        </p:nvSpPr>
        <p:spPr>
          <a:xfrm>
            <a:off x="9121140" y="3322320"/>
            <a:ext cx="1943100" cy="2575560"/>
          </a:xfrm>
          <a:prstGeom prst="rect">
            <a:avLst/>
          </a:prstGeom>
          <a:noFill/>
          <a:ln/>
        </p:spPr>
        <p:txBody>
          <a:bodyPr wrap="square" lIns="0" tIns="0" rIns="0" bIns="0" rtlCol="0" anchor="t"/>
          <a:lstStyle/>
          <a:p>
            <a:pPr indent="0" marL="0">
              <a:buNone/>
            </a:pPr>
            <a:r>
              <a:rPr lang="en-US" sz="2600" dirty="0">
                <a:solidFill>
                  <a:schemeClr val="bg2"/>
                </a:solidFill>
              </a:rPr>
              <a:t>Evaluate expressions in the palette</a:t>
            </a:r>
            <a:endParaRPr lang="en-US" sz="26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Real tmux from Cmd-K</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zwire users / tmux</a:t>
            </a:r>
            <a:endParaRPr lang="en-US" sz="1200" dirty="0"/>
          </a:p>
        </p:txBody>
      </p:sp>
      <p:sp>
        <p:nvSpPr>
          <p:cNvPr id="5" name="Text 2"/>
          <p:cNvSpPr txBox="1"/>
          <p:nvPr/>
        </p:nvSpPr>
        <p:spPr>
          <a:xfrm>
            <a:off x="822960" y="1463040"/>
            <a:ext cx="10515600" cy="950595"/>
          </a:xfrm>
          <a:prstGeom prst="rect">
            <a:avLst/>
          </a:prstGeom>
          <a:noFill/>
          <a:ln/>
        </p:spPr>
        <p:txBody>
          <a:bodyPr wrap="square" lIns="0" tIns="0" rIns="0" bIns="0" rtlCol="0" anchor="t"/>
          <a:lstStyle/>
          <a:p>
            <a:pPr indent="0" marL="0">
              <a:buNone/>
            </a:pPr>
            <a:r>
              <a:rPr lang="en-US" sz="1900" dirty="0">
                <a:solidFill>
                  <a:schemeClr val="bg2"/>
                </a:solidFill>
              </a:rPr>
              <a:t>The palette lists the live panes of the multiplexer running in your terminal, runs commands in them and moves text between the browser and tmux paste buffers over tmux's own wire protocol, with no tmux subprocess.</a:t>
            </a:r>
            <a:endParaRPr lang="en-US" sz="1900" dirty="0"/>
          </a:p>
        </p:txBody>
      </p:sp>
      <p:sp>
        <p:nvSpPr>
          <p:cNvPr id="6" name="Shape 3"/>
          <p:cNvSpPr/>
          <p:nvPr/>
        </p:nvSpPr>
        <p:spPr>
          <a:xfrm>
            <a:off x="822960" y="2642235"/>
            <a:ext cx="2491740" cy="3484245"/>
          </a:xfrm>
          <a:prstGeom prst="roundRect">
            <a:avLst>
              <a:gd name="adj" fmla="val 4404"/>
            </a:avLst>
          </a:prstGeom>
          <a:solidFill>
            <a:schemeClr val="tx2"/>
          </a:solidFill>
          <a:ln w="12700">
            <a:solidFill>
              <a:srgbClr val="4A1A5E"/>
            </a:solidFill>
            <a:prstDash val="solid"/>
          </a:ln>
        </p:spPr>
      </p:sp>
      <p:sp>
        <p:nvSpPr>
          <p:cNvPr id="7" name="Text 4"/>
          <p:cNvSpPr txBox="1"/>
          <p:nvPr/>
        </p:nvSpPr>
        <p:spPr>
          <a:xfrm>
            <a:off x="1097280" y="2870835"/>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Panes</a:t>
            </a:r>
            <a:endParaRPr lang="en-US" sz="2600" dirty="0"/>
          </a:p>
        </p:txBody>
      </p:sp>
      <p:sp>
        <p:nvSpPr>
          <p:cNvPr id="8" name="Text 5"/>
          <p:cNvSpPr txBox="1"/>
          <p:nvPr/>
        </p:nvSpPr>
        <p:spPr>
          <a:xfrm>
            <a:off x="1097280" y="3465195"/>
            <a:ext cx="1943100" cy="2432685"/>
          </a:xfrm>
          <a:prstGeom prst="rect">
            <a:avLst/>
          </a:prstGeom>
          <a:noFill/>
          <a:ln/>
        </p:spPr>
        <p:txBody>
          <a:bodyPr wrap="square" lIns="0" tIns="0" rIns="0" bIns="0" rtlCol="0" anchor="t"/>
          <a:lstStyle/>
          <a:p>
            <a:pPr indent="0" marL="0">
              <a:buNone/>
            </a:pPr>
            <a:r>
              <a:rPr lang="en-US" sz="2800" dirty="0">
                <a:solidFill>
                  <a:schemeClr val="bg2"/>
                </a:solidFill>
              </a:rPr>
              <a:t>Live panes of your tmux</a:t>
            </a:r>
            <a:endParaRPr lang="en-US" sz="2800" dirty="0"/>
          </a:p>
        </p:txBody>
      </p:sp>
      <p:sp>
        <p:nvSpPr>
          <p:cNvPr id="9" name="Shape 6"/>
          <p:cNvSpPr/>
          <p:nvPr/>
        </p:nvSpPr>
        <p:spPr>
          <a:xfrm>
            <a:off x="3497580" y="2642235"/>
            <a:ext cx="2491740" cy="3484245"/>
          </a:xfrm>
          <a:prstGeom prst="roundRect">
            <a:avLst>
              <a:gd name="adj" fmla="val 4404"/>
            </a:avLst>
          </a:prstGeom>
          <a:solidFill>
            <a:schemeClr val="tx2"/>
          </a:solidFill>
          <a:ln w="12700">
            <a:solidFill>
              <a:srgbClr val="4A1A5E"/>
            </a:solidFill>
            <a:prstDash val="solid"/>
          </a:ln>
        </p:spPr>
      </p:sp>
      <p:sp>
        <p:nvSpPr>
          <p:cNvPr id="10" name="Text 7"/>
          <p:cNvSpPr txBox="1"/>
          <p:nvPr/>
        </p:nvSpPr>
        <p:spPr>
          <a:xfrm>
            <a:off x="3771900" y="2870835"/>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Commands</a:t>
            </a:r>
            <a:endParaRPr lang="en-US" sz="2600" dirty="0"/>
          </a:p>
        </p:txBody>
      </p:sp>
      <p:sp>
        <p:nvSpPr>
          <p:cNvPr id="11" name="Text 8"/>
          <p:cNvSpPr txBox="1"/>
          <p:nvPr/>
        </p:nvSpPr>
        <p:spPr>
          <a:xfrm>
            <a:off x="3771900" y="3465195"/>
            <a:ext cx="1943100" cy="2432685"/>
          </a:xfrm>
          <a:prstGeom prst="rect">
            <a:avLst/>
          </a:prstGeom>
          <a:noFill/>
          <a:ln/>
        </p:spPr>
        <p:txBody>
          <a:bodyPr wrap="square" lIns="0" tIns="0" rIns="0" bIns="0" rtlCol="0" anchor="t"/>
          <a:lstStyle/>
          <a:p>
            <a:pPr indent="0" marL="0">
              <a:buNone/>
            </a:pPr>
            <a:r>
              <a:rPr lang="en-US" sz="2800" dirty="0">
                <a:solidFill>
                  <a:schemeClr val="bg2"/>
                </a:solidFill>
              </a:rPr>
              <a:t>Run in them from the palette</a:t>
            </a:r>
            <a:endParaRPr lang="en-US" sz="2800" dirty="0"/>
          </a:p>
        </p:txBody>
      </p:sp>
      <p:sp>
        <p:nvSpPr>
          <p:cNvPr id="12" name="Shape 9"/>
          <p:cNvSpPr/>
          <p:nvPr/>
        </p:nvSpPr>
        <p:spPr>
          <a:xfrm>
            <a:off x="6172200" y="2642235"/>
            <a:ext cx="2491740" cy="3484245"/>
          </a:xfrm>
          <a:prstGeom prst="roundRect">
            <a:avLst>
              <a:gd name="adj" fmla="val 4404"/>
            </a:avLst>
          </a:prstGeom>
          <a:solidFill>
            <a:schemeClr val="tx2"/>
          </a:solidFill>
          <a:ln w="12700">
            <a:solidFill>
              <a:srgbClr val="4A1A5E"/>
            </a:solidFill>
            <a:prstDash val="solid"/>
          </a:ln>
        </p:spPr>
      </p:sp>
      <p:sp>
        <p:nvSpPr>
          <p:cNvPr id="13" name="Text 10"/>
          <p:cNvSpPr txBox="1"/>
          <p:nvPr/>
        </p:nvSpPr>
        <p:spPr>
          <a:xfrm>
            <a:off x="6446520" y="2870835"/>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Buffers</a:t>
            </a:r>
            <a:endParaRPr lang="en-US" sz="2600" dirty="0"/>
          </a:p>
        </p:txBody>
      </p:sp>
      <p:sp>
        <p:nvSpPr>
          <p:cNvPr id="14" name="Text 11"/>
          <p:cNvSpPr txBox="1"/>
          <p:nvPr/>
        </p:nvSpPr>
        <p:spPr>
          <a:xfrm>
            <a:off x="6446520" y="3465195"/>
            <a:ext cx="1943100" cy="2432685"/>
          </a:xfrm>
          <a:prstGeom prst="rect">
            <a:avLst/>
          </a:prstGeom>
          <a:noFill/>
          <a:ln/>
        </p:spPr>
        <p:txBody>
          <a:bodyPr wrap="square" lIns="0" tIns="0" rIns="0" bIns="0" rtlCol="0" anchor="t"/>
          <a:lstStyle/>
          <a:p>
            <a:pPr indent="0" marL="0">
              <a:buNone/>
            </a:pPr>
            <a:r>
              <a:rPr lang="en-US" sz="2800" dirty="0">
                <a:solidFill>
                  <a:schemeClr val="bg2"/>
                </a:solidFill>
              </a:rPr>
              <a:t>Browser and paste-buffer text exchange</a:t>
            </a:r>
            <a:endParaRPr lang="en-US" sz="2800" dirty="0"/>
          </a:p>
        </p:txBody>
      </p:sp>
      <p:sp>
        <p:nvSpPr>
          <p:cNvPr id="15" name="Shape 12"/>
          <p:cNvSpPr/>
          <p:nvPr/>
        </p:nvSpPr>
        <p:spPr>
          <a:xfrm>
            <a:off x="8846820" y="2642235"/>
            <a:ext cx="2491740" cy="3484245"/>
          </a:xfrm>
          <a:prstGeom prst="roundRect">
            <a:avLst>
              <a:gd name="adj" fmla="val 4404"/>
            </a:avLst>
          </a:prstGeom>
          <a:solidFill>
            <a:schemeClr val="tx2"/>
          </a:solidFill>
          <a:ln w="12700">
            <a:solidFill>
              <a:srgbClr val="4A1A5E"/>
            </a:solidFill>
            <a:prstDash val="solid"/>
          </a:ln>
        </p:spPr>
      </p:sp>
      <p:sp>
        <p:nvSpPr>
          <p:cNvPr id="16" name="Text 13"/>
          <p:cNvSpPr txBox="1"/>
          <p:nvPr/>
        </p:nvSpPr>
        <p:spPr>
          <a:xfrm>
            <a:off x="9121140" y="2870835"/>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Protocol</a:t>
            </a:r>
            <a:endParaRPr lang="en-US" sz="2600" dirty="0"/>
          </a:p>
        </p:txBody>
      </p:sp>
      <p:sp>
        <p:nvSpPr>
          <p:cNvPr id="17" name="Text 14"/>
          <p:cNvSpPr txBox="1"/>
          <p:nvPr/>
        </p:nvSpPr>
        <p:spPr>
          <a:xfrm>
            <a:off x="9121140" y="3465195"/>
            <a:ext cx="1943100" cy="2432685"/>
          </a:xfrm>
          <a:prstGeom prst="rect">
            <a:avLst/>
          </a:prstGeom>
          <a:noFill/>
          <a:ln/>
        </p:spPr>
        <p:txBody>
          <a:bodyPr wrap="square" lIns="0" tIns="0" rIns="0" bIns="0" rtlCol="0" anchor="t"/>
          <a:lstStyle/>
          <a:p>
            <a:pPr indent="0" marL="0">
              <a:buNone/>
            </a:pPr>
            <a:r>
              <a:rPr lang="en-US" sz="2800" dirty="0">
                <a:solidFill>
                  <a:schemeClr val="bg2"/>
                </a:solidFill>
              </a:rPr>
              <a:t>tmux's own wire protocol</a:t>
            </a:r>
            <a:endParaRPr lang="en-US" sz="28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Colour schemes</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zwire users / schemes</a:t>
            </a:r>
            <a:endParaRPr lang="en-US" sz="1200" dirty="0"/>
          </a:p>
        </p:txBody>
      </p:sp>
      <p:sp>
        <p:nvSpPr>
          <p:cNvPr id="5" name="Text 2"/>
          <p:cNvSpPr txBox="1"/>
          <p:nvPr/>
        </p:nvSpPr>
        <p:spPr>
          <a:xfrm>
            <a:off x="822960" y="1463040"/>
            <a:ext cx="10515600" cy="1141095"/>
          </a:xfrm>
          <a:prstGeom prst="rect">
            <a:avLst/>
          </a:prstGeom>
          <a:noFill/>
          <a:ln/>
        </p:spPr>
        <p:txBody>
          <a:bodyPr wrap="square" lIns="0" tIns="0" rIns="0" bIns="0" rtlCol="0" anchor="t"/>
          <a:lstStyle/>
          <a:p>
            <a:pPr indent="0" marL="0">
              <a:buNone/>
            </a:pPr>
            <a:r>
              <a:rPr lang="en-US" sz="2300" dirty="0">
                <a:solidFill>
                  <a:schemeClr val="bg2"/>
                </a:solidFill>
              </a:rPr>
              <a:t>Eight schemes, each with a light variant, drive the browser chrome natively. A light and dark toggle syncs across the HUD, the new tab and zpwrchrome.</a:t>
            </a:r>
            <a:endParaRPr lang="en-US" sz="2300" dirty="0"/>
          </a:p>
        </p:txBody>
      </p:sp>
      <p:sp>
        <p:nvSpPr>
          <p:cNvPr id="6" name="Shape 3"/>
          <p:cNvSpPr/>
          <p:nvPr/>
        </p:nvSpPr>
        <p:spPr>
          <a:xfrm>
            <a:off x="822960" y="2832735"/>
            <a:ext cx="2491740" cy="3293745"/>
          </a:xfrm>
          <a:prstGeom prst="roundRect">
            <a:avLst>
              <a:gd name="adj" fmla="val 4404"/>
            </a:avLst>
          </a:prstGeom>
          <a:solidFill>
            <a:schemeClr val="tx2"/>
          </a:solidFill>
          <a:ln w="12700">
            <a:solidFill>
              <a:srgbClr val="4A1A5E"/>
            </a:solidFill>
            <a:prstDash val="solid"/>
          </a:ln>
        </p:spPr>
      </p:sp>
      <p:sp>
        <p:nvSpPr>
          <p:cNvPr id="7" name="Text 4"/>
          <p:cNvSpPr txBox="1"/>
          <p:nvPr/>
        </p:nvSpPr>
        <p:spPr>
          <a:xfrm>
            <a:off x="1097280" y="3061335"/>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Native</a:t>
            </a:r>
            <a:endParaRPr lang="en-US" sz="2600" dirty="0"/>
          </a:p>
        </p:txBody>
      </p:sp>
      <p:sp>
        <p:nvSpPr>
          <p:cNvPr id="8" name="Text 5"/>
          <p:cNvSpPr txBox="1"/>
          <p:nvPr/>
        </p:nvSpPr>
        <p:spPr>
          <a:xfrm>
            <a:off x="1097280" y="3655695"/>
            <a:ext cx="1943100" cy="2242185"/>
          </a:xfrm>
          <a:prstGeom prst="rect">
            <a:avLst/>
          </a:prstGeom>
          <a:noFill/>
          <a:ln/>
        </p:spPr>
        <p:txBody>
          <a:bodyPr wrap="square" lIns="0" tIns="0" rIns="0" bIns="0" rtlCol="0" anchor="t"/>
          <a:lstStyle/>
          <a:p>
            <a:pPr indent="0" marL="0">
              <a:buNone/>
            </a:pPr>
            <a:r>
              <a:rPr lang="en-US" sz="2700" dirty="0">
                <a:solidFill>
                  <a:schemeClr val="bg2"/>
                </a:solidFill>
              </a:rPr>
              <a:t>Colour mixer and DevTools carry the schemes</a:t>
            </a:r>
            <a:endParaRPr lang="en-US" sz="2700" dirty="0"/>
          </a:p>
        </p:txBody>
      </p:sp>
      <p:sp>
        <p:nvSpPr>
          <p:cNvPr id="9" name="Shape 6"/>
          <p:cNvSpPr/>
          <p:nvPr/>
        </p:nvSpPr>
        <p:spPr>
          <a:xfrm>
            <a:off x="3497580" y="2832735"/>
            <a:ext cx="2491740" cy="3293745"/>
          </a:xfrm>
          <a:prstGeom prst="roundRect">
            <a:avLst>
              <a:gd name="adj" fmla="val 4404"/>
            </a:avLst>
          </a:prstGeom>
          <a:solidFill>
            <a:schemeClr val="tx2"/>
          </a:solidFill>
          <a:ln w="12700">
            <a:solidFill>
              <a:srgbClr val="4A1A5E"/>
            </a:solidFill>
            <a:prstDash val="solid"/>
          </a:ln>
        </p:spPr>
      </p:sp>
      <p:sp>
        <p:nvSpPr>
          <p:cNvPr id="10" name="Text 7"/>
          <p:cNvSpPr txBox="1"/>
          <p:nvPr/>
        </p:nvSpPr>
        <p:spPr>
          <a:xfrm>
            <a:off x="3771900" y="3061335"/>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Toggle</a:t>
            </a:r>
            <a:endParaRPr lang="en-US" sz="2600" dirty="0"/>
          </a:p>
        </p:txBody>
      </p:sp>
      <p:sp>
        <p:nvSpPr>
          <p:cNvPr id="11" name="Text 8"/>
          <p:cNvSpPr txBox="1"/>
          <p:nvPr/>
        </p:nvSpPr>
        <p:spPr>
          <a:xfrm>
            <a:off x="3771900" y="3655695"/>
            <a:ext cx="1943100" cy="2242185"/>
          </a:xfrm>
          <a:prstGeom prst="rect">
            <a:avLst/>
          </a:prstGeom>
          <a:noFill/>
          <a:ln/>
        </p:spPr>
        <p:txBody>
          <a:bodyPr wrap="square" lIns="0" tIns="0" rIns="0" bIns="0" rtlCol="0" anchor="t"/>
          <a:lstStyle/>
          <a:p>
            <a:pPr indent="0" marL="0">
              <a:buNone/>
            </a:pPr>
            <a:r>
              <a:rPr lang="en-US" sz="2700" dirty="0">
                <a:solidFill>
                  <a:schemeClr val="bg2"/>
                </a:solidFill>
              </a:rPr>
              <a:t>Light and dark sync everywhere</a:t>
            </a:r>
            <a:endParaRPr lang="en-US" sz="2700" dirty="0"/>
          </a:p>
        </p:txBody>
      </p:sp>
      <p:sp>
        <p:nvSpPr>
          <p:cNvPr id="12" name="Shape 9"/>
          <p:cNvSpPr/>
          <p:nvPr/>
        </p:nvSpPr>
        <p:spPr>
          <a:xfrm>
            <a:off x="6172200" y="2832735"/>
            <a:ext cx="2491740" cy="3293745"/>
          </a:xfrm>
          <a:prstGeom prst="roundRect">
            <a:avLst>
              <a:gd name="adj" fmla="val 4404"/>
            </a:avLst>
          </a:prstGeom>
          <a:solidFill>
            <a:schemeClr val="tx2"/>
          </a:solidFill>
          <a:ln w="12700">
            <a:solidFill>
              <a:srgbClr val="4A1A5E"/>
            </a:solidFill>
            <a:prstDash val="solid"/>
          </a:ln>
        </p:spPr>
      </p:sp>
      <p:sp>
        <p:nvSpPr>
          <p:cNvPr id="13" name="Text 10"/>
          <p:cNvSpPr txBox="1"/>
          <p:nvPr/>
        </p:nvSpPr>
        <p:spPr>
          <a:xfrm>
            <a:off x="6446520" y="3061335"/>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Fork</a:t>
            </a:r>
            <a:endParaRPr lang="en-US" sz="2600" dirty="0"/>
          </a:p>
        </p:txBody>
      </p:sp>
      <p:sp>
        <p:nvSpPr>
          <p:cNvPr id="14" name="Text 11"/>
          <p:cNvSpPr txBox="1"/>
          <p:nvPr/>
        </p:nvSpPr>
        <p:spPr>
          <a:xfrm>
            <a:off x="6446520" y="3655695"/>
            <a:ext cx="1943100" cy="2242185"/>
          </a:xfrm>
          <a:prstGeom prst="rect">
            <a:avLst/>
          </a:prstGeom>
          <a:noFill/>
          <a:ln/>
        </p:spPr>
        <p:txBody>
          <a:bodyPr wrap="square" lIns="0" tIns="0" rIns="0" bIns="0" rtlCol="0" anchor="t"/>
          <a:lstStyle/>
          <a:p>
            <a:pPr indent="0" marL="0">
              <a:buNone/>
            </a:pPr>
            <a:r>
              <a:rPr lang="en-US" sz="2700" dirty="0">
                <a:solidFill>
                  <a:schemeClr val="bg2"/>
                </a:solidFill>
              </a:rPr>
              <a:t>Patch series wires them into the mixer</a:t>
            </a:r>
            <a:endParaRPr lang="en-US" sz="2700" dirty="0"/>
          </a:p>
        </p:txBody>
      </p:sp>
      <p:sp>
        <p:nvSpPr>
          <p:cNvPr id="15" name="Shape 12"/>
          <p:cNvSpPr/>
          <p:nvPr/>
        </p:nvSpPr>
        <p:spPr>
          <a:xfrm>
            <a:off x="8846820" y="2832735"/>
            <a:ext cx="2491740" cy="3293745"/>
          </a:xfrm>
          <a:prstGeom prst="roundRect">
            <a:avLst>
              <a:gd name="adj" fmla="val 4404"/>
            </a:avLst>
          </a:prstGeom>
          <a:solidFill>
            <a:schemeClr val="tx2"/>
          </a:solidFill>
          <a:ln w="12700">
            <a:solidFill>
              <a:srgbClr val="4A1A5E"/>
            </a:solidFill>
            <a:prstDash val="solid"/>
          </a:ln>
        </p:spPr>
      </p:sp>
      <p:sp>
        <p:nvSpPr>
          <p:cNvPr id="16" name="Text 13"/>
          <p:cNvSpPr txBox="1"/>
          <p:nvPr/>
        </p:nvSpPr>
        <p:spPr>
          <a:xfrm>
            <a:off x="9121140" y="3061335"/>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Instant</a:t>
            </a:r>
            <a:endParaRPr lang="en-US" sz="2600" dirty="0"/>
          </a:p>
        </p:txBody>
      </p:sp>
      <p:sp>
        <p:nvSpPr>
          <p:cNvPr id="17" name="Text 14"/>
          <p:cNvSpPr txBox="1"/>
          <p:nvPr/>
        </p:nvSpPr>
        <p:spPr>
          <a:xfrm>
            <a:off x="9121140" y="3655695"/>
            <a:ext cx="1943100" cy="2242185"/>
          </a:xfrm>
          <a:prstGeom prst="rect">
            <a:avLst/>
          </a:prstGeom>
          <a:noFill/>
          <a:ln/>
        </p:spPr>
        <p:txBody>
          <a:bodyPr wrap="square" lIns="0" tIns="0" rIns="0" bIns="0" rtlCol="0" anchor="t"/>
          <a:lstStyle/>
          <a:p>
            <a:pPr indent="0" marL="0">
              <a:buNone/>
            </a:pPr>
            <a:r>
              <a:rPr lang="en-US" sz="2700" dirty="0">
                <a:solidFill>
                  <a:schemeClr val="bg2"/>
                </a:solidFill>
              </a:rPr>
              <a:t>Changes apply live</a:t>
            </a:r>
            <a:endParaRPr lang="en-US" sz="27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Hooks</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zwire users / hooks</a:t>
            </a:r>
            <a:endParaRPr lang="en-US" sz="1200" dirty="0"/>
          </a:p>
        </p:txBody>
      </p:sp>
      <p:sp>
        <p:nvSpPr>
          <p:cNvPr id="5" name="Text 2"/>
          <p:cNvSpPr txBox="1"/>
          <p:nvPr/>
        </p:nvSpPr>
        <p:spPr>
          <a:xfrm>
            <a:off x="822960" y="1463040"/>
            <a:ext cx="10515600" cy="1093470"/>
          </a:xfrm>
          <a:prstGeom prst="rect">
            <a:avLst/>
          </a:prstGeom>
          <a:noFill/>
          <a:ln/>
        </p:spPr>
        <p:txBody>
          <a:bodyPr wrap="square" lIns="0" tIns="0" rIns="0" bIns="0" rtlCol="0" anchor="t"/>
          <a:lstStyle/>
          <a:p>
            <a:pPr indent="0" marL="0">
              <a:buNone/>
            </a:pPr>
            <a:r>
              <a:rPr lang="en-US" sz="2200" dirty="0">
                <a:solidFill>
                  <a:schemeClr val="bg2"/>
                </a:solidFill>
              </a:rPr>
              <a:t>A Hooks HUD page binds stryke scripts to 54 browser events: tab, window, navigation, download, bookmark, terminal, scheme, audio and palette-command lifecycle, plus an action catch-all.</a:t>
            </a:r>
            <a:endParaRPr lang="en-US" sz="2200" dirty="0"/>
          </a:p>
        </p:txBody>
      </p:sp>
      <p:sp>
        <p:nvSpPr>
          <p:cNvPr id="6" name="Shape 3"/>
          <p:cNvSpPr/>
          <p:nvPr/>
        </p:nvSpPr>
        <p:spPr>
          <a:xfrm>
            <a:off x="822960" y="2785110"/>
            <a:ext cx="2491740" cy="3341370"/>
          </a:xfrm>
          <a:prstGeom prst="roundRect">
            <a:avLst>
              <a:gd name="adj" fmla="val 4404"/>
            </a:avLst>
          </a:prstGeom>
          <a:solidFill>
            <a:schemeClr val="tx2"/>
          </a:solidFill>
          <a:ln w="12700">
            <a:solidFill>
              <a:srgbClr val="4A1A5E"/>
            </a:solidFill>
            <a:prstDash val="solid"/>
          </a:ln>
        </p:spPr>
      </p:sp>
      <p:sp>
        <p:nvSpPr>
          <p:cNvPr id="7" name="Text 4"/>
          <p:cNvSpPr txBox="1"/>
          <p:nvPr/>
        </p:nvSpPr>
        <p:spPr>
          <a:xfrm>
            <a:off x="1097280" y="3013710"/>
            <a:ext cx="1943100" cy="457200"/>
          </a:xfrm>
          <a:prstGeom prst="rect">
            <a:avLst/>
          </a:prstGeom>
          <a:noFill/>
          <a:ln/>
        </p:spPr>
        <p:txBody>
          <a:bodyPr wrap="square" lIns="0" tIns="0" rIns="0" bIns="0" rtlCol="0" anchor="t"/>
          <a:lstStyle/>
          <a:p>
            <a:pPr indent="0" marL="0">
              <a:buNone/>
            </a:pPr>
            <a:r>
              <a:rPr lang="en-US" sz="2500" b="1" dirty="0">
                <a:solidFill>
                  <a:schemeClr val="accent1"/>
                </a:solidFill>
                <a:latin typeface="Cambria" pitchFamily="34" charset="0"/>
                <a:ea typeface="Cambria" pitchFamily="34" charset="-122"/>
                <a:cs typeface="Cambria" pitchFamily="34" charset="-120"/>
              </a:rPr>
              <a:t>Events</a:t>
            </a:r>
            <a:endParaRPr lang="en-US" sz="2500" dirty="0"/>
          </a:p>
        </p:txBody>
      </p:sp>
      <p:sp>
        <p:nvSpPr>
          <p:cNvPr id="8" name="Text 5"/>
          <p:cNvSpPr txBox="1"/>
          <p:nvPr/>
        </p:nvSpPr>
        <p:spPr>
          <a:xfrm>
            <a:off x="1097280" y="3608070"/>
            <a:ext cx="1943100" cy="2289810"/>
          </a:xfrm>
          <a:prstGeom prst="rect">
            <a:avLst/>
          </a:prstGeom>
          <a:noFill/>
          <a:ln/>
        </p:spPr>
        <p:txBody>
          <a:bodyPr wrap="square" lIns="0" tIns="0" rIns="0" bIns="0" rtlCol="0" anchor="t"/>
          <a:lstStyle/>
          <a:p>
            <a:pPr indent="0" marL="0">
              <a:buNone/>
            </a:pPr>
            <a:r>
              <a:rPr lang="en-US" sz="2800" dirty="0">
                <a:solidFill>
                  <a:schemeClr val="bg2"/>
                </a:solidFill>
              </a:rPr>
              <a:t>54, with a searchable picker</a:t>
            </a:r>
            <a:endParaRPr lang="en-US" sz="2800" dirty="0"/>
          </a:p>
        </p:txBody>
      </p:sp>
      <p:sp>
        <p:nvSpPr>
          <p:cNvPr id="9" name="Shape 6"/>
          <p:cNvSpPr/>
          <p:nvPr/>
        </p:nvSpPr>
        <p:spPr>
          <a:xfrm>
            <a:off x="3497580" y="2785110"/>
            <a:ext cx="2491740" cy="3341370"/>
          </a:xfrm>
          <a:prstGeom prst="roundRect">
            <a:avLst>
              <a:gd name="adj" fmla="val 4404"/>
            </a:avLst>
          </a:prstGeom>
          <a:solidFill>
            <a:schemeClr val="tx2"/>
          </a:solidFill>
          <a:ln w="12700">
            <a:solidFill>
              <a:srgbClr val="4A1A5E"/>
            </a:solidFill>
            <a:prstDash val="solid"/>
          </a:ln>
        </p:spPr>
      </p:sp>
      <p:sp>
        <p:nvSpPr>
          <p:cNvPr id="10" name="Text 7"/>
          <p:cNvSpPr txBox="1"/>
          <p:nvPr/>
        </p:nvSpPr>
        <p:spPr>
          <a:xfrm>
            <a:off x="3771900" y="3013710"/>
            <a:ext cx="1943100" cy="457200"/>
          </a:xfrm>
          <a:prstGeom prst="rect">
            <a:avLst/>
          </a:prstGeom>
          <a:noFill/>
          <a:ln/>
        </p:spPr>
        <p:txBody>
          <a:bodyPr wrap="square" lIns="0" tIns="0" rIns="0" bIns="0" rtlCol="0" anchor="t"/>
          <a:lstStyle/>
          <a:p>
            <a:pPr indent="0" marL="0">
              <a:buNone/>
            </a:pPr>
            <a:r>
              <a:rPr lang="en-US" sz="2500" b="1" dirty="0">
                <a:solidFill>
                  <a:schemeClr val="accent1"/>
                </a:solidFill>
                <a:latin typeface="Cambria" pitchFamily="34" charset="0"/>
                <a:ea typeface="Cambria" pitchFamily="34" charset="-122"/>
                <a:cs typeface="Cambria" pitchFamily="34" charset="-120"/>
              </a:rPr>
              <a:t>Language</a:t>
            </a:r>
            <a:endParaRPr lang="en-US" sz="2500" dirty="0"/>
          </a:p>
        </p:txBody>
      </p:sp>
      <p:sp>
        <p:nvSpPr>
          <p:cNvPr id="11" name="Text 8"/>
          <p:cNvSpPr txBox="1"/>
          <p:nvPr/>
        </p:nvSpPr>
        <p:spPr>
          <a:xfrm>
            <a:off x="3771900" y="3608070"/>
            <a:ext cx="1943100" cy="2289810"/>
          </a:xfrm>
          <a:prstGeom prst="rect">
            <a:avLst/>
          </a:prstGeom>
          <a:noFill/>
          <a:ln/>
        </p:spPr>
        <p:txBody>
          <a:bodyPr wrap="square" lIns="0" tIns="0" rIns="0" bIns="0" rtlCol="0" anchor="t"/>
          <a:lstStyle/>
          <a:p>
            <a:pPr indent="0" marL="0">
              <a:buNone/>
            </a:pPr>
            <a:r>
              <a:rPr lang="en-US" sz="2800" dirty="0">
                <a:solidFill>
                  <a:schemeClr val="bg2"/>
                </a:solidFill>
              </a:rPr>
              <a:t>stryke scripts</a:t>
            </a:r>
            <a:endParaRPr lang="en-US" sz="2800" dirty="0"/>
          </a:p>
        </p:txBody>
      </p:sp>
      <p:sp>
        <p:nvSpPr>
          <p:cNvPr id="12" name="Shape 9"/>
          <p:cNvSpPr/>
          <p:nvPr/>
        </p:nvSpPr>
        <p:spPr>
          <a:xfrm>
            <a:off x="6172200" y="2785110"/>
            <a:ext cx="2491740" cy="3341370"/>
          </a:xfrm>
          <a:prstGeom prst="roundRect">
            <a:avLst>
              <a:gd name="adj" fmla="val 4404"/>
            </a:avLst>
          </a:prstGeom>
          <a:solidFill>
            <a:schemeClr val="tx2"/>
          </a:solidFill>
          <a:ln w="12700">
            <a:solidFill>
              <a:srgbClr val="4A1A5E"/>
            </a:solidFill>
            <a:prstDash val="solid"/>
          </a:ln>
        </p:spPr>
      </p:sp>
      <p:sp>
        <p:nvSpPr>
          <p:cNvPr id="13" name="Text 10"/>
          <p:cNvSpPr txBox="1"/>
          <p:nvPr/>
        </p:nvSpPr>
        <p:spPr>
          <a:xfrm>
            <a:off x="6446520" y="3013710"/>
            <a:ext cx="1943100" cy="457200"/>
          </a:xfrm>
          <a:prstGeom prst="rect">
            <a:avLst/>
          </a:prstGeom>
          <a:noFill/>
          <a:ln/>
        </p:spPr>
        <p:txBody>
          <a:bodyPr wrap="square" lIns="0" tIns="0" rIns="0" bIns="0" rtlCol="0" anchor="t"/>
          <a:lstStyle/>
          <a:p>
            <a:pPr indent="0" marL="0">
              <a:buNone/>
            </a:pPr>
            <a:r>
              <a:rPr lang="en-US" sz="2500" b="1" dirty="0">
                <a:solidFill>
                  <a:schemeClr val="accent1"/>
                </a:solidFill>
                <a:latin typeface="Cambria" pitchFamily="34" charset="0"/>
                <a:ea typeface="Cambria" pitchFamily="34" charset="-122"/>
                <a:cs typeface="Cambria" pitchFamily="34" charset="-120"/>
              </a:rPr>
              <a:t>Editor</a:t>
            </a:r>
            <a:endParaRPr lang="en-US" sz="2500" dirty="0"/>
          </a:p>
        </p:txBody>
      </p:sp>
      <p:sp>
        <p:nvSpPr>
          <p:cNvPr id="14" name="Text 11"/>
          <p:cNvSpPr txBox="1"/>
          <p:nvPr/>
        </p:nvSpPr>
        <p:spPr>
          <a:xfrm>
            <a:off x="6446520" y="3608070"/>
            <a:ext cx="1943100" cy="2289810"/>
          </a:xfrm>
          <a:prstGeom prst="rect">
            <a:avLst/>
          </a:prstGeom>
          <a:noFill/>
          <a:ln/>
        </p:spPr>
        <p:txBody>
          <a:bodyPr wrap="square" lIns="0" tIns="0" rIns="0" bIns="0" rtlCol="0" anchor="t"/>
          <a:lstStyle/>
          <a:p>
            <a:pPr indent="0" marL="0">
              <a:buNone/>
            </a:pPr>
            <a:r>
              <a:rPr lang="en-US" sz="2800" dirty="0">
                <a:solidFill>
                  <a:schemeClr val="bg2"/>
                </a:solidFill>
              </a:rPr>
              <a:t>Monaco with vim and emacs bindings</a:t>
            </a:r>
            <a:endParaRPr lang="en-US" sz="2800" dirty="0"/>
          </a:p>
        </p:txBody>
      </p:sp>
      <p:sp>
        <p:nvSpPr>
          <p:cNvPr id="15" name="Shape 12"/>
          <p:cNvSpPr/>
          <p:nvPr/>
        </p:nvSpPr>
        <p:spPr>
          <a:xfrm>
            <a:off x="8846820" y="2785110"/>
            <a:ext cx="2491740" cy="3341370"/>
          </a:xfrm>
          <a:prstGeom prst="roundRect">
            <a:avLst>
              <a:gd name="adj" fmla="val 4404"/>
            </a:avLst>
          </a:prstGeom>
          <a:solidFill>
            <a:schemeClr val="tx2"/>
          </a:solidFill>
          <a:ln w="12700">
            <a:solidFill>
              <a:srgbClr val="4A1A5E"/>
            </a:solidFill>
            <a:prstDash val="solid"/>
          </a:ln>
        </p:spPr>
      </p:sp>
      <p:sp>
        <p:nvSpPr>
          <p:cNvPr id="16" name="Text 13"/>
          <p:cNvSpPr txBox="1"/>
          <p:nvPr/>
        </p:nvSpPr>
        <p:spPr>
          <a:xfrm>
            <a:off x="9121140" y="3013710"/>
            <a:ext cx="1943100" cy="457200"/>
          </a:xfrm>
          <a:prstGeom prst="rect">
            <a:avLst/>
          </a:prstGeom>
          <a:noFill/>
          <a:ln/>
        </p:spPr>
        <p:txBody>
          <a:bodyPr wrap="square" lIns="0" tIns="0" rIns="0" bIns="0" rtlCol="0" anchor="t"/>
          <a:lstStyle/>
          <a:p>
            <a:pPr indent="0" marL="0">
              <a:buNone/>
            </a:pPr>
            <a:r>
              <a:rPr lang="en-US" sz="2500" b="1" dirty="0">
                <a:solidFill>
                  <a:schemeClr val="accent1"/>
                </a:solidFill>
                <a:latin typeface="Cambria" pitchFamily="34" charset="0"/>
                <a:ea typeface="Cambria" pitchFamily="34" charset="-122"/>
                <a:cs typeface="Cambria" pitchFamily="34" charset="-120"/>
              </a:rPr>
              <a:t>Catch-all</a:t>
            </a:r>
            <a:endParaRPr lang="en-US" sz="2500" dirty="0"/>
          </a:p>
        </p:txBody>
      </p:sp>
      <p:sp>
        <p:nvSpPr>
          <p:cNvPr id="17" name="Text 14"/>
          <p:cNvSpPr txBox="1"/>
          <p:nvPr/>
        </p:nvSpPr>
        <p:spPr>
          <a:xfrm>
            <a:off x="9121140" y="3608070"/>
            <a:ext cx="1943100" cy="2289810"/>
          </a:xfrm>
          <a:prstGeom prst="rect">
            <a:avLst/>
          </a:prstGeom>
          <a:noFill/>
          <a:ln/>
        </p:spPr>
        <p:txBody>
          <a:bodyPr wrap="square" lIns="0" tIns="0" rIns="0" bIns="0" rtlCol="0" anchor="t"/>
          <a:lstStyle/>
          <a:p>
            <a:pPr indent="0" marL="0">
              <a:buNone/>
            </a:pPr>
            <a:r>
              <a:rPr lang="en-US" sz="2800" dirty="0">
                <a:solidFill>
                  <a:schemeClr val="bg2"/>
                </a:solidFill>
              </a:rPr>
              <a:t>An action event for everything else</a:t>
            </a:r>
            <a:endParaRPr lang="en-US" sz="28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Triggers</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zwire users / triggers</a:t>
            </a:r>
            <a:endParaRPr lang="en-US" sz="1200" dirty="0"/>
          </a:p>
        </p:txBody>
      </p:sp>
      <p:sp>
        <p:nvSpPr>
          <p:cNvPr id="5" name="Text 2"/>
          <p:cNvSpPr txBox="1"/>
          <p:nvPr/>
        </p:nvSpPr>
        <p:spPr>
          <a:xfrm>
            <a:off x="822960" y="1463040"/>
            <a:ext cx="10515600" cy="775970"/>
          </a:xfrm>
          <a:prstGeom prst="rect">
            <a:avLst/>
          </a:prstGeom>
          <a:noFill/>
          <a:ln/>
        </p:spPr>
        <p:txBody>
          <a:bodyPr wrap="square" lIns="0" tIns="0" rIns="0" bIns="0" rtlCol="0" anchor="t"/>
          <a:lstStyle/>
          <a:p>
            <a:pPr indent="0" marL="0">
              <a:buNone/>
            </a:pPr>
            <a:r>
              <a:rPr lang="en-US" sz="2300" dirty="0">
                <a:solidFill>
                  <a:schemeClr val="bg2"/>
                </a:solidFill>
              </a:rPr>
              <a:t>Bind a regex to page text as it renders and run a chain of typed steps on a match, the browser analog of a terminal-emulator trigger.</a:t>
            </a:r>
            <a:endParaRPr lang="en-US" sz="2300" dirty="0"/>
          </a:p>
        </p:txBody>
      </p:sp>
      <p:sp>
        <p:nvSpPr>
          <p:cNvPr id="6" name="Shape 3"/>
          <p:cNvSpPr/>
          <p:nvPr/>
        </p:nvSpPr>
        <p:spPr>
          <a:xfrm>
            <a:off x="822960" y="2467610"/>
            <a:ext cx="2491740" cy="3658870"/>
          </a:xfrm>
          <a:prstGeom prst="roundRect">
            <a:avLst>
              <a:gd name="adj" fmla="val 4404"/>
            </a:avLst>
          </a:prstGeom>
          <a:solidFill>
            <a:schemeClr val="tx2"/>
          </a:solidFill>
          <a:ln w="12700">
            <a:solidFill>
              <a:srgbClr val="4A1A5E"/>
            </a:solidFill>
            <a:prstDash val="solid"/>
          </a:ln>
        </p:spPr>
      </p:sp>
      <p:sp>
        <p:nvSpPr>
          <p:cNvPr id="7" name="Text 4"/>
          <p:cNvSpPr txBox="1"/>
          <p:nvPr/>
        </p:nvSpPr>
        <p:spPr>
          <a:xfrm>
            <a:off x="1097280" y="2696210"/>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Steps</a:t>
            </a:r>
            <a:endParaRPr lang="en-US" sz="2600" dirty="0"/>
          </a:p>
        </p:txBody>
      </p:sp>
      <p:sp>
        <p:nvSpPr>
          <p:cNvPr id="8" name="Text 5"/>
          <p:cNvSpPr txBox="1"/>
          <p:nvPr/>
        </p:nvSpPr>
        <p:spPr>
          <a:xfrm>
            <a:off x="1097280" y="3290570"/>
            <a:ext cx="1943100" cy="2607310"/>
          </a:xfrm>
          <a:prstGeom prst="rect">
            <a:avLst/>
          </a:prstGeom>
          <a:noFill/>
          <a:ln/>
        </p:spPr>
        <p:txBody>
          <a:bodyPr wrap="square" lIns="0" tIns="0" rIns="0" bIns="0" rtlCol="0" anchor="t"/>
          <a:lstStyle/>
          <a:p>
            <a:pPr indent="0" marL="0">
              <a:buNone/>
            </a:pPr>
            <a:r>
              <a:rPr lang="en-US" sz="1900" dirty="0">
                <a:solidFill>
                  <a:schemeClr val="bg2"/>
                </a:solidFill>
              </a:rPr>
              <a:t>shell, stryke, JavaScript, AppleScript, batch, browser action, suite call, assert, scheme, host</a:t>
            </a:r>
            <a:endParaRPr lang="en-US" sz="1900" dirty="0"/>
          </a:p>
        </p:txBody>
      </p:sp>
      <p:sp>
        <p:nvSpPr>
          <p:cNvPr id="9" name="Shape 6"/>
          <p:cNvSpPr/>
          <p:nvPr/>
        </p:nvSpPr>
        <p:spPr>
          <a:xfrm>
            <a:off x="3497580" y="2467610"/>
            <a:ext cx="2491740" cy="3658870"/>
          </a:xfrm>
          <a:prstGeom prst="roundRect">
            <a:avLst>
              <a:gd name="adj" fmla="val 4404"/>
            </a:avLst>
          </a:prstGeom>
          <a:solidFill>
            <a:schemeClr val="tx2"/>
          </a:solidFill>
          <a:ln w="12700">
            <a:solidFill>
              <a:srgbClr val="4A1A5E"/>
            </a:solidFill>
            <a:prstDash val="solid"/>
          </a:ln>
        </p:spPr>
      </p:sp>
      <p:sp>
        <p:nvSpPr>
          <p:cNvPr id="10" name="Text 7"/>
          <p:cNvSpPr txBox="1"/>
          <p:nvPr/>
        </p:nvSpPr>
        <p:spPr>
          <a:xfrm>
            <a:off x="3771900" y="2696210"/>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Scope</a:t>
            </a:r>
            <a:endParaRPr lang="en-US" sz="2600" dirty="0"/>
          </a:p>
        </p:txBody>
      </p:sp>
      <p:sp>
        <p:nvSpPr>
          <p:cNvPr id="11" name="Text 8"/>
          <p:cNvSpPr txBox="1"/>
          <p:nvPr/>
        </p:nvSpPr>
        <p:spPr>
          <a:xfrm>
            <a:off x="3771900" y="3290570"/>
            <a:ext cx="1943100" cy="2607310"/>
          </a:xfrm>
          <a:prstGeom prst="rect">
            <a:avLst/>
          </a:prstGeom>
          <a:noFill/>
          <a:ln/>
        </p:spPr>
        <p:txBody>
          <a:bodyPr wrap="square" lIns="0" tIns="0" rIns="0" bIns="0" rtlCol="0" anchor="t"/>
          <a:lstStyle/>
          <a:p>
            <a:pPr indent="0" marL="0">
              <a:buNone/>
            </a:pPr>
            <a:r>
              <a:rPr lang="en-US" sz="1900" dirty="0">
                <a:solidFill>
                  <a:schemeClr val="bg2"/>
                </a:solidFill>
              </a:rPr>
              <a:t>Cooldown, once per page, URL filter</a:t>
            </a:r>
            <a:endParaRPr lang="en-US" sz="1900" dirty="0"/>
          </a:p>
        </p:txBody>
      </p:sp>
      <p:sp>
        <p:nvSpPr>
          <p:cNvPr id="12" name="Shape 9"/>
          <p:cNvSpPr/>
          <p:nvPr/>
        </p:nvSpPr>
        <p:spPr>
          <a:xfrm>
            <a:off x="6172200" y="2467610"/>
            <a:ext cx="2491740" cy="3658870"/>
          </a:xfrm>
          <a:prstGeom prst="roundRect">
            <a:avLst>
              <a:gd name="adj" fmla="val 4404"/>
            </a:avLst>
          </a:prstGeom>
          <a:solidFill>
            <a:schemeClr val="tx2"/>
          </a:solidFill>
          <a:ln w="12700">
            <a:solidFill>
              <a:srgbClr val="4A1A5E"/>
            </a:solidFill>
            <a:prstDash val="solid"/>
          </a:ln>
        </p:spPr>
      </p:sp>
      <p:sp>
        <p:nvSpPr>
          <p:cNvPr id="13" name="Text 10"/>
          <p:cNvSpPr txBox="1"/>
          <p:nvPr/>
        </p:nvSpPr>
        <p:spPr>
          <a:xfrm>
            <a:off x="6446520" y="2696210"/>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Input</a:t>
            </a:r>
            <a:endParaRPr lang="en-US" sz="2600" dirty="0"/>
          </a:p>
        </p:txBody>
      </p:sp>
      <p:sp>
        <p:nvSpPr>
          <p:cNvPr id="14" name="Text 11"/>
          <p:cNvSpPr txBox="1"/>
          <p:nvPr/>
        </p:nvSpPr>
        <p:spPr>
          <a:xfrm>
            <a:off x="6446520" y="3290570"/>
            <a:ext cx="1943100" cy="2607310"/>
          </a:xfrm>
          <a:prstGeom prst="rect">
            <a:avLst/>
          </a:prstGeom>
          <a:noFill/>
          <a:ln/>
        </p:spPr>
        <p:txBody>
          <a:bodyPr wrap="square" lIns="0" tIns="0" rIns="0" bIns="0" rtlCol="0" anchor="t"/>
          <a:lstStyle/>
          <a:p>
            <a:pPr indent="0" marL="0">
              <a:buNone/>
            </a:pPr>
            <a:r>
              <a:rPr lang="en-US" sz="1900" dirty="0">
                <a:solidFill>
                  <a:schemeClr val="bg2"/>
                </a:solidFill>
              </a:rPr>
              <a:t>The matched line is passed as {q}</a:t>
            </a:r>
            <a:endParaRPr lang="en-US" sz="1900" dirty="0"/>
          </a:p>
        </p:txBody>
      </p:sp>
      <p:sp>
        <p:nvSpPr>
          <p:cNvPr id="15" name="Shape 12"/>
          <p:cNvSpPr/>
          <p:nvPr/>
        </p:nvSpPr>
        <p:spPr>
          <a:xfrm>
            <a:off x="8846820" y="2467610"/>
            <a:ext cx="2491740" cy="3658870"/>
          </a:xfrm>
          <a:prstGeom prst="roundRect">
            <a:avLst>
              <a:gd name="adj" fmla="val 4404"/>
            </a:avLst>
          </a:prstGeom>
          <a:solidFill>
            <a:schemeClr val="tx2"/>
          </a:solidFill>
          <a:ln w="12700">
            <a:solidFill>
              <a:srgbClr val="4A1A5E"/>
            </a:solidFill>
            <a:prstDash val="solid"/>
          </a:ln>
        </p:spPr>
      </p:sp>
      <p:sp>
        <p:nvSpPr>
          <p:cNvPr id="16" name="Text 13"/>
          <p:cNvSpPr txBox="1"/>
          <p:nvPr/>
        </p:nvSpPr>
        <p:spPr>
          <a:xfrm>
            <a:off x="9121140" y="2696210"/>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Revert</a:t>
            </a:r>
            <a:endParaRPr lang="en-US" sz="2600" dirty="0"/>
          </a:p>
        </p:txBody>
      </p:sp>
      <p:sp>
        <p:nvSpPr>
          <p:cNvPr id="17" name="Text 14"/>
          <p:cNvSpPr txBox="1"/>
          <p:nvPr/>
        </p:nvSpPr>
        <p:spPr>
          <a:xfrm>
            <a:off x="9121140" y="3290570"/>
            <a:ext cx="1943100" cy="2607310"/>
          </a:xfrm>
          <a:prstGeom prst="rect">
            <a:avLst/>
          </a:prstGeom>
          <a:noFill/>
          <a:ln/>
        </p:spPr>
        <p:txBody>
          <a:bodyPr wrap="square" lIns="0" tIns="0" rIns="0" bIns="0" rtlCol="0" anchor="t"/>
          <a:lstStyle/>
          <a:p>
            <a:pPr indent="0" marL="0">
              <a:buNone/>
            </a:pPr>
            <a:r>
              <a:rPr lang="en-US" sz="1900" dirty="0">
                <a:solidFill>
                  <a:schemeClr val="bg2"/>
                </a:solidFill>
              </a:rPr>
              <a:t>Self-reverting mode runs the chain as one host transaction</a:t>
            </a:r>
            <a:endParaRPr lang="en-US" sz="19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Pane pipelines</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zwire users / pipelines</a:t>
            </a:r>
            <a:endParaRPr lang="en-US" sz="1200" dirty="0"/>
          </a:p>
        </p:txBody>
      </p:sp>
      <p:sp>
        <p:nvSpPr>
          <p:cNvPr id="5" name="Text 2"/>
          <p:cNvSpPr txBox="1"/>
          <p:nvPr/>
        </p:nvSpPr>
        <p:spPr>
          <a:xfrm>
            <a:off x="822960" y="1463040"/>
            <a:ext cx="10515600" cy="1141095"/>
          </a:xfrm>
          <a:prstGeom prst="rect">
            <a:avLst/>
          </a:prstGeom>
          <a:noFill/>
          <a:ln/>
        </p:spPr>
        <p:txBody>
          <a:bodyPr wrap="square" lIns="0" tIns="0" rIns="0" bIns="0" rtlCol="0" anchor="t"/>
          <a:lstStyle/>
          <a:p>
            <a:pPr indent="0" marL="0">
              <a:buNone/>
            </a:pPr>
            <a:r>
              <a:rPr lang="en-US" sz="2300" dirty="0">
                <a:solidFill>
                  <a:schemeClr val="bg2"/>
                </a:solidFill>
              </a:rPr>
              <a:t>A persisted, reactive dataflow edge between tiled webviews: extract text from a source pane, transform it, deliver it to a sink pane. No rival ships piping between tiled views.</a:t>
            </a:r>
            <a:endParaRPr lang="en-US" sz="2300" dirty="0"/>
          </a:p>
        </p:txBody>
      </p:sp>
      <p:sp>
        <p:nvSpPr>
          <p:cNvPr id="6" name="Shape 3"/>
          <p:cNvSpPr/>
          <p:nvPr/>
        </p:nvSpPr>
        <p:spPr>
          <a:xfrm>
            <a:off x="822960" y="2832735"/>
            <a:ext cx="2491740" cy="3293745"/>
          </a:xfrm>
          <a:prstGeom prst="roundRect">
            <a:avLst>
              <a:gd name="adj" fmla="val 4404"/>
            </a:avLst>
          </a:prstGeom>
          <a:solidFill>
            <a:schemeClr val="tx2"/>
          </a:solidFill>
          <a:ln w="12700">
            <a:solidFill>
              <a:srgbClr val="4A1A5E"/>
            </a:solidFill>
            <a:prstDash val="solid"/>
          </a:ln>
        </p:spPr>
      </p:sp>
      <p:sp>
        <p:nvSpPr>
          <p:cNvPr id="7" name="Text 4"/>
          <p:cNvSpPr txBox="1"/>
          <p:nvPr/>
        </p:nvSpPr>
        <p:spPr>
          <a:xfrm>
            <a:off x="1097280" y="3061335"/>
            <a:ext cx="1943100" cy="457200"/>
          </a:xfrm>
          <a:prstGeom prst="rect">
            <a:avLst/>
          </a:prstGeom>
          <a:noFill/>
          <a:ln/>
        </p:spPr>
        <p:txBody>
          <a:bodyPr wrap="square" lIns="0" tIns="0" rIns="0" bIns="0" rtlCol="0" anchor="t"/>
          <a:lstStyle/>
          <a:p>
            <a:pPr indent="0" marL="0">
              <a:buNone/>
            </a:pPr>
            <a:r>
              <a:rPr lang="en-US" sz="2500" b="1" dirty="0">
                <a:solidFill>
                  <a:schemeClr val="accent1"/>
                </a:solidFill>
                <a:latin typeface="Cambria" pitchFamily="34" charset="0"/>
                <a:ea typeface="Cambria" pitchFamily="34" charset="-122"/>
                <a:cs typeface="Cambria" pitchFamily="34" charset="-120"/>
              </a:rPr>
              <a:t>Extract</a:t>
            </a:r>
            <a:endParaRPr lang="en-US" sz="2500" dirty="0"/>
          </a:p>
        </p:txBody>
      </p:sp>
      <p:sp>
        <p:nvSpPr>
          <p:cNvPr id="8" name="Text 5"/>
          <p:cNvSpPr txBox="1"/>
          <p:nvPr/>
        </p:nvSpPr>
        <p:spPr>
          <a:xfrm>
            <a:off x="1097280" y="3655695"/>
            <a:ext cx="1943100" cy="2242185"/>
          </a:xfrm>
          <a:prstGeom prst="rect">
            <a:avLst/>
          </a:prstGeom>
          <a:noFill/>
          <a:ln/>
        </p:spPr>
        <p:txBody>
          <a:bodyPr wrap="square" lIns="0" tIns="0" rIns="0" bIns="0" rtlCol="0" anchor="t"/>
          <a:lstStyle/>
          <a:p>
            <a:pPr indent="0" marL="0">
              <a:buNone/>
            </a:pPr>
            <a:r>
              <a:rPr lang="en-US" sz="2300" dirty="0">
                <a:solidFill>
                  <a:schemeClr val="bg2"/>
                </a:solidFill>
              </a:rPr>
              <a:t>Selector, regex, selection or URL</a:t>
            </a:r>
            <a:endParaRPr lang="en-US" sz="2300" dirty="0"/>
          </a:p>
        </p:txBody>
      </p:sp>
      <p:sp>
        <p:nvSpPr>
          <p:cNvPr id="9" name="Shape 6"/>
          <p:cNvSpPr/>
          <p:nvPr/>
        </p:nvSpPr>
        <p:spPr>
          <a:xfrm>
            <a:off x="3497580" y="2832735"/>
            <a:ext cx="2491740" cy="3293745"/>
          </a:xfrm>
          <a:prstGeom prst="roundRect">
            <a:avLst>
              <a:gd name="adj" fmla="val 4404"/>
            </a:avLst>
          </a:prstGeom>
          <a:solidFill>
            <a:schemeClr val="tx2"/>
          </a:solidFill>
          <a:ln w="12700">
            <a:solidFill>
              <a:srgbClr val="4A1A5E"/>
            </a:solidFill>
            <a:prstDash val="solid"/>
          </a:ln>
        </p:spPr>
      </p:sp>
      <p:sp>
        <p:nvSpPr>
          <p:cNvPr id="10" name="Text 7"/>
          <p:cNvSpPr txBox="1"/>
          <p:nvPr/>
        </p:nvSpPr>
        <p:spPr>
          <a:xfrm>
            <a:off x="3771900" y="3061335"/>
            <a:ext cx="1943100" cy="457200"/>
          </a:xfrm>
          <a:prstGeom prst="rect">
            <a:avLst/>
          </a:prstGeom>
          <a:noFill/>
          <a:ln/>
        </p:spPr>
        <p:txBody>
          <a:bodyPr wrap="square" lIns="0" tIns="0" rIns="0" bIns="0" rtlCol="0" anchor="t"/>
          <a:lstStyle/>
          <a:p>
            <a:pPr indent="0" marL="0">
              <a:buNone/>
            </a:pPr>
            <a:r>
              <a:rPr lang="en-US" sz="2500" b="1" dirty="0">
                <a:solidFill>
                  <a:schemeClr val="accent1"/>
                </a:solidFill>
                <a:latin typeface="Cambria" pitchFamily="34" charset="0"/>
                <a:ea typeface="Cambria" pitchFamily="34" charset="-122"/>
                <a:cs typeface="Cambria" pitchFamily="34" charset="-120"/>
              </a:rPr>
              <a:t>Transform</a:t>
            </a:r>
            <a:endParaRPr lang="en-US" sz="2500" dirty="0"/>
          </a:p>
        </p:txBody>
      </p:sp>
      <p:sp>
        <p:nvSpPr>
          <p:cNvPr id="11" name="Text 8"/>
          <p:cNvSpPr txBox="1"/>
          <p:nvPr/>
        </p:nvSpPr>
        <p:spPr>
          <a:xfrm>
            <a:off x="3771900" y="3655695"/>
            <a:ext cx="1943100" cy="2242185"/>
          </a:xfrm>
          <a:prstGeom prst="rect">
            <a:avLst/>
          </a:prstGeom>
          <a:noFill/>
          <a:ln/>
        </p:spPr>
        <p:txBody>
          <a:bodyPr wrap="square" lIns="0" tIns="0" rIns="0" bIns="0" rtlCol="0" anchor="t"/>
          <a:lstStyle/>
          <a:p>
            <a:pPr indent="0" marL="0">
              <a:buNone/>
            </a:pPr>
            <a:r>
              <a:rPr lang="en-US" sz="2300" dirty="0">
                <a:solidFill>
                  <a:schemeClr val="bg2"/>
                </a:solidFill>
              </a:rPr>
              <a:t>A stryke |&gt; chain, JS or passthrough</a:t>
            </a:r>
            <a:endParaRPr lang="en-US" sz="2300" dirty="0"/>
          </a:p>
        </p:txBody>
      </p:sp>
      <p:sp>
        <p:nvSpPr>
          <p:cNvPr id="12" name="Shape 9"/>
          <p:cNvSpPr/>
          <p:nvPr/>
        </p:nvSpPr>
        <p:spPr>
          <a:xfrm>
            <a:off x="6172200" y="2832735"/>
            <a:ext cx="2491740" cy="3293745"/>
          </a:xfrm>
          <a:prstGeom prst="roundRect">
            <a:avLst>
              <a:gd name="adj" fmla="val 4404"/>
            </a:avLst>
          </a:prstGeom>
          <a:solidFill>
            <a:schemeClr val="tx2"/>
          </a:solidFill>
          <a:ln w="12700">
            <a:solidFill>
              <a:srgbClr val="4A1A5E"/>
            </a:solidFill>
            <a:prstDash val="solid"/>
          </a:ln>
        </p:spPr>
      </p:sp>
      <p:sp>
        <p:nvSpPr>
          <p:cNvPr id="13" name="Text 10"/>
          <p:cNvSpPr txBox="1"/>
          <p:nvPr/>
        </p:nvSpPr>
        <p:spPr>
          <a:xfrm>
            <a:off x="6446520" y="3061335"/>
            <a:ext cx="1943100" cy="457200"/>
          </a:xfrm>
          <a:prstGeom prst="rect">
            <a:avLst/>
          </a:prstGeom>
          <a:noFill/>
          <a:ln/>
        </p:spPr>
        <p:txBody>
          <a:bodyPr wrap="square" lIns="0" tIns="0" rIns="0" bIns="0" rtlCol="0" anchor="t"/>
          <a:lstStyle/>
          <a:p>
            <a:pPr indent="0" marL="0">
              <a:buNone/>
            </a:pPr>
            <a:r>
              <a:rPr lang="en-US" sz="2500" b="1" dirty="0">
                <a:solidFill>
                  <a:schemeClr val="accent1"/>
                </a:solidFill>
                <a:latin typeface="Cambria" pitchFamily="34" charset="0"/>
                <a:ea typeface="Cambria" pitchFamily="34" charset="-122"/>
                <a:cs typeface="Cambria" pitchFamily="34" charset="-120"/>
              </a:rPr>
              <a:t>Deliver</a:t>
            </a:r>
            <a:endParaRPr lang="en-US" sz="2500" dirty="0"/>
          </a:p>
        </p:txBody>
      </p:sp>
      <p:sp>
        <p:nvSpPr>
          <p:cNvPr id="14" name="Text 11"/>
          <p:cNvSpPr txBox="1"/>
          <p:nvPr/>
        </p:nvSpPr>
        <p:spPr>
          <a:xfrm>
            <a:off x="6446520" y="3655695"/>
            <a:ext cx="1943100" cy="2242185"/>
          </a:xfrm>
          <a:prstGeom prst="rect">
            <a:avLst/>
          </a:prstGeom>
          <a:noFill/>
          <a:ln/>
        </p:spPr>
        <p:txBody>
          <a:bodyPr wrap="square" lIns="0" tIns="0" rIns="0" bIns="0" rtlCol="0" anchor="t"/>
          <a:lstStyle/>
          <a:p>
            <a:pPr indent="0" marL="0">
              <a:buNone/>
            </a:pPr>
            <a:r>
              <a:rPr lang="en-US" sz="2300" dirty="0">
                <a:solidFill>
                  <a:schemeClr val="bg2"/>
                </a:solidFill>
              </a:rPr>
              <a:t>Navigate, fill a field, replace, append or batch-open</a:t>
            </a:r>
            <a:endParaRPr lang="en-US" sz="2300" dirty="0"/>
          </a:p>
        </p:txBody>
      </p:sp>
      <p:sp>
        <p:nvSpPr>
          <p:cNvPr id="15" name="Shape 12"/>
          <p:cNvSpPr/>
          <p:nvPr/>
        </p:nvSpPr>
        <p:spPr>
          <a:xfrm>
            <a:off x="8846820" y="2832735"/>
            <a:ext cx="2491740" cy="3293745"/>
          </a:xfrm>
          <a:prstGeom prst="roundRect">
            <a:avLst>
              <a:gd name="adj" fmla="val 4404"/>
            </a:avLst>
          </a:prstGeom>
          <a:solidFill>
            <a:schemeClr val="tx2"/>
          </a:solidFill>
          <a:ln w="12700">
            <a:solidFill>
              <a:srgbClr val="4A1A5E"/>
            </a:solidFill>
            <a:prstDash val="solid"/>
          </a:ln>
        </p:spPr>
      </p:sp>
      <p:sp>
        <p:nvSpPr>
          <p:cNvPr id="16" name="Text 13"/>
          <p:cNvSpPr txBox="1"/>
          <p:nvPr/>
        </p:nvSpPr>
        <p:spPr>
          <a:xfrm>
            <a:off x="9121140" y="3061335"/>
            <a:ext cx="1943100" cy="457200"/>
          </a:xfrm>
          <a:prstGeom prst="rect">
            <a:avLst/>
          </a:prstGeom>
          <a:noFill/>
          <a:ln/>
        </p:spPr>
        <p:txBody>
          <a:bodyPr wrap="square" lIns="0" tIns="0" rIns="0" bIns="0" rtlCol="0" anchor="t"/>
          <a:lstStyle/>
          <a:p>
            <a:pPr indent="0" marL="0">
              <a:buNone/>
            </a:pPr>
            <a:r>
              <a:rPr lang="en-US" sz="2500" b="1" dirty="0">
                <a:solidFill>
                  <a:schemeClr val="accent1"/>
                </a:solidFill>
                <a:latin typeface="Cambria" pitchFamily="34" charset="0"/>
                <a:ea typeface="Cambria" pitchFamily="34" charset="-122"/>
                <a:cs typeface="Cambria" pitchFamily="34" charset="-120"/>
              </a:rPr>
              <a:t>Safety</a:t>
            </a:r>
            <a:endParaRPr lang="en-US" sz="2500" dirty="0"/>
          </a:p>
        </p:txBody>
      </p:sp>
      <p:sp>
        <p:nvSpPr>
          <p:cNvPr id="17" name="Text 14"/>
          <p:cNvSpPr txBox="1"/>
          <p:nvPr/>
        </p:nvSpPr>
        <p:spPr>
          <a:xfrm>
            <a:off x="9121140" y="3655695"/>
            <a:ext cx="1943100" cy="2242185"/>
          </a:xfrm>
          <a:prstGeom prst="rect">
            <a:avLst/>
          </a:prstGeom>
          <a:noFill/>
          <a:ln/>
        </p:spPr>
        <p:txBody>
          <a:bodyPr wrap="square" lIns="0" tIns="0" rIns="0" bIns="0" rtlCol="0" anchor="t"/>
          <a:lstStyle/>
          <a:p>
            <a:pPr indent="0" marL="0">
              <a:buNone/>
            </a:pPr>
            <a:r>
              <a:rPr lang="en-US" sz="2300" dirty="0">
                <a:solidFill>
                  <a:schemeClr val="bg2"/>
                </a:solidFill>
              </a:rPr>
              <a:t>Graph cycle-check refuses A to B to A</a:t>
            </a:r>
            <a:endParaRPr lang="en-US" sz="23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Automation verb bus</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zwire users / verbs</a:t>
            </a:r>
            <a:endParaRPr lang="en-US" sz="1200" dirty="0"/>
          </a:p>
        </p:txBody>
      </p:sp>
      <p:sp>
        <p:nvSpPr>
          <p:cNvPr id="5" name="Text 2"/>
          <p:cNvSpPr txBox="1"/>
          <p:nvPr/>
        </p:nvSpPr>
        <p:spPr>
          <a:xfrm>
            <a:off x="822960" y="1463040"/>
            <a:ext cx="10515600" cy="1093470"/>
          </a:xfrm>
          <a:prstGeom prst="rect">
            <a:avLst/>
          </a:prstGeom>
          <a:noFill/>
          <a:ln/>
        </p:spPr>
        <p:txBody>
          <a:bodyPr wrap="square" lIns="0" tIns="0" rIns="0" bIns="0" rtlCol="0" anchor="t"/>
          <a:lstStyle/>
          <a:p>
            <a:pPr indent="0" marL="0">
              <a:buNone/>
            </a:pPr>
            <a:r>
              <a:rPr lang="en-US" sz="2200" dirty="0">
                <a:solidFill>
                  <a:schemeClr val="bg2"/>
                </a:solidFill>
              </a:rPr>
              <a:t>One namespaced browser.* surface that the palette, keyboard shortcuts and stryke hooks all drive through a single service-worker executor, published as a typed, introspectable manifest.</a:t>
            </a:r>
            <a:endParaRPr lang="en-US" sz="2200" dirty="0"/>
          </a:p>
        </p:txBody>
      </p:sp>
      <p:sp>
        <p:nvSpPr>
          <p:cNvPr id="6" name="Shape 3"/>
          <p:cNvSpPr/>
          <p:nvPr/>
        </p:nvSpPr>
        <p:spPr>
          <a:xfrm>
            <a:off x="822960" y="2785110"/>
            <a:ext cx="2491740" cy="3341370"/>
          </a:xfrm>
          <a:prstGeom prst="roundRect">
            <a:avLst>
              <a:gd name="adj" fmla="val 4404"/>
            </a:avLst>
          </a:prstGeom>
          <a:solidFill>
            <a:schemeClr val="tx2"/>
          </a:solidFill>
          <a:ln w="12700">
            <a:solidFill>
              <a:srgbClr val="4A1A5E"/>
            </a:solidFill>
            <a:prstDash val="solid"/>
          </a:ln>
        </p:spPr>
      </p:sp>
      <p:sp>
        <p:nvSpPr>
          <p:cNvPr id="7" name="Text 4"/>
          <p:cNvSpPr txBox="1"/>
          <p:nvPr/>
        </p:nvSpPr>
        <p:spPr>
          <a:xfrm>
            <a:off x="1097280" y="3013710"/>
            <a:ext cx="194310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Tabs</a:t>
            </a:r>
            <a:endParaRPr lang="en-US" sz="2200" dirty="0"/>
          </a:p>
        </p:txBody>
      </p:sp>
      <p:sp>
        <p:nvSpPr>
          <p:cNvPr id="8" name="Text 5"/>
          <p:cNvSpPr txBox="1"/>
          <p:nvPr/>
        </p:nvSpPr>
        <p:spPr>
          <a:xfrm>
            <a:off x="1097280" y="3608070"/>
            <a:ext cx="1943100" cy="2289810"/>
          </a:xfrm>
          <a:prstGeom prst="rect">
            <a:avLst/>
          </a:prstGeom>
          <a:noFill/>
          <a:ln/>
        </p:spPr>
        <p:txBody>
          <a:bodyPr wrap="square" lIns="0" tIns="0" rIns="0" bIns="0" rtlCol="0" anchor="t"/>
          <a:lstStyle/>
          <a:p>
            <a:pPr indent="0" marL="0">
              <a:buNone/>
            </a:pPr>
            <a:r>
              <a:rPr lang="en-US" sz="2500" dirty="0">
                <a:solidFill>
                  <a:schemeClr val="bg2"/>
                </a:solidFill>
              </a:rPr>
              <a:t>Tab, group and window operations</a:t>
            </a:r>
            <a:endParaRPr lang="en-US" sz="2500" dirty="0"/>
          </a:p>
        </p:txBody>
      </p:sp>
      <p:sp>
        <p:nvSpPr>
          <p:cNvPr id="9" name="Shape 6"/>
          <p:cNvSpPr/>
          <p:nvPr/>
        </p:nvSpPr>
        <p:spPr>
          <a:xfrm>
            <a:off x="3497580" y="2785110"/>
            <a:ext cx="2491740" cy="3341370"/>
          </a:xfrm>
          <a:prstGeom prst="roundRect">
            <a:avLst>
              <a:gd name="adj" fmla="val 4404"/>
            </a:avLst>
          </a:prstGeom>
          <a:solidFill>
            <a:schemeClr val="tx2"/>
          </a:solidFill>
          <a:ln w="12700">
            <a:solidFill>
              <a:srgbClr val="4A1A5E"/>
            </a:solidFill>
            <a:prstDash val="solid"/>
          </a:ln>
        </p:spPr>
      </p:sp>
      <p:sp>
        <p:nvSpPr>
          <p:cNvPr id="10" name="Text 7"/>
          <p:cNvSpPr txBox="1"/>
          <p:nvPr/>
        </p:nvSpPr>
        <p:spPr>
          <a:xfrm>
            <a:off x="3771900" y="3013710"/>
            <a:ext cx="194310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Data</a:t>
            </a:r>
            <a:endParaRPr lang="en-US" sz="2200" dirty="0"/>
          </a:p>
        </p:txBody>
      </p:sp>
      <p:sp>
        <p:nvSpPr>
          <p:cNvPr id="11" name="Text 8"/>
          <p:cNvSpPr txBox="1"/>
          <p:nvPr/>
        </p:nvSpPr>
        <p:spPr>
          <a:xfrm>
            <a:off x="3771900" y="3608070"/>
            <a:ext cx="1943100" cy="2289810"/>
          </a:xfrm>
          <a:prstGeom prst="rect">
            <a:avLst/>
          </a:prstGeom>
          <a:noFill/>
          <a:ln/>
        </p:spPr>
        <p:txBody>
          <a:bodyPr wrap="square" lIns="0" tIns="0" rIns="0" bIns="0" rtlCol="0" anchor="t"/>
          <a:lstStyle/>
          <a:p>
            <a:pPr indent="0" marL="0">
              <a:buNone/>
            </a:pPr>
            <a:r>
              <a:rPr lang="en-US" sz="2500" dirty="0">
                <a:solidFill>
                  <a:schemeClr val="bg2"/>
                </a:solidFill>
              </a:rPr>
              <a:t>Downloads, bookmarks, reading list, browsing data</a:t>
            </a:r>
            <a:endParaRPr lang="en-US" sz="2500" dirty="0"/>
          </a:p>
        </p:txBody>
      </p:sp>
      <p:sp>
        <p:nvSpPr>
          <p:cNvPr id="12" name="Shape 9"/>
          <p:cNvSpPr/>
          <p:nvPr/>
        </p:nvSpPr>
        <p:spPr>
          <a:xfrm>
            <a:off x="6172200" y="2785110"/>
            <a:ext cx="2491740" cy="3341370"/>
          </a:xfrm>
          <a:prstGeom prst="roundRect">
            <a:avLst>
              <a:gd name="adj" fmla="val 4404"/>
            </a:avLst>
          </a:prstGeom>
          <a:solidFill>
            <a:schemeClr val="tx2"/>
          </a:solidFill>
          <a:ln w="12700">
            <a:solidFill>
              <a:srgbClr val="4A1A5E"/>
            </a:solidFill>
            <a:prstDash val="solid"/>
          </a:ln>
        </p:spPr>
      </p:sp>
      <p:sp>
        <p:nvSpPr>
          <p:cNvPr id="13" name="Text 10"/>
          <p:cNvSpPr txBox="1"/>
          <p:nvPr/>
        </p:nvSpPr>
        <p:spPr>
          <a:xfrm>
            <a:off x="6446520" y="3013710"/>
            <a:ext cx="194310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System</a:t>
            </a:r>
            <a:endParaRPr lang="en-US" sz="2200" dirty="0"/>
          </a:p>
        </p:txBody>
      </p:sp>
      <p:sp>
        <p:nvSpPr>
          <p:cNvPr id="14" name="Text 11"/>
          <p:cNvSpPr txBox="1"/>
          <p:nvPr/>
        </p:nvSpPr>
        <p:spPr>
          <a:xfrm>
            <a:off x="6446520" y="3608070"/>
            <a:ext cx="1943100" cy="2289810"/>
          </a:xfrm>
          <a:prstGeom prst="rect">
            <a:avLst/>
          </a:prstGeom>
          <a:noFill/>
          <a:ln/>
        </p:spPr>
        <p:txBody>
          <a:bodyPr wrap="square" lIns="0" tIns="0" rIns="0" bIns="0" rtlCol="0" anchor="t"/>
          <a:lstStyle/>
          <a:p>
            <a:pPr indent="0" marL="0">
              <a:buNone/>
            </a:pPr>
            <a:r>
              <a:rPr lang="en-US" sz="2500" dirty="0">
                <a:solidFill>
                  <a:schemeClr val="bg2"/>
                </a:solidFill>
              </a:rPr>
              <a:t>Power, screenshot, notify</a:t>
            </a:r>
            <a:endParaRPr lang="en-US" sz="2500" dirty="0"/>
          </a:p>
        </p:txBody>
      </p:sp>
      <p:sp>
        <p:nvSpPr>
          <p:cNvPr id="15" name="Shape 12"/>
          <p:cNvSpPr/>
          <p:nvPr/>
        </p:nvSpPr>
        <p:spPr>
          <a:xfrm>
            <a:off x="8846820" y="2785110"/>
            <a:ext cx="2491740" cy="3341370"/>
          </a:xfrm>
          <a:prstGeom prst="roundRect">
            <a:avLst>
              <a:gd name="adj" fmla="val 4404"/>
            </a:avLst>
          </a:prstGeom>
          <a:solidFill>
            <a:schemeClr val="tx2"/>
          </a:solidFill>
          <a:ln w="12700">
            <a:solidFill>
              <a:srgbClr val="4A1A5E"/>
            </a:solidFill>
            <a:prstDash val="solid"/>
          </a:ln>
        </p:spPr>
      </p:sp>
      <p:sp>
        <p:nvSpPr>
          <p:cNvPr id="16" name="Text 13"/>
          <p:cNvSpPr txBox="1"/>
          <p:nvPr/>
        </p:nvSpPr>
        <p:spPr>
          <a:xfrm>
            <a:off x="9121140" y="3013710"/>
            <a:ext cx="194310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Extensions</a:t>
            </a:r>
            <a:endParaRPr lang="en-US" sz="2200" dirty="0"/>
          </a:p>
        </p:txBody>
      </p:sp>
      <p:sp>
        <p:nvSpPr>
          <p:cNvPr id="17" name="Text 14"/>
          <p:cNvSpPr txBox="1"/>
          <p:nvPr/>
        </p:nvSpPr>
        <p:spPr>
          <a:xfrm>
            <a:off x="9121140" y="3608070"/>
            <a:ext cx="1943100" cy="2289810"/>
          </a:xfrm>
          <a:prstGeom prst="rect">
            <a:avLst/>
          </a:prstGeom>
          <a:noFill/>
          <a:ln/>
        </p:spPr>
        <p:txBody>
          <a:bodyPr wrap="square" lIns="0" tIns="0" rIns="0" bIns="0" rtlCol="0" anchor="t"/>
          <a:lstStyle/>
          <a:p>
            <a:pPr indent="0" marL="0">
              <a:buNone/>
            </a:pPr>
            <a:r>
              <a:rPr lang="en-US" sz="2500" dirty="0">
                <a:solidFill>
                  <a:schemeClr val="bg2"/>
                </a:solidFill>
              </a:rPr>
              <a:t>Enable, disable and manage</a:t>
            </a:r>
            <a:endParaRPr lang="en-US" sz="25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Undoable browsing</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zwire users / txn</a:t>
            </a:r>
            <a:endParaRPr lang="en-US" sz="1200" dirty="0"/>
          </a:p>
        </p:txBody>
      </p:sp>
      <p:sp>
        <p:nvSpPr>
          <p:cNvPr id="5" name="Text 2"/>
          <p:cNvSpPr txBox="1"/>
          <p:nvPr/>
        </p:nvSpPr>
        <p:spPr>
          <a:xfrm>
            <a:off x="822960" y="1463040"/>
            <a:ext cx="10515600" cy="1141095"/>
          </a:xfrm>
          <a:prstGeom prst="rect">
            <a:avLst/>
          </a:prstGeom>
          <a:noFill/>
          <a:ln/>
        </p:spPr>
        <p:txBody>
          <a:bodyPr wrap="square" lIns="0" tIns="0" rIns="0" bIns="0" rtlCol="0" anchor="t"/>
          <a:lstStyle/>
          <a:p>
            <a:pPr indent="0" marL="0">
              <a:buNone/>
            </a:pPr>
            <a:r>
              <a:rPr lang="en-US" sz="2300" dirty="0">
                <a:solidFill>
                  <a:schemeClr val="bg2"/>
                </a:solidFill>
              </a:rPr>
              <a:t>A chain of verbs runs as one unit that rolls back. Each step's pre-state is journaled as it executes and an abort replays the inverses in reverse order.</a:t>
            </a:r>
            <a:endParaRPr lang="en-US" sz="2300" dirty="0"/>
          </a:p>
        </p:txBody>
      </p:sp>
      <p:sp>
        <p:nvSpPr>
          <p:cNvPr id="6" name="Shape 3"/>
          <p:cNvSpPr/>
          <p:nvPr/>
        </p:nvSpPr>
        <p:spPr>
          <a:xfrm>
            <a:off x="822960" y="2832735"/>
            <a:ext cx="2491740" cy="3293745"/>
          </a:xfrm>
          <a:prstGeom prst="roundRect">
            <a:avLst>
              <a:gd name="adj" fmla="val 4404"/>
            </a:avLst>
          </a:prstGeom>
          <a:solidFill>
            <a:schemeClr val="tx2"/>
          </a:solidFill>
          <a:ln w="12700">
            <a:solidFill>
              <a:srgbClr val="4A1A5E"/>
            </a:solidFill>
            <a:prstDash val="solid"/>
          </a:ln>
        </p:spPr>
      </p:sp>
      <p:sp>
        <p:nvSpPr>
          <p:cNvPr id="7" name="Text 4"/>
          <p:cNvSpPr txBox="1"/>
          <p:nvPr/>
        </p:nvSpPr>
        <p:spPr>
          <a:xfrm>
            <a:off x="1097280" y="3061335"/>
            <a:ext cx="1943100" cy="457200"/>
          </a:xfrm>
          <a:prstGeom prst="rect">
            <a:avLst/>
          </a:prstGeom>
          <a:noFill/>
          <a:ln/>
        </p:spPr>
        <p:txBody>
          <a:bodyPr wrap="square" lIns="0" tIns="0" rIns="0" bIns="0" rtlCol="0" anchor="t"/>
          <a:lstStyle/>
          <a:p>
            <a:pPr indent="0" marL="0">
              <a:buNone/>
            </a:pPr>
            <a:r>
              <a:rPr lang="en-US" sz="2500" b="1" dirty="0">
                <a:solidFill>
                  <a:schemeClr val="accent1"/>
                </a:solidFill>
                <a:latin typeface="Cambria" pitchFamily="34" charset="0"/>
                <a:ea typeface="Cambria" pitchFamily="34" charset="-122"/>
                <a:cs typeface="Cambria" pitchFamily="34" charset="-120"/>
              </a:rPr>
              <a:t>Journal</a:t>
            </a:r>
            <a:endParaRPr lang="en-US" sz="2500" dirty="0"/>
          </a:p>
        </p:txBody>
      </p:sp>
      <p:sp>
        <p:nvSpPr>
          <p:cNvPr id="8" name="Text 5"/>
          <p:cNvSpPr txBox="1"/>
          <p:nvPr/>
        </p:nvSpPr>
        <p:spPr>
          <a:xfrm>
            <a:off x="1097280" y="3655695"/>
            <a:ext cx="1943100" cy="2242185"/>
          </a:xfrm>
          <a:prstGeom prst="rect">
            <a:avLst/>
          </a:prstGeom>
          <a:noFill/>
          <a:ln/>
        </p:spPr>
        <p:txBody>
          <a:bodyPr wrap="square" lIns="0" tIns="0" rIns="0" bIns="0" rtlCol="0" anchor="t"/>
          <a:lstStyle/>
          <a:p>
            <a:pPr indent="0" marL="0">
              <a:buNone/>
            </a:pPr>
            <a:r>
              <a:rPr lang="en-US" sz="2200" dirty="0">
                <a:solidFill>
                  <a:schemeClr val="bg2"/>
                </a:solidFill>
              </a:rPr>
              <a:t>Pre-state recorded per step</a:t>
            </a:r>
            <a:endParaRPr lang="en-US" sz="2200" dirty="0"/>
          </a:p>
        </p:txBody>
      </p:sp>
      <p:sp>
        <p:nvSpPr>
          <p:cNvPr id="9" name="Shape 6"/>
          <p:cNvSpPr/>
          <p:nvPr/>
        </p:nvSpPr>
        <p:spPr>
          <a:xfrm>
            <a:off x="3497580" y="2832735"/>
            <a:ext cx="2491740" cy="3293745"/>
          </a:xfrm>
          <a:prstGeom prst="roundRect">
            <a:avLst>
              <a:gd name="adj" fmla="val 4404"/>
            </a:avLst>
          </a:prstGeom>
          <a:solidFill>
            <a:schemeClr val="tx2"/>
          </a:solidFill>
          <a:ln w="12700">
            <a:solidFill>
              <a:srgbClr val="4A1A5E"/>
            </a:solidFill>
            <a:prstDash val="solid"/>
          </a:ln>
        </p:spPr>
      </p:sp>
      <p:sp>
        <p:nvSpPr>
          <p:cNvPr id="10" name="Text 7"/>
          <p:cNvSpPr txBox="1"/>
          <p:nvPr/>
        </p:nvSpPr>
        <p:spPr>
          <a:xfrm>
            <a:off x="3771900" y="3061335"/>
            <a:ext cx="1943100" cy="457200"/>
          </a:xfrm>
          <a:prstGeom prst="rect">
            <a:avLst/>
          </a:prstGeom>
          <a:noFill/>
          <a:ln/>
        </p:spPr>
        <p:txBody>
          <a:bodyPr wrap="square" lIns="0" tIns="0" rIns="0" bIns="0" rtlCol="0" anchor="t"/>
          <a:lstStyle/>
          <a:p>
            <a:pPr indent="0" marL="0">
              <a:buNone/>
            </a:pPr>
            <a:r>
              <a:rPr lang="en-US" sz="2500" b="1" dirty="0">
                <a:solidFill>
                  <a:schemeClr val="accent1"/>
                </a:solidFill>
                <a:latin typeface="Cambria" pitchFamily="34" charset="0"/>
                <a:ea typeface="Cambria" pitchFamily="34" charset="-122"/>
                <a:cs typeface="Cambria" pitchFamily="34" charset="-120"/>
              </a:rPr>
              <a:t>Abort</a:t>
            </a:r>
            <a:endParaRPr lang="en-US" sz="2500" dirty="0"/>
          </a:p>
        </p:txBody>
      </p:sp>
      <p:sp>
        <p:nvSpPr>
          <p:cNvPr id="11" name="Text 8"/>
          <p:cNvSpPr txBox="1"/>
          <p:nvPr/>
        </p:nvSpPr>
        <p:spPr>
          <a:xfrm>
            <a:off x="3771900" y="3655695"/>
            <a:ext cx="1943100" cy="2242185"/>
          </a:xfrm>
          <a:prstGeom prst="rect">
            <a:avLst/>
          </a:prstGeom>
          <a:noFill/>
          <a:ln/>
        </p:spPr>
        <p:txBody>
          <a:bodyPr wrap="square" lIns="0" tIns="0" rIns="0" bIns="0" rtlCol="0" anchor="t"/>
          <a:lstStyle/>
          <a:p>
            <a:pPr indent="0" marL="0">
              <a:buNone/>
            </a:pPr>
            <a:r>
              <a:rPr lang="en-US" sz="2200" dirty="0">
                <a:solidFill>
                  <a:schemeClr val="bg2"/>
                </a:solidFill>
              </a:rPr>
              <a:t>Inverses replay in reverse</a:t>
            </a:r>
            <a:endParaRPr lang="en-US" sz="2200" dirty="0"/>
          </a:p>
        </p:txBody>
      </p:sp>
      <p:sp>
        <p:nvSpPr>
          <p:cNvPr id="12" name="Shape 9"/>
          <p:cNvSpPr/>
          <p:nvPr/>
        </p:nvSpPr>
        <p:spPr>
          <a:xfrm>
            <a:off x="6172200" y="2832735"/>
            <a:ext cx="2491740" cy="3293745"/>
          </a:xfrm>
          <a:prstGeom prst="roundRect">
            <a:avLst>
              <a:gd name="adj" fmla="val 4404"/>
            </a:avLst>
          </a:prstGeom>
          <a:solidFill>
            <a:schemeClr val="tx2"/>
          </a:solidFill>
          <a:ln w="12700">
            <a:solidFill>
              <a:srgbClr val="4A1A5E"/>
            </a:solidFill>
            <a:prstDash val="solid"/>
          </a:ln>
        </p:spPr>
      </p:sp>
      <p:sp>
        <p:nvSpPr>
          <p:cNvPr id="13" name="Text 10"/>
          <p:cNvSpPr txBox="1"/>
          <p:nvPr/>
        </p:nvSpPr>
        <p:spPr>
          <a:xfrm>
            <a:off x="6446520" y="3061335"/>
            <a:ext cx="1943100" cy="457200"/>
          </a:xfrm>
          <a:prstGeom prst="rect">
            <a:avLst/>
          </a:prstGeom>
          <a:noFill/>
          <a:ln/>
        </p:spPr>
        <p:txBody>
          <a:bodyPr wrap="square" lIns="0" tIns="0" rIns="0" bIns="0" rtlCol="0" anchor="t"/>
          <a:lstStyle/>
          <a:p>
            <a:pPr indent="0" marL="0">
              <a:buNone/>
            </a:pPr>
            <a:r>
              <a:rPr lang="en-US" sz="2500" b="1" dirty="0">
                <a:solidFill>
                  <a:schemeClr val="accent1"/>
                </a:solidFill>
                <a:latin typeface="Cambria" pitchFamily="34" charset="0"/>
                <a:ea typeface="Cambria" pitchFamily="34" charset="-122"/>
                <a:cs typeface="Cambria" pitchFamily="34" charset="-120"/>
              </a:rPr>
              <a:t>Refusal</a:t>
            </a:r>
            <a:endParaRPr lang="en-US" sz="2500" dirty="0"/>
          </a:p>
        </p:txBody>
      </p:sp>
      <p:sp>
        <p:nvSpPr>
          <p:cNvPr id="14" name="Text 11"/>
          <p:cNvSpPr txBox="1"/>
          <p:nvPr/>
        </p:nvSpPr>
        <p:spPr>
          <a:xfrm>
            <a:off x="6446520" y="3655695"/>
            <a:ext cx="1943100" cy="2242185"/>
          </a:xfrm>
          <a:prstGeom prst="rect">
            <a:avLst/>
          </a:prstGeom>
          <a:noFill/>
          <a:ln/>
        </p:spPr>
        <p:txBody>
          <a:bodyPr wrap="square" lIns="0" tIns="0" rIns="0" bIns="0" rtlCol="0" anchor="t"/>
          <a:lstStyle/>
          <a:p>
            <a:pPr indent="0" marL="0">
              <a:buNone/>
            </a:pPr>
            <a:r>
              <a:rPr lang="en-US" sz="2200" dirty="0">
                <a:solidFill>
                  <a:schemeClr val="bg2"/>
                </a:solidFill>
              </a:rPr>
              <a:t>A verb with no compensation is refused when the transaction opens</a:t>
            </a:r>
            <a:endParaRPr lang="en-US" sz="2200" dirty="0"/>
          </a:p>
        </p:txBody>
      </p:sp>
      <p:sp>
        <p:nvSpPr>
          <p:cNvPr id="15" name="Shape 12"/>
          <p:cNvSpPr/>
          <p:nvPr/>
        </p:nvSpPr>
        <p:spPr>
          <a:xfrm>
            <a:off x="8846820" y="2832735"/>
            <a:ext cx="2491740" cy="3293745"/>
          </a:xfrm>
          <a:prstGeom prst="roundRect">
            <a:avLst>
              <a:gd name="adj" fmla="val 4404"/>
            </a:avLst>
          </a:prstGeom>
          <a:solidFill>
            <a:schemeClr val="tx2"/>
          </a:solidFill>
          <a:ln w="12700">
            <a:solidFill>
              <a:srgbClr val="4A1A5E"/>
            </a:solidFill>
            <a:prstDash val="solid"/>
          </a:ln>
        </p:spPr>
      </p:sp>
      <p:sp>
        <p:nvSpPr>
          <p:cNvPr id="16" name="Text 13"/>
          <p:cNvSpPr txBox="1"/>
          <p:nvPr/>
        </p:nvSpPr>
        <p:spPr>
          <a:xfrm>
            <a:off x="9121140" y="3061335"/>
            <a:ext cx="1943100" cy="457200"/>
          </a:xfrm>
          <a:prstGeom prst="rect">
            <a:avLst/>
          </a:prstGeom>
          <a:noFill/>
          <a:ln/>
        </p:spPr>
        <p:txBody>
          <a:bodyPr wrap="square" lIns="0" tIns="0" rIns="0" bIns="0" rtlCol="0" anchor="t"/>
          <a:lstStyle/>
          <a:p>
            <a:pPr indent="0" marL="0">
              <a:buNone/>
            </a:pPr>
            <a:r>
              <a:rPr lang="en-US" sz="2500" b="1" dirty="0">
                <a:solidFill>
                  <a:schemeClr val="accent1"/>
                </a:solidFill>
                <a:latin typeface="Cambria" pitchFamily="34" charset="0"/>
                <a:ea typeface="Cambria" pitchFamily="34" charset="-122"/>
                <a:cs typeface="Cambria" pitchFamily="34" charset="-120"/>
              </a:rPr>
              <a:t>One frame</a:t>
            </a:r>
            <a:endParaRPr lang="en-US" sz="2500" dirty="0"/>
          </a:p>
        </p:txBody>
      </p:sp>
      <p:sp>
        <p:nvSpPr>
          <p:cNvPr id="17" name="Text 14"/>
          <p:cNvSpPr txBox="1"/>
          <p:nvPr/>
        </p:nvSpPr>
        <p:spPr>
          <a:xfrm>
            <a:off x="9121140" y="3655695"/>
            <a:ext cx="1943100" cy="2242185"/>
          </a:xfrm>
          <a:prstGeom prst="rect">
            <a:avLst/>
          </a:prstGeom>
          <a:noFill/>
          <a:ln/>
        </p:spPr>
        <p:txBody>
          <a:bodyPr wrap="square" lIns="0" tIns="0" rIns="0" bIns="0" rtlCol="0" anchor="t"/>
          <a:lstStyle/>
          <a:p>
            <a:pPr indent="0" marL="0">
              <a:buNone/>
            </a:pPr>
            <a:r>
              <a:rPr lang="en-US" sz="2200" dirty="0">
                <a:solidFill>
                  <a:schemeClr val="bg2"/>
                </a:solidFill>
              </a:rPr>
              <a:t>The whole unwind is a single browser.undo</a:t>
            </a:r>
            <a:endParaRPr lang="en-US" sz="22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The page as typed state</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zwire users / page</a:t>
            </a:r>
            <a:endParaRPr lang="en-US" sz="1200" dirty="0"/>
          </a:p>
        </p:txBody>
      </p:sp>
      <p:sp>
        <p:nvSpPr>
          <p:cNvPr id="5" name="Text 2"/>
          <p:cNvSpPr txBox="1"/>
          <p:nvPr/>
        </p:nvSpPr>
        <p:spPr>
          <a:xfrm>
            <a:off x="822960" y="1463040"/>
            <a:ext cx="10515600" cy="775970"/>
          </a:xfrm>
          <a:prstGeom prst="rect">
            <a:avLst/>
          </a:prstGeom>
          <a:noFill/>
          <a:ln/>
        </p:spPr>
        <p:txBody>
          <a:bodyPr wrap="square" lIns="0" tIns="0" rIns="0" bIns="0" rtlCol="0" anchor="t"/>
          <a:lstStyle/>
          <a:p>
            <a:pPr indent="0" marL="0">
              <a:buNone/>
            </a:pPr>
            <a:r>
              <a:rPr lang="en-US" sz="2300" dirty="0">
                <a:solidFill>
                  <a:schemeClr val="bg2"/>
                </a:solidFill>
              </a:rPr>
              <a:t>The suite bus can ask what the browser is showing, answered from the live DOM after login and JavaScript, with no remote-debugging port.</a:t>
            </a:r>
            <a:endParaRPr lang="en-US" sz="2300" dirty="0"/>
          </a:p>
        </p:txBody>
      </p:sp>
      <p:sp>
        <p:nvSpPr>
          <p:cNvPr id="6" name="Shape 3"/>
          <p:cNvSpPr/>
          <p:nvPr/>
        </p:nvSpPr>
        <p:spPr>
          <a:xfrm>
            <a:off x="822960" y="2467610"/>
            <a:ext cx="2491740" cy="3658870"/>
          </a:xfrm>
          <a:prstGeom prst="roundRect">
            <a:avLst>
              <a:gd name="adj" fmla="val 4404"/>
            </a:avLst>
          </a:prstGeom>
          <a:solidFill>
            <a:schemeClr val="tx2"/>
          </a:solidFill>
          <a:ln w="12700">
            <a:solidFill>
              <a:srgbClr val="4A1A5E"/>
            </a:solidFill>
            <a:prstDash val="solid"/>
          </a:ln>
        </p:spPr>
      </p:sp>
      <p:sp>
        <p:nvSpPr>
          <p:cNvPr id="7" name="Text 4"/>
          <p:cNvSpPr txBox="1"/>
          <p:nvPr/>
        </p:nvSpPr>
        <p:spPr>
          <a:xfrm>
            <a:off x="1097280" y="2696210"/>
            <a:ext cx="1943100" cy="457200"/>
          </a:xfrm>
          <a:prstGeom prst="rect">
            <a:avLst/>
          </a:prstGeom>
          <a:noFill/>
          <a:ln/>
        </p:spPr>
        <p:txBody>
          <a:bodyPr wrap="square" lIns="0" tIns="0" rIns="0" bIns="0" rtlCol="0" anchor="t"/>
          <a:lstStyle/>
          <a:p>
            <a:pPr indent="0" marL="0">
              <a:buNone/>
            </a:pPr>
            <a:r>
              <a:rPr lang="en-US" sz="2500" b="1" dirty="0">
                <a:solidFill>
                  <a:schemeClr val="accent1"/>
                </a:solidFill>
                <a:latin typeface="Cambria" pitchFamily="34" charset="0"/>
                <a:ea typeface="Cambria" pitchFamily="34" charset="-122"/>
                <a:cs typeface="Cambria" pitchFamily="34" charset="-120"/>
              </a:rPr>
              <a:t>Reads</a:t>
            </a:r>
            <a:endParaRPr lang="en-US" sz="2500" dirty="0"/>
          </a:p>
        </p:txBody>
      </p:sp>
      <p:sp>
        <p:nvSpPr>
          <p:cNvPr id="8" name="Text 5"/>
          <p:cNvSpPr txBox="1"/>
          <p:nvPr/>
        </p:nvSpPr>
        <p:spPr>
          <a:xfrm>
            <a:off x="1097280" y="3290570"/>
            <a:ext cx="1943100" cy="2607310"/>
          </a:xfrm>
          <a:prstGeom prst="rect">
            <a:avLst/>
          </a:prstGeom>
          <a:noFill/>
          <a:ln/>
        </p:spPr>
        <p:txBody>
          <a:bodyPr wrap="square" lIns="0" tIns="0" rIns="0" bIns="0" rtlCol="0" anchor="t"/>
          <a:lstStyle/>
          <a:p>
            <a:pPr indent="0" marL="0">
              <a:buNone/>
            </a:pPr>
            <a:r>
              <a:rPr lang="en-US" sz="2200" dirty="0">
                <a:solidFill>
                  <a:schemeClr val="bg2"/>
                </a:solidFill>
              </a:rPr>
              <a:t>page.url, title, text, links, headings, tables, forms, meta, selection</a:t>
            </a:r>
            <a:endParaRPr lang="en-US" sz="2200" dirty="0"/>
          </a:p>
        </p:txBody>
      </p:sp>
      <p:sp>
        <p:nvSpPr>
          <p:cNvPr id="9" name="Shape 6"/>
          <p:cNvSpPr/>
          <p:nvPr/>
        </p:nvSpPr>
        <p:spPr>
          <a:xfrm>
            <a:off x="3497580" y="2467610"/>
            <a:ext cx="2491740" cy="3658870"/>
          </a:xfrm>
          <a:prstGeom prst="roundRect">
            <a:avLst>
              <a:gd name="adj" fmla="val 4404"/>
            </a:avLst>
          </a:prstGeom>
          <a:solidFill>
            <a:schemeClr val="tx2"/>
          </a:solidFill>
          <a:ln w="12700">
            <a:solidFill>
              <a:srgbClr val="4A1A5E"/>
            </a:solidFill>
            <a:prstDash val="solid"/>
          </a:ln>
        </p:spPr>
      </p:sp>
      <p:sp>
        <p:nvSpPr>
          <p:cNvPr id="10" name="Text 7"/>
          <p:cNvSpPr txBox="1"/>
          <p:nvPr/>
        </p:nvSpPr>
        <p:spPr>
          <a:xfrm>
            <a:off x="3771900" y="2696210"/>
            <a:ext cx="1943100" cy="457200"/>
          </a:xfrm>
          <a:prstGeom prst="rect">
            <a:avLst/>
          </a:prstGeom>
          <a:noFill/>
          <a:ln/>
        </p:spPr>
        <p:txBody>
          <a:bodyPr wrap="square" lIns="0" tIns="0" rIns="0" bIns="0" rtlCol="0" anchor="t"/>
          <a:lstStyle/>
          <a:p>
            <a:pPr indent="0" marL="0">
              <a:buNone/>
            </a:pPr>
            <a:r>
              <a:rPr lang="en-US" sz="2500" b="1" dirty="0">
                <a:solidFill>
                  <a:schemeClr val="accent1"/>
                </a:solidFill>
                <a:latin typeface="Cambria" pitchFamily="34" charset="0"/>
                <a:ea typeface="Cambria" pitchFamily="34" charset="-122"/>
                <a:cs typeface="Cambria" pitchFamily="34" charset="-120"/>
              </a:rPr>
              <a:t>Extract</a:t>
            </a:r>
            <a:endParaRPr lang="en-US" sz="2500" dirty="0"/>
          </a:p>
        </p:txBody>
      </p:sp>
      <p:sp>
        <p:nvSpPr>
          <p:cNvPr id="11" name="Text 8"/>
          <p:cNvSpPr txBox="1"/>
          <p:nvPr/>
        </p:nvSpPr>
        <p:spPr>
          <a:xfrm>
            <a:off x="3771900" y="3290570"/>
            <a:ext cx="1943100" cy="2607310"/>
          </a:xfrm>
          <a:prstGeom prst="rect">
            <a:avLst/>
          </a:prstGeom>
          <a:noFill/>
          <a:ln/>
        </p:spPr>
        <p:txBody>
          <a:bodyPr wrap="square" lIns="0" tIns="0" rIns="0" bIns="0" rtlCol="0" anchor="t"/>
          <a:lstStyle/>
          <a:p>
            <a:pPr indent="0" marL="0">
              <a:buNone/>
            </a:pPr>
            <a:r>
              <a:rPr lang="en-US" sz="2200" dirty="0">
                <a:solidFill>
                  <a:schemeClr val="bg2"/>
                </a:solidFill>
              </a:rPr>
              <a:t>page.extract for any selector</a:t>
            </a:r>
            <a:endParaRPr lang="en-US" sz="2200" dirty="0"/>
          </a:p>
        </p:txBody>
      </p:sp>
      <p:sp>
        <p:nvSpPr>
          <p:cNvPr id="12" name="Shape 9"/>
          <p:cNvSpPr/>
          <p:nvPr/>
        </p:nvSpPr>
        <p:spPr>
          <a:xfrm>
            <a:off x="6172200" y="2467610"/>
            <a:ext cx="2491740" cy="3658870"/>
          </a:xfrm>
          <a:prstGeom prst="roundRect">
            <a:avLst>
              <a:gd name="adj" fmla="val 4404"/>
            </a:avLst>
          </a:prstGeom>
          <a:solidFill>
            <a:schemeClr val="tx2"/>
          </a:solidFill>
          <a:ln w="12700">
            <a:solidFill>
              <a:srgbClr val="4A1A5E"/>
            </a:solidFill>
            <a:prstDash val="solid"/>
          </a:ln>
        </p:spPr>
      </p:sp>
      <p:sp>
        <p:nvSpPr>
          <p:cNvPr id="13" name="Text 10"/>
          <p:cNvSpPr txBox="1"/>
          <p:nvPr/>
        </p:nvSpPr>
        <p:spPr>
          <a:xfrm>
            <a:off x="6446520" y="2696210"/>
            <a:ext cx="1943100" cy="457200"/>
          </a:xfrm>
          <a:prstGeom prst="rect">
            <a:avLst/>
          </a:prstGeom>
          <a:noFill/>
          <a:ln/>
        </p:spPr>
        <p:txBody>
          <a:bodyPr wrap="square" lIns="0" tIns="0" rIns="0" bIns="0" rtlCol="0" anchor="t"/>
          <a:lstStyle/>
          <a:p>
            <a:pPr indent="0" marL="0">
              <a:buNone/>
            </a:pPr>
            <a:r>
              <a:rPr lang="en-US" sz="2500" b="1" dirty="0">
                <a:solidFill>
                  <a:schemeClr val="accent1"/>
                </a:solidFill>
                <a:latin typeface="Cambria" pitchFamily="34" charset="0"/>
                <a:ea typeface="Cambria" pitchFamily="34" charset="-122"/>
                <a:cs typeface="Cambria" pitchFamily="34" charset="-120"/>
              </a:rPr>
              <a:t>No writes</a:t>
            </a:r>
            <a:endParaRPr lang="en-US" sz="2500" dirty="0"/>
          </a:p>
        </p:txBody>
      </p:sp>
      <p:sp>
        <p:nvSpPr>
          <p:cNvPr id="14" name="Text 11"/>
          <p:cNvSpPr txBox="1"/>
          <p:nvPr/>
        </p:nvSpPr>
        <p:spPr>
          <a:xfrm>
            <a:off x="6446520" y="3290570"/>
            <a:ext cx="1943100" cy="2607310"/>
          </a:xfrm>
          <a:prstGeom prst="rect">
            <a:avLst/>
          </a:prstGeom>
          <a:noFill/>
          <a:ln/>
        </p:spPr>
        <p:txBody>
          <a:bodyPr wrap="square" lIns="0" tIns="0" rIns="0" bIns="0" rtlCol="0" anchor="t"/>
          <a:lstStyle/>
          <a:p>
            <a:pPr indent="0" marL="0">
              <a:buNone/>
            </a:pPr>
            <a:r>
              <a:rPr lang="en-US" sz="2200" dirty="0">
                <a:solidFill>
                  <a:schemeClr val="bg2"/>
                </a:solidFill>
              </a:rPr>
              <a:t>Mutation stays on the journaled path</a:t>
            </a:r>
            <a:endParaRPr lang="en-US" sz="2200" dirty="0"/>
          </a:p>
        </p:txBody>
      </p:sp>
      <p:sp>
        <p:nvSpPr>
          <p:cNvPr id="15" name="Shape 12"/>
          <p:cNvSpPr/>
          <p:nvPr/>
        </p:nvSpPr>
        <p:spPr>
          <a:xfrm>
            <a:off x="8846820" y="2467610"/>
            <a:ext cx="2491740" cy="3658870"/>
          </a:xfrm>
          <a:prstGeom prst="roundRect">
            <a:avLst>
              <a:gd name="adj" fmla="val 4404"/>
            </a:avLst>
          </a:prstGeom>
          <a:solidFill>
            <a:schemeClr val="tx2"/>
          </a:solidFill>
          <a:ln w="12700">
            <a:solidFill>
              <a:srgbClr val="4A1A5E"/>
            </a:solidFill>
            <a:prstDash val="solid"/>
          </a:ln>
        </p:spPr>
      </p:sp>
      <p:sp>
        <p:nvSpPr>
          <p:cNvPr id="16" name="Text 13"/>
          <p:cNvSpPr txBox="1"/>
          <p:nvPr/>
        </p:nvSpPr>
        <p:spPr>
          <a:xfrm>
            <a:off x="9121140" y="2696210"/>
            <a:ext cx="1943100" cy="457200"/>
          </a:xfrm>
          <a:prstGeom prst="rect">
            <a:avLst/>
          </a:prstGeom>
          <a:noFill/>
          <a:ln/>
        </p:spPr>
        <p:txBody>
          <a:bodyPr wrap="square" lIns="0" tIns="0" rIns="0" bIns="0" rtlCol="0" anchor="t"/>
          <a:lstStyle/>
          <a:p>
            <a:pPr indent="0" marL="0">
              <a:buNone/>
            </a:pPr>
            <a:r>
              <a:rPr lang="en-US" sz="2500" b="1" dirty="0">
                <a:solidFill>
                  <a:schemeClr val="accent1"/>
                </a:solidFill>
                <a:latin typeface="Cambria" pitchFamily="34" charset="0"/>
                <a:ea typeface="Cambria" pitchFamily="34" charset="-122"/>
                <a:cs typeface="Cambria" pitchFamily="34" charset="-120"/>
              </a:rPr>
              <a:t>Forms</a:t>
            </a:r>
            <a:endParaRPr lang="en-US" sz="2500" dirty="0"/>
          </a:p>
        </p:txBody>
      </p:sp>
      <p:sp>
        <p:nvSpPr>
          <p:cNvPr id="17" name="Text 14"/>
          <p:cNvSpPr txBox="1"/>
          <p:nvPr/>
        </p:nvSpPr>
        <p:spPr>
          <a:xfrm>
            <a:off x="9121140" y="3290570"/>
            <a:ext cx="1943100" cy="2607310"/>
          </a:xfrm>
          <a:prstGeom prst="rect">
            <a:avLst/>
          </a:prstGeom>
          <a:noFill/>
          <a:ln/>
        </p:spPr>
        <p:txBody>
          <a:bodyPr wrap="square" lIns="0" tIns="0" rIns="0" bIns="0" rtlCol="0" anchor="t"/>
          <a:lstStyle/>
          <a:p>
            <a:pPr indent="0" marL="0">
              <a:buNone/>
            </a:pPr>
            <a:r>
              <a:rPr lang="en-US" sz="2200" dirty="0">
                <a:solidFill>
                  <a:schemeClr val="bg2"/>
                </a:solidFill>
              </a:rPr>
              <a:t>Shape only, never field values</a:t>
            </a:r>
            <a:endParaRPr lang="en-US" sz="22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Assertions and premises</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zwire users / page</a:t>
            </a:r>
            <a:endParaRPr lang="en-US" sz="1200" dirty="0"/>
          </a:p>
        </p:txBody>
      </p:sp>
      <p:sp>
        <p:nvSpPr>
          <p:cNvPr id="5" name="Text 2"/>
          <p:cNvSpPr txBox="1"/>
          <p:nvPr/>
        </p:nvSpPr>
        <p:spPr>
          <a:xfrm>
            <a:off x="822960" y="1463040"/>
            <a:ext cx="10515600" cy="1045845"/>
          </a:xfrm>
          <a:prstGeom prst="rect">
            <a:avLst/>
          </a:prstGeom>
          <a:noFill/>
          <a:ln/>
        </p:spPr>
        <p:txBody>
          <a:bodyPr wrap="square" lIns="0" tIns="0" rIns="0" bIns="0" rtlCol="0" anchor="t"/>
          <a:lstStyle/>
          <a:p>
            <a:pPr indent="0" marL="0">
              <a:buNone/>
            </a:pPr>
            <a:r>
              <a:rPr lang="en-US" sz="2100" dirty="0">
                <a:solidFill>
                  <a:schemeClr val="bg2"/>
                </a:solidFill>
              </a:rPr>
              <a:t>page.assert makes a failed postcondition a failed step, so a transaction unwinds itself when the page did not come out right. page.witness declares a premise that must still hold at commit.</a:t>
            </a:r>
            <a:endParaRPr lang="en-US" sz="2100" dirty="0"/>
          </a:p>
        </p:txBody>
      </p:sp>
      <p:sp>
        <p:nvSpPr>
          <p:cNvPr id="6" name="Shape 3"/>
          <p:cNvSpPr/>
          <p:nvPr/>
        </p:nvSpPr>
        <p:spPr>
          <a:xfrm>
            <a:off x="822960" y="2737485"/>
            <a:ext cx="2491740" cy="3388995"/>
          </a:xfrm>
          <a:prstGeom prst="roundRect">
            <a:avLst>
              <a:gd name="adj" fmla="val 4404"/>
            </a:avLst>
          </a:prstGeom>
          <a:solidFill>
            <a:schemeClr val="tx2"/>
          </a:solidFill>
          <a:ln w="12700">
            <a:solidFill>
              <a:srgbClr val="4A1A5E"/>
            </a:solidFill>
            <a:prstDash val="solid"/>
          </a:ln>
        </p:spPr>
      </p:sp>
      <p:sp>
        <p:nvSpPr>
          <p:cNvPr id="7" name="Text 4"/>
          <p:cNvSpPr txBox="1"/>
          <p:nvPr/>
        </p:nvSpPr>
        <p:spPr>
          <a:xfrm>
            <a:off x="1097280" y="2966085"/>
            <a:ext cx="1943100" cy="457200"/>
          </a:xfrm>
          <a:prstGeom prst="rect">
            <a:avLst/>
          </a:prstGeom>
          <a:noFill/>
          <a:ln/>
        </p:spPr>
        <p:txBody>
          <a:bodyPr wrap="square" lIns="0" tIns="0" rIns="0" bIns="0" rtlCol="0" anchor="t"/>
          <a:lstStyle/>
          <a:p>
            <a:pPr indent="0" marL="0">
              <a:buNone/>
            </a:pPr>
            <a:r>
              <a:rPr lang="en-US" sz="1600" b="1" dirty="0">
                <a:solidFill>
                  <a:schemeClr val="accent1"/>
                </a:solidFill>
                <a:latin typeface="Cambria" pitchFamily="34" charset="0"/>
                <a:ea typeface="Cambria" pitchFamily="34" charset="-122"/>
                <a:cs typeface="Cambria" pitchFamily="34" charset="-120"/>
              </a:rPr>
              <a:t>Assert</a:t>
            </a:r>
            <a:endParaRPr lang="en-US" sz="1600" dirty="0"/>
          </a:p>
        </p:txBody>
      </p:sp>
      <p:sp>
        <p:nvSpPr>
          <p:cNvPr id="8" name="Text 5"/>
          <p:cNvSpPr txBox="1"/>
          <p:nvPr/>
        </p:nvSpPr>
        <p:spPr>
          <a:xfrm>
            <a:off x="1097280" y="3560445"/>
            <a:ext cx="1943100" cy="2337435"/>
          </a:xfrm>
          <a:prstGeom prst="rect">
            <a:avLst/>
          </a:prstGeom>
          <a:noFill/>
          <a:ln/>
        </p:spPr>
        <p:txBody>
          <a:bodyPr wrap="square" lIns="0" tIns="0" rIns="0" bIns="0" rtlCol="0" anchor="t"/>
          <a:lstStyle/>
          <a:p>
            <a:pPr indent="0" marL="0">
              <a:buNone/>
            </a:pPr>
            <a:r>
              <a:rPr lang="en-US" sz="2300" dirty="0">
                <a:solidFill>
                  <a:schemeClr val="bg2"/>
                </a:solidFill>
              </a:rPr>
              <a:t>contains, equals, empty, nonempty, count_at_least, count_at_most</a:t>
            </a:r>
            <a:endParaRPr lang="en-US" sz="2300" dirty="0"/>
          </a:p>
        </p:txBody>
      </p:sp>
      <p:sp>
        <p:nvSpPr>
          <p:cNvPr id="9" name="Shape 6"/>
          <p:cNvSpPr/>
          <p:nvPr/>
        </p:nvSpPr>
        <p:spPr>
          <a:xfrm>
            <a:off x="3497580" y="2737485"/>
            <a:ext cx="2491740" cy="3388995"/>
          </a:xfrm>
          <a:prstGeom prst="roundRect">
            <a:avLst>
              <a:gd name="adj" fmla="val 4404"/>
            </a:avLst>
          </a:prstGeom>
          <a:solidFill>
            <a:schemeClr val="tx2"/>
          </a:solidFill>
          <a:ln w="12700">
            <a:solidFill>
              <a:srgbClr val="4A1A5E"/>
            </a:solidFill>
            <a:prstDash val="solid"/>
          </a:ln>
        </p:spPr>
      </p:sp>
      <p:sp>
        <p:nvSpPr>
          <p:cNvPr id="10" name="Text 7"/>
          <p:cNvSpPr txBox="1"/>
          <p:nvPr/>
        </p:nvSpPr>
        <p:spPr>
          <a:xfrm>
            <a:off x="3771900" y="2966085"/>
            <a:ext cx="1943100" cy="457200"/>
          </a:xfrm>
          <a:prstGeom prst="rect">
            <a:avLst/>
          </a:prstGeom>
          <a:noFill/>
          <a:ln/>
        </p:spPr>
        <p:txBody>
          <a:bodyPr wrap="square" lIns="0" tIns="0" rIns="0" bIns="0" rtlCol="0" anchor="t"/>
          <a:lstStyle/>
          <a:p>
            <a:pPr indent="0" marL="0">
              <a:buNone/>
            </a:pPr>
            <a:r>
              <a:rPr lang="en-US" sz="1600" b="1" dirty="0">
                <a:solidFill>
                  <a:schemeClr val="accent1"/>
                </a:solidFill>
                <a:latin typeface="Cambria" pitchFamily="34" charset="0"/>
                <a:ea typeface="Cambria" pitchFamily="34" charset="-122"/>
                <a:cs typeface="Cambria" pitchFamily="34" charset="-120"/>
              </a:rPr>
              <a:t>Witness</a:t>
            </a:r>
            <a:endParaRPr lang="en-US" sz="1600" dirty="0"/>
          </a:p>
        </p:txBody>
      </p:sp>
      <p:sp>
        <p:nvSpPr>
          <p:cNvPr id="11" name="Text 8"/>
          <p:cNvSpPr txBox="1"/>
          <p:nvPr/>
        </p:nvSpPr>
        <p:spPr>
          <a:xfrm>
            <a:off x="3771900" y="3560445"/>
            <a:ext cx="1943100" cy="2337435"/>
          </a:xfrm>
          <a:prstGeom prst="rect">
            <a:avLst/>
          </a:prstGeom>
          <a:noFill/>
          <a:ln/>
        </p:spPr>
        <p:txBody>
          <a:bodyPr wrap="square" lIns="0" tIns="0" rIns="0" bIns="0" rtlCol="0" anchor="t"/>
          <a:lstStyle/>
          <a:p>
            <a:pPr indent="0" marL="0">
              <a:buNone/>
            </a:pPr>
            <a:r>
              <a:rPr lang="en-US" sz="2300" dirty="0">
                <a:solidFill>
                  <a:schemeClr val="bg2"/>
                </a:solidFill>
              </a:rPr>
              <a:t>A premise re-read at commit; a violation turns it into an abort</a:t>
            </a:r>
            <a:endParaRPr lang="en-US" sz="2300" dirty="0"/>
          </a:p>
        </p:txBody>
      </p:sp>
      <p:sp>
        <p:nvSpPr>
          <p:cNvPr id="12" name="Shape 9"/>
          <p:cNvSpPr/>
          <p:nvPr/>
        </p:nvSpPr>
        <p:spPr>
          <a:xfrm>
            <a:off x="6172200" y="2737485"/>
            <a:ext cx="2491740" cy="3388995"/>
          </a:xfrm>
          <a:prstGeom prst="roundRect">
            <a:avLst>
              <a:gd name="adj" fmla="val 4404"/>
            </a:avLst>
          </a:prstGeom>
          <a:solidFill>
            <a:schemeClr val="tx2"/>
          </a:solidFill>
          <a:ln w="12700">
            <a:solidFill>
              <a:srgbClr val="4A1A5E"/>
            </a:solidFill>
            <a:prstDash val="solid"/>
          </a:ln>
        </p:spPr>
      </p:sp>
      <p:sp>
        <p:nvSpPr>
          <p:cNvPr id="13" name="Text 10"/>
          <p:cNvSpPr txBox="1"/>
          <p:nvPr/>
        </p:nvSpPr>
        <p:spPr>
          <a:xfrm>
            <a:off x="6446520" y="2966085"/>
            <a:ext cx="1943100" cy="457200"/>
          </a:xfrm>
          <a:prstGeom prst="rect">
            <a:avLst/>
          </a:prstGeom>
          <a:noFill/>
          <a:ln/>
        </p:spPr>
        <p:txBody>
          <a:bodyPr wrap="square" lIns="0" tIns="0" rIns="0" bIns="0" rtlCol="0" anchor="t"/>
          <a:lstStyle/>
          <a:p>
            <a:pPr indent="0" marL="0">
              <a:buNone/>
            </a:pPr>
            <a:r>
              <a:rPr lang="en-US" sz="1600" b="1" dirty="0">
                <a:solidFill>
                  <a:schemeClr val="accent1"/>
                </a:solidFill>
                <a:latin typeface="Cambria" pitchFamily="34" charset="0"/>
                <a:ea typeface="Cambria" pitchFamily="34" charset="-122"/>
                <a:cs typeface="Cambria" pitchFamily="34" charset="-120"/>
              </a:rPr>
              <a:t>Cannot confirm</a:t>
            </a:r>
            <a:endParaRPr lang="en-US" sz="1600" dirty="0"/>
          </a:p>
        </p:txBody>
      </p:sp>
      <p:sp>
        <p:nvSpPr>
          <p:cNvPr id="14" name="Text 11"/>
          <p:cNvSpPr txBox="1"/>
          <p:nvPr/>
        </p:nvSpPr>
        <p:spPr>
          <a:xfrm>
            <a:off x="6446520" y="3560445"/>
            <a:ext cx="1943100" cy="2337435"/>
          </a:xfrm>
          <a:prstGeom prst="rect">
            <a:avLst/>
          </a:prstGeom>
          <a:noFill/>
          <a:ln/>
        </p:spPr>
        <p:txBody>
          <a:bodyPr wrap="square" lIns="0" tIns="0" rIns="0" bIns="0" rtlCol="0" anchor="t"/>
          <a:lstStyle/>
          <a:p>
            <a:pPr indent="0" marL="0">
              <a:buNone/>
            </a:pPr>
            <a:r>
              <a:rPr lang="en-US" sz="2300" dirty="0">
                <a:solidFill>
                  <a:schemeClr val="bg2"/>
                </a:solidFill>
              </a:rPr>
              <a:t>Treated as not held</a:t>
            </a:r>
            <a:endParaRPr lang="en-US" sz="2300" dirty="0"/>
          </a:p>
        </p:txBody>
      </p:sp>
      <p:sp>
        <p:nvSpPr>
          <p:cNvPr id="15" name="Shape 12"/>
          <p:cNvSpPr/>
          <p:nvPr/>
        </p:nvSpPr>
        <p:spPr>
          <a:xfrm>
            <a:off x="8846820" y="2737485"/>
            <a:ext cx="2491740" cy="3388995"/>
          </a:xfrm>
          <a:prstGeom prst="roundRect">
            <a:avLst>
              <a:gd name="adj" fmla="val 4404"/>
            </a:avLst>
          </a:prstGeom>
          <a:solidFill>
            <a:schemeClr val="tx2"/>
          </a:solidFill>
          <a:ln w="12700">
            <a:solidFill>
              <a:srgbClr val="4A1A5E"/>
            </a:solidFill>
            <a:prstDash val="solid"/>
          </a:ln>
        </p:spPr>
      </p:sp>
      <p:sp>
        <p:nvSpPr>
          <p:cNvPr id="16" name="Text 13"/>
          <p:cNvSpPr txBox="1"/>
          <p:nvPr/>
        </p:nvSpPr>
        <p:spPr>
          <a:xfrm>
            <a:off x="9121140" y="2966085"/>
            <a:ext cx="1943100" cy="457200"/>
          </a:xfrm>
          <a:prstGeom prst="rect">
            <a:avLst/>
          </a:prstGeom>
          <a:noFill/>
          <a:ln/>
        </p:spPr>
        <p:txBody>
          <a:bodyPr wrap="square" lIns="0" tIns="0" rIns="0" bIns="0" rtlCol="0" anchor="t"/>
          <a:lstStyle/>
          <a:p>
            <a:pPr indent="0" marL="0">
              <a:buNone/>
            </a:pPr>
            <a:r>
              <a:rPr lang="en-US" sz="1600" b="1" dirty="0">
                <a:solidFill>
                  <a:schemeClr val="accent1"/>
                </a:solidFill>
                <a:latin typeface="Cambria" pitchFamily="34" charset="0"/>
                <a:ea typeface="Cambria" pitchFamily="34" charset="-122"/>
                <a:cs typeface="Cambria" pitchFamily="34" charset="-120"/>
              </a:rPr>
              <a:t>One turn</a:t>
            </a:r>
            <a:endParaRPr lang="en-US" sz="1600" dirty="0"/>
          </a:p>
        </p:txBody>
      </p:sp>
      <p:sp>
        <p:nvSpPr>
          <p:cNvPr id="17" name="Text 14"/>
          <p:cNvSpPr txBox="1"/>
          <p:nvPr/>
        </p:nvSpPr>
        <p:spPr>
          <a:xfrm>
            <a:off x="9121140" y="3560445"/>
            <a:ext cx="1943100" cy="2337435"/>
          </a:xfrm>
          <a:prstGeom prst="rect">
            <a:avLst/>
          </a:prstGeom>
          <a:noFill/>
          <a:ln/>
        </p:spPr>
        <p:txBody>
          <a:bodyPr wrap="square" lIns="0" tIns="0" rIns="0" bIns="0" rtlCol="0" anchor="t"/>
          <a:lstStyle/>
          <a:p>
            <a:pPr indent="0" marL="0">
              <a:buNone/>
            </a:pPr>
            <a:r>
              <a:rPr lang="en-US" sz="2300" dirty="0">
                <a:solidFill>
                  <a:schemeClr val="bg2"/>
                </a:solidFill>
              </a:rPr>
              <a:t>A single page.batch answers the whole set</a:t>
            </a:r>
            <a:endParaRPr lang="en-US" sz="23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HUD replacements for Chrome pages</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zwire users / pages</a:t>
            </a:r>
            <a:endParaRPr lang="en-US" sz="1200" dirty="0"/>
          </a:p>
        </p:txBody>
      </p:sp>
      <p:sp>
        <p:nvSpPr>
          <p:cNvPr id="5" name="Text 2"/>
          <p:cNvSpPr txBox="1"/>
          <p:nvPr/>
        </p:nvSpPr>
        <p:spPr>
          <a:xfrm>
            <a:off x="822960" y="1463040"/>
            <a:ext cx="10515600" cy="1141095"/>
          </a:xfrm>
          <a:prstGeom prst="rect">
            <a:avLst/>
          </a:prstGeom>
          <a:noFill/>
          <a:ln/>
        </p:spPr>
        <p:txBody>
          <a:bodyPr wrap="square" lIns="0" tIns="0" rIns="0" bIns="0" rtlCol="0" anchor="t"/>
          <a:lstStyle/>
          <a:p>
            <a:pPr indent="0" marL="0">
              <a:buNone/>
            </a:pPr>
            <a:r>
              <a:rPr lang="en-US" sz="2300" dirty="0">
                <a:solidFill>
                  <a:schemeClr val="bg2"/>
                </a:solidFill>
              </a:rPr>
              <a:t>HUD reimplementations of Chrome's internal pages: extensions, settings, history, bookmarks and version, plus a keyboard-remap page and a dashboard.</a:t>
            </a:r>
            <a:endParaRPr lang="en-US" sz="2300" dirty="0"/>
          </a:p>
        </p:txBody>
      </p:sp>
      <p:sp>
        <p:nvSpPr>
          <p:cNvPr id="6" name="Shape 3"/>
          <p:cNvSpPr/>
          <p:nvPr/>
        </p:nvSpPr>
        <p:spPr>
          <a:xfrm>
            <a:off x="822960" y="2832735"/>
            <a:ext cx="2491740" cy="3293745"/>
          </a:xfrm>
          <a:prstGeom prst="roundRect">
            <a:avLst>
              <a:gd name="adj" fmla="val 4404"/>
            </a:avLst>
          </a:prstGeom>
          <a:solidFill>
            <a:schemeClr val="tx2"/>
          </a:solidFill>
          <a:ln w="12700">
            <a:solidFill>
              <a:srgbClr val="4A1A5E"/>
            </a:solidFill>
            <a:prstDash val="solid"/>
          </a:ln>
        </p:spPr>
      </p:sp>
      <p:sp>
        <p:nvSpPr>
          <p:cNvPr id="7" name="Text 4"/>
          <p:cNvSpPr txBox="1"/>
          <p:nvPr/>
        </p:nvSpPr>
        <p:spPr>
          <a:xfrm>
            <a:off x="1097280" y="3061335"/>
            <a:ext cx="1943100" cy="457200"/>
          </a:xfrm>
          <a:prstGeom prst="rect">
            <a:avLst/>
          </a:prstGeom>
          <a:noFill/>
          <a:ln/>
        </p:spPr>
        <p:txBody>
          <a:bodyPr wrap="square" lIns="0" tIns="0" rIns="0" bIns="0" rtlCol="0" anchor="t"/>
          <a:lstStyle/>
          <a:p>
            <a:pPr indent="0" marL="0">
              <a:buNone/>
            </a:pPr>
            <a:r>
              <a:rPr lang="en-US" sz="2500" b="1" dirty="0">
                <a:solidFill>
                  <a:schemeClr val="accent1"/>
                </a:solidFill>
                <a:latin typeface="Cambria" pitchFamily="34" charset="0"/>
                <a:ea typeface="Cambria" pitchFamily="34" charset="-122"/>
                <a:cs typeface="Cambria" pitchFamily="34" charset="-120"/>
              </a:rPr>
              <a:t>Settings</a:t>
            </a:r>
            <a:endParaRPr lang="en-US" sz="2500" dirty="0"/>
          </a:p>
        </p:txBody>
      </p:sp>
      <p:sp>
        <p:nvSpPr>
          <p:cNvPr id="8" name="Text 5"/>
          <p:cNvSpPr txBox="1"/>
          <p:nvPr/>
        </p:nvSpPr>
        <p:spPr>
          <a:xfrm>
            <a:off x="1097280" y="3655695"/>
            <a:ext cx="1943100" cy="2242185"/>
          </a:xfrm>
          <a:prstGeom prst="rect">
            <a:avLst/>
          </a:prstGeom>
          <a:noFill/>
          <a:ln/>
        </p:spPr>
        <p:txBody>
          <a:bodyPr wrap="square" lIns="0" tIns="0" rIns="0" bIns="0" rtlCol="0" anchor="t"/>
          <a:lstStyle/>
          <a:p>
            <a:pPr indent="0" marL="0">
              <a:buNone/>
            </a:pPr>
            <a:r>
              <a:rPr lang="en-US" sz="2200" dirty="0">
                <a:solidFill>
                  <a:schemeClr val="bg2"/>
                </a:solidFill>
              </a:rPr>
              <a:t>Sectioned like Chrome's, with a clear-browsing-data wizard</a:t>
            </a:r>
            <a:endParaRPr lang="en-US" sz="2200" dirty="0"/>
          </a:p>
        </p:txBody>
      </p:sp>
      <p:sp>
        <p:nvSpPr>
          <p:cNvPr id="9" name="Shape 6"/>
          <p:cNvSpPr/>
          <p:nvPr/>
        </p:nvSpPr>
        <p:spPr>
          <a:xfrm>
            <a:off x="3497580" y="2832735"/>
            <a:ext cx="2491740" cy="3293745"/>
          </a:xfrm>
          <a:prstGeom prst="roundRect">
            <a:avLst>
              <a:gd name="adj" fmla="val 4404"/>
            </a:avLst>
          </a:prstGeom>
          <a:solidFill>
            <a:schemeClr val="tx2"/>
          </a:solidFill>
          <a:ln w="12700">
            <a:solidFill>
              <a:srgbClr val="4A1A5E"/>
            </a:solidFill>
            <a:prstDash val="solid"/>
          </a:ln>
        </p:spPr>
      </p:sp>
      <p:sp>
        <p:nvSpPr>
          <p:cNvPr id="10" name="Text 7"/>
          <p:cNvSpPr txBox="1"/>
          <p:nvPr/>
        </p:nvSpPr>
        <p:spPr>
          <a:xfrm>
            <a:off x="3771900" y="3061335"/>
            <a:ext cx="1943100" cy="457200"/>
          </a:xfrm>
          <a:prstGeom prst="rect">
            <a:avLst/>
          </a:prstGeom>
          <a:noFill/>
          <a:ln/>
        </p:spPr>
        <p:txBody>
          <a:bodyPr wrap="square" lIns="0" tIns="0" rIns="0" bIns="0" rtlCol="0" anchor="t"/>
          <a:lstStyle/>
          <a:p>
            <a:pPr indent="0" marL="0">
              <a:buNone/>
            </a:pPr>
            <a:r>
              <a:rPr lang="en-US" sz="2500" b="1" dirty="0">
                <a:solidFill>
                  <a:schemeClr val="accent1"/>
                </a:solidFill>
                <a:latin typeface="Cambria" pitchFamily="34" charset="0"/>
                <a:ea typeface="Cambria" pitchFamily="34" charset="-122"/>
                <a:cs typeface="Cambria" pitchFamily="34" charset="-120"/>
              </a:rPr>
              <a:t>History</a:t>
            </a:r>
            <a:endParaRPr lang="en-US" sz="2500" dirty="0"/>
          </a:p>
        </p:txBody>
      </p:sp>
      <p:sp>
        <p:nvSpPr>
          <p:cNvPr id="11" name="Text 8"/>
          <p:cNvSpPr txBox="1"/>
          <p:nvPr/>
        </p:nvSpPr>
        <p:spPr>
          <a:xfrm>
            <a:off x="3771900" y="3655695"/>
            <a:ext cx="1943100" cy="2242185"/>
          </a:xfrm>
          <a:prstGeom prst="rect">
            <a:avLst/>
          </a:prstGeom>
          <a:noFill/>
          <a:ln/>
        </p:spPr>
        <p:txBody>
          <a:bodyPr wrap="square" lIns="0" tIns="0" rIns="0" bIns="0" rtlCol="0" anchor="t"/>
          <a:lstStyle/>
          <a:p>
            <a:pPr indent="0" marL="0">
              <a:buNone/>
            </a:pPr>
            <a:r>
              <a:rPr lang="en-US" sz="2200" dirty="0">
                <a:solidFill>
                  <a:schemeClr val="bg2"/>
                </a:solidFill>
              </a:rPr>
              <a:t>Per-entry delete, range and all clear; Cmd-Y</a:t>
            </a:r>
            <a:endParaRPr lang="en-US" sz="2200" dirty="0"/>
          </a:p>
        </p:txBody>
      </p:sp>
      <p:sp>
        <p:nvSpPr>
          <p:cNvPr id="12" name="Shape 9"/>
          <p:cNvSpPr/>
          <p:nvPr/>
        </p:nvSpPr>
        <p:spPr>
          <a:xfrm>
            <a:off x="6172200" y="2832735"/>
            <a:ext cx="2491740" cy="3293745"/>
          </a:xfrm>
          <a:prstGeom prst="roundRect">
            <a:avLst>
              <a:gd name="adj" fmla="val 4404"/>
            </a:avLst>
          </a:prstGeom>
          <a:solidFill>
            <a:schemeClr val="tx2"/>
          </a:solidFill>
          <a:ln w="12700">
            <a:solidFill>
              <a:srgbClr val="4A1A5E"/>
            </a:solidFill>
            <a:prstDash val="solid"/>
          </a:ln>
        </p:spPr>
      </p:sp>
      <p:sp>
        <p:nvSpPr>
          <p:cNvPr id="13" name="Text 10"/>
          <p:cNvSpPr txBox="1"/>
          <p:nvPr/>
        </p:nvSpPr>
        <p:spPr>
          <a:xfrm>
            <a:off x="6446520" y="3061335"/>
            <a:ext cx="1943100" cy="457200"/>
          </a:xfrm>
          <a:prstGeom prst="rect">
            <a:avLst/>
          </a:prstGeom>
          <a:noFill/>
          <a:ln/>
        </p:spPr>
        <p:txBody>
          <a:bodyPr wrap="square" lIns="0" tIns="0" rIns="0" bIns="0" rtlCol="0" anchor="t"/>
          <a:lstStyle/>
          <a:p>
            <a:pPr indent="0" marL="0">
              <a:buNone/>
            </a:pPr>
            <a:r>
              <a:rPr lang="en-US" sz="2500" b="1" dirty="0">
                <a:solidFill>
                  <a:schemeClr val="accent1"/>
                </a:solidFill>
                <a:latin typeface="Cambria" pitchFamily="34" charset="0"/>
                <a:ea typeface="Cambria" pitchFamily="34" charset="-122"/>
                <a:cs typeface="Cambria" pitchFamily="34" charset="-120"/>
              </a:rPr>
              <a:t>Dashboard</a:t>
            </a:r>
            <a:endParaRPr lang="en-US" sz="2500" dirty="0"/>
          </a:p>
        </p:txBody>
      </p:sp>
      <p:sp>
        <p:nvSpPr>
          <p:cNvPr id="14" name="Text 11"/>
          <p:cNvSpPr txBox="1"/>
          <p:nvPr/>
        </p:nvSpPr>
        <p:spPr>
          <a:xfrm>
            <a:off x="6446520" y="3655695"/>
            <a:ext cx="1943100" cy="2242185"/>
          </a:xfrm>
          <a:prstGeom prst="rect">
            <a:avLst/>
          </a:prstGeom>
          <a:noFill/>
          <a:ln/>
        </p:spPr>
        <p:txBody>
          <a:bodyPr wrap="square" lIns="0" tIns="0" rIns="0" bIns="0" rtlCol="0" anchor="t"/>
          <a:lstStyle/>
          <a:p>
            <a:pPr indent="0" marL="0">
              <a:buNone/>
            </a:pPr>
            <a:r>
              <a:rPr lang="en-US" sz="2200" dirty="0">
                <a:solidFill>
                  <a:schemeClr val="bg2"/>
                </a:solidFill>
              </a:rPr>
              <a:t>A searchable tile grid launching every HUD and chrome:// page</a:t>
            </a:r>
            <a:endParaRPr lang="en-US" sz="2200" dirty="0"/>
          </a:p>
        </p:txBody>
      </p:sp>
      <p:sp>
        <p:nvSpPr>
          <p:cNvPr id="15" name="Shape 12"/>
          <p:cNvSpPr/>
          <p:nvPr/>
        </p:nvSpPr>
        <p:spPr>
          <a:xfrm>
            <a:off x="8846820" y="2832735"/>
            <a:ext cx="2491740" cy="3293745"/>
          </a:xfrm>
          <a:prstGeom prst="roundRect">
            <a:avLst>
              <a:gd name="adj" fmla="val 4404"/>
            </a:avLst>
          </a:prstGeom>
          <a:solidFill>
            <a:schemeClr val="tx2"/>
          </a:solidFill>
          <a:ln w="12700">
            <a:solidFill>
              <a:srgbClr val="4A1A5E"/>
            </a:solidFill>
            <a:prstDash val="solid"/>
          </a:ln>
        </p:spPr>
      </p:sp>
      <p:sp>
        <p:nvSpPr>
          <p:cNvPr id="16" name="Text 13"/>
          <p:cNvSpPr txBox="1"/>
          <p:nvPr/>
        </p:nvSpPr>
        <p:spPr>
          <a:xfrm>
            <a:off x="9121140" y="3061335"/>
            <a:ext cx="1943100" cy="457200"/>
          </a:xfrm>
          <a:prstGeom prst="rect">
            <a:avLst/>
          </a:prstGeom>
          <a:noFill/>
          <a:ln/>
        </p:spPr>
        <p:txBody>
          <a:bodyPr wrap="square" lIns="0" tIns="0" rIns="0" bIns="0" rtlCol="0" anchor="t"/>
          <a:lstStyle/>
          <a:p>
            <a:pPr indent="0" marL="0">
              <a:buNone/>
            </a:pPr>
            <a:r>
              <a:rPr lang="en-US" sz="2500" b="1" dirty="0">
                <a:solidFill>
                  <a:schemeClr val="accent1"/>
                </a:solidFill>
                <a:latin typeface="Cambria" pitchFamily="34" charset="0"/>
                <a:ea typeface="Cambria" pitchFamily="34" charset="-122"/>
                <a:cs typeface="Cambria" pitchFamily="34" charset="-120"/>
              </a:rPr>
              <a:t>Keyboard</a:t>
            </a:r>
            <a:endParaRPr lang="en-US" sz="2500" dirty="0"/>
          </a:p>
        </p:txBody>
      </p:sp>
      <p:sp>
        <p:nvSpPr>
          <p:cNvPr id="17" name="Text 14"/>
          <p:cNvSpPr txBox="1"/>
          <p:nvPr/>
        </p:nvSpPr>
        <p:spPr>
          <a:xfrm>
            <a:off x="9121140" y="3655695"/>
            <a:ext cx="1943100" cy="2242185"/>
          </a:xfrm>
          <a:prstGeom prst="rect">
            <a:avLst/>
          </a:prstGeom>
          <a:noFill/>
          <a:ln/>
        </p:spPr>
        <p:txBody>
          <a:bodyPr wrap="square" lIns="0" tIns="0" rIns="0" bIns="0" rtlCol="0" anchor="t"/>
          <a:lstStyle/>
          <a:p>
            <a:pPr indent="0" marL="0">
              <a:buNone/>
            </a:pPr>
            <a:r>
              <a:rPr lang="en-US" sz="2200" dirty="0">
                <a:solidFill>
                  <a:schemeClr val="bg2"/>
                </a:solidFill>
              </a:rPr>
              <a:t>Rebind every shortcut</a:t>
            </a:r>
            <a:endParaRPr lang="en-US" sz="22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New tab layouts</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zwire users / newtab</a:t>
            </a:r>
            <a:endParaRPr lang="en-US" sz="1200" dirty="0"/>
          </a:p>
        </p:txBody>
      </p:sp>
      <p:sp>
        <p:nvSpPr>
          <p:cNvPr id="5" name="Text 2"/>
          <p:cNvSpPr txBox="1"/>
          <p:nvPr/>
        </p:nvSpPr>
        <p:spPr>
          <a:xfrm>
            <a:off x="822960" y="1463040"/>
            <a:ext cx="10515600" cy="1141095"/>
          </a:xfrm>
          <a:prstGeom prst="rect">
            <a:avLst/>
          </a:prstGeom>
          <a:noFill/>
          <a:ln/>
        </p:spPr>
        <p:txBody>
          <a:bodyPr wrap="square" lIns="0" tIns="0" rIns="0" bIns="0" rtlCol="0" anchor="t"/>
          <a:lstStyle/>
          <a:p>
            <a:pPr indent="0" marL="0">
              <a:buNone/>
            </a:pPr>
            <a:r>
              <a:rPr lang="en-US" sz="2300" dirty="0">
                <a:solidFill>
                  <a:schemeClr val="bg2"/>
                </a:solidFill>
              </a:rPr>
              <a:t>A port of Vivaldi's Start Page onto the zwire new tab: named layouts you switch between, each with its own Speed Dial groups, widget grid, navigation rail and background.</a:t>
            </a:r>
            <a:endParaRPr lang="en-US" sz="2300" dirty="0"/>
          </a:p>
        </p:txBody>
      </p:sp>
      <p:sp>
        <p:nvSpPr>
          <p:cNvPr id="6" name="Shape 3"/>
          <p:cNvSpPr/>
          <p:nvPr/>
        </p:nvSpPr>
        <p:spPr>
          <a:xfrm>
            <a:off x="822960" y="2832735"/>
            <a:ext cx="2491740" cy="3293745"/>
          </a:xfrm>
          <a:prstGeom prst="roundRect">
            <a:avLst>
              <a:gd name="adj" fmla="val 4404"/>
            </a:avLst>
          </a:prstGeom>
          <a:solidFill>
            <a:schemeClr val="tx2"/>
          </a:solidFill>
          <a:ln w="12700">
            <a:solidFill>
              <a:srgbClr val="4A1A5E"/>
            </a:solidFill>
            <a:prstDash val="solid"/>
          </a:ln>
        </p:spPr>
      </p:sp>
      <p:sp>
        <p:nvSpPr>
          <p:cNvPr id="7" name="Text 4"/>
          <p:cNvSpPr txBox="1"/>
          <p:nvPr/>
        </p:nvSpPr>
        <p:spPr>
          <a:xfrm>
            <a:off x="1097280" y="3061335"/>
            <a:ext cx="194310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Speed Dial</a:t>
            </a:r>
            <a:endParaRPr lang="en-US" sz="2200" dirty="0"/>
          </a:p>
        </p:txBody>
      </p:sp>
      <p:sp>
        <p:nvSpPr>
          <p:cNvPr id="8" name="Text 5"/>
          <p:cNvSpPr txBox="1"/>
          <p:nvPr/>
        </p:nvSpPr>
        <p:spPr>
          <a:xfrm>
            <a:off x="1097280" y="3655695"/>
            <a:ext cx="1943100" cy="2242185"/>
          </a:xfrm>
          <a:prstGeom prst="rect">
            <a:avLst/>
          </a:prstGeom>
          <a:noFill/>
          <a:ln/>
        </p:spPr>
        <p:txBody>
          <a:bodyPr wrap="square" lIns="0" tIns="0" rIns="0" bIns="0" rtlCol="0" anchor="t"/>
          <a:lstStyle/>
          <a:p>
            <a:pPr indent="0" marL="0">
              <a:buNone/>
            </a:pPr>
            <a:r>
              <a:rPr lang="en-US" sz="1900" dirty="0">
                <a:solidFill>
                  <a:schemeClr val="bg2"/>
                </a:solidFill>
              </a:rPr>
              <a:t>Columns, five thumbnail sizes, title modes, drag-to-reorder</a:t>
            </a:r>
            <a:endParaRPr lang="en-US" sz="1900" dirty="0"/>
          </a:p>
        </p:txBody>
      </p:sp>
      <p:sp>
        <p:nvSpPr>
          <p:cNvPr id="9" name="Shape 6"/>
          <p:cNvSpPr/>
          <p:nvPr/>
        </p:nvSpPr>
        <p:spPr>
          <a:xfrm>
            <a:off x="3497580" y="2832735"/>
            <a:ext cx="2491740" cy="3293745"/>
          </a:xfrm>
          <a:prstGeom prst="roundRect">
            <a:avLst>
              <a:gd name="adj" fmla="val 4404"/>
            </a:avLst>
          </a:prstGeom>
          <a:solidFill>
            <a:schemeClr val="tx2"/>
          </a:solidFill>
          <a:ln w="12700">
            <a:solidFill>
              <a:srgbClr val="4A1A5E"/>
            </a:solidFill>
            <a:prstDash val="solid"/>
          </a:ln>
        </p:spPr>
      </p:sp>
      <p:sp>
        <p:nvSpPr>
          <p:cNvPr id="10" name="Text 7"/>
          <p:cNvSpPr txBox="1"/>
          <p:nvPr/>
        </p:nvSpPr>
        <p:spPr>
          <a:xfrm>
            <a:off x="3771900" y="3061335"/>
            <a:ext cx="194310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Widgets</a:t>
            </a:r>
            <a:endParaRPr lang="en-US" sz="2200" dirty="0"/>
          </a:p>
        </p:txBody>
      </p:sp>
      <p:sp>
        <p:nvSpPr>
          <p:cNvPr id="11" name="Text 8"/>
          <p:cNvSpPr txBox="1"/>
          <p:nvPr/>
        </p:nvSpPr>
        <p:spPr>
          <a:xfrm>
            <a:off x="3771900" y="3655695"/>
            <a:ext cx="1943100" cy="2242185"/>
          </a:xfrm>
          <a:prstGeom prst="rect">
            <a:avLst/>
          </a:prstGeom>
          <a:noFill/>
          <a:ln/>
        </p:spPr>
        <p:txBody>
          <a:bodyPr wrap="square" lIns="0" tIns="0" rIns="0" bIns="0" rtlCol="0" anchor="t"/>
          <a:lstStyle/>
          <a:p>
            <a:pPr indent="0" marL="0">
              <a:buNone/>
            </a:pPr>
            <a:r>
              <a:rPr lang="en-US" sz="1900" dirty="0">
                <a:solidFill>
                  <a:schemeClr val="bg2"/>
                </a:solidFill>
              </a:rPr>
              <a:t>Date, Search, Top Sites, Bookmarks, History, Feeds, Notes, Reading List, Sessions, Webpage</a:t>
            </a:r>
            <a:endParaRPr lang="en-US" sz="1900" dirty="0"/>
          </a:p>
        </p:txBody>
      </p:sp>
      <p:sp>
        <p:nvSpPr>
          <p:cNvPr id="12" name="Shape 9"/>
          <p:cNvSpPr/>
          <p:nvPr/>
        </p:nvSpPr>
        <p:spPr>
          <a:xfrm>
            <a:off x="6172200" y="2832735"/>
            <a:ext cx="2491740" cy="3293745"/>
          </a:xfrm>
          <a:prstGeom prst="roundRect">
            <a:avLst>
              <a:gd name="adj" fmla="val 4404"/>
            </a:avLst>
          </a:prstGeom>
          <a:solidFill>
            <a:schemeClr val="tx2"/>
          </a:solidFill>
          <a:ln w="12700">
            <a:solidFill>
              <a:srgbClr val="4A1A5E"/>
            </a:solidFill>
            <a:prstDash val="solid"/>
          </a:ln>
        </p:spPr>
      </p:sp>
      <p:sp>
        <p:nvSpPr>
          <p:cNvPr id="13" name="Text 10"/>
          <p:cNvSpPr txBox="1"/>
          <p:nvPr/>
        </p:nvSpPr>
        <p:spPr>
          <a:xfrm>
            <a:off x="6446520" y="3061335"/>
            <a:ext cx="194310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Manager</a:t>
            </a:r>
            <a:endParaRPr lang="en-US" sz="2200" dirty="0"/>
          </a:p>
        </p:txBody>
      </p:sp>
      <p:sp>
        <p:nvSpPr>
          <p:cNvPr id="14" name="Text 11"/>
          <p:cNvSpPr txBox="1"/>
          <p:nvPr/>
        </p:nvSpPr>
        <p:spPr>
          <a:xfrm>
            <a:off x="6446520" y="3655695"/>
            <a:ext cx="1943100" cy="2242185"/>
          </a:xfrm>
          <a:prstGeom prst="rect">
            <a:avLst/>
          </a:prstGeom>
          <a:noFill/>
          <a:ln/>
        </p:spPr>
        <p:txBody>
          <a:bodyPr wrap="square" lIns="0" tIns="0" rIns="0" bIns="0" rtlCol="0" anchor="t"/>
          <a:lstStyle/>
          <a:p>
            <a:pPr indent="0" marL="0">
              <a:buNone/>
            </a:pPr>
            <a:r>
              <a:rPr lang="en-US" sz="1900" dirty="0">
                <a:solidFill>
                  <a:schemeClr val="bg2"/>
                </a:solidFill>
              </a:rPr>
              <a:t>pages/newtab.html: previews, duplicate, JSON import and export</a:t>
            </a:r>
            <a:endParaRPr lang="en-US" sz="1900" dirty="0"/>
          </a:p>
        </p:txBody>
      </p:sp>
      <p:sp>
        <p:nvSpPr>
          <p:cNvPr id="15" name="Shape 12"/>
          <p:cNvSpPr/>
          <p:nvPr/>
        </p:nvSpPr>
        <p:spPr>
          <a:xfrm>
            <a:off x="8846820" y="2832735"/>
            <a:ext cx="2491740" cy="3293745"/>
          </a:xfrm>
          <a:prstGeom prst="roundRect">
            <a:avLst>
              <a:gd name="adj" fmla="val 4404"/>
            </a:avLst>
          </a:prstGeom>
          <a:solidFill>
            <a:schemeClr val="tx2"/>
          </a:solidFill>
          <a:ln w="12700">
            <a:solidFill>
              <a:srgbClr val="4A1A5E"/>
            </a:solidFill>
            <a:prstDash val="solid"/>
          </a:ln>
        </p:spPr>
      </p:sp>
      <p:sp>
        <p:nvSpPr>
          <p:cNvPr id="16" name="Text 13"/>
          <p:cNvSpPr txBox="1"/>
          <p:nvPr/>
        </p:nvSpPr>
        <p:spPr>
          <a:xfrm>
            <a:off x="9121140" y="3061335"/>
            <a:ext cx="194310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Editing</a:t>
            </a:r>
            <a:endParaRPr lang="en-US" sz="2200" dirty="0"/>
          </a:p>
        </p:txBody>
      </p:sp>
      <p:sp>
        <p:nvSpPr>
          <p:cNvPr id="17" name="Text 14"/>
          <p:cNvSpPr txBox="1"/>
          <p:nvPr/>
        </p:nvSpPr>
        <p:spPr>
          <a:xfrm>
            <a:off x="9121140" y="3655695"/>
            <a:ext cx="1943100" cy="2242185"/>
          </a:xfrm>
          <a:prstGeom prst="rect">
            <a:avLst/>
          </a:prstGeom>
          <a:noFill/>
          <a:ln/>
        </p:spPr>
        <p:txBody>
          <a:bodyPr wrap="square" lIns="0" tIns="0" rIns="0" bIns="0" rtlCol="0" anchor="t"/>
          <a:lstStyle/>
          <a:p>
            <a:pPr indent="0" marL="0">
              <a:buNone/>
            </a:pPr>
            <a:r>
              <a:rPr lang="en-US" sz="1900" dirty="0">
                <a:solidFill>
                  <a:schemeClr val="bg2"/>
                </a:solidFill>
              </a:rPr>
              <a:t>On the page itself</a:t>
            </a:r>
            <a:endParaRPr lang="en-US" sz="19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Files, timeline, host</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zwire users / pages</a:t>
            </a:r>
            <a:endParaRPr lang="en-US" sz="1200" dirty="0"/>
          </a:p>
        </p:txBody>
      </p:sp>
      <p:sp>
        <p:nvSpPr>
          <p:cNvPr id="5" name="Text 2"/>
          <p:cNvSpPr txBox="1"/>
          <p:nvPr/>
        </p:nvSpPr>
        <p:spPr>
          <a:xfrm>
            <a:off x="822960" y="1463040"/>
            <a:ext cx="10515600" cy="807720"/>
          </a:xfrm>
          <a:prstGeom prst="rect">
            <a:avLst/>
          </a:prstGeom>
          <a:noFill/>
          <a:ln/>
        </p:spPr>
        <p:txBody>
          <a:bodyPr wrap="square" lIns="0" tIns="0" rIns="0" bIns="0" rtlCol="0" anchor="t"/>
          <a:lstStyle/>
          <a:p>
            <a:pPr indent="0" marL="0">
              <a:buNone/>
            </a:pPr>
            <a:r>
              <a:rPr lang="en-US" sz="2400" dirty="0">
                <a:solidFill>
                  <a:schemeClr val="bg2"/>
                </a:solidFill>
              </a:rPr>
              <a:t>Three HUD pages that bring the rest of the workspace into the browser.</a:t>
            </a:r>
            <a:endParaRPr lang="en-US" sz="2400" dirty="0"/>
          </a:p>
        </p:txBody>
      </p:sp>
      <p:sp>
        <p:nvSpPr>
          <p:cNvPr id="6" name="Shape 3"/>
          <p:cNvSpPr/>
          <p:nvPr/>
        </p:nvSpPr>
        <p:spPr>
          <a:xfrm>
            <a:off x="822960" y="2499360"/>
            <a:ext cx="2491740" cy="3627120"/>
          </a:xfrm>
          <a:prstGeom prst="roundRect">
            <a:avLst>
              <a:gd name="adj" fmla="val 4404"/>
            </a:avLst>
          </a:prstGeom>
          <a:solidFill>
            <a:schemeClr val="tx2"/>
          </a:solidFill>
          <a:ln w="12700">
            <a:solidFill>
              <a:srgbClr val="4A1A5E"/>
            </a:solidFill>
            <a:prstDash val="solid"/>
          </a:ln>
        </p:spPr>
      </p:sp>
      <p:sp>
        <p:nvSpPr>
          <p:cNvPr id="7" name="Text 4"/>
          <p:cNvSpPr txBox="1"/>
          <p:nvPr/>
        </p:nvSpPr>
        <p:spPr>
          <a:xfrm>
            <a:off x="1097280" y="2727960"/>
            <a:ext cx="1943100" cy="45720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Files</a:t>
            </a:r>
            <a:endParaRPr lang="en-US" sz="1800" dirty="0"/>
          </a:p>
        </p:txBody>
      </p:sp>
      <p:sp>
        <p:nvSpPr>
          <p:cNvPr id="8" name="Text 5"/>
          <p:cNvSpPr txBox="1"/>
          <p:nvPr/>
        </p:nvSpPr>
        <p:spPr>
          <a:xfrm>
            <a:off x="1097280" y="3322320"/>
            <a:ext cx="1943100" cy="2575560"/>
          </a:xfrm>
          <a:prstGeom prst="rect">
            <a:avLst/>
          </a:prstGeom>
          <a:noFill/>
          <a:ln/>
        </p:spPr>
        <p:txBody>
          <a:bodyPr wrap="square" lIns="0" tIns="0" rIns="0" bIns="0" rtlCol="0" anchor="t"/>
          <a:lstStyle/>
          <a:p>
            <a:pPr indent="0" marL="0">
              <a:buNone/>
            </a:pPr>
            <a:r>
              <a:rPr lang="en-US" sz="2500" dirty="0">
                <a:solidFill>
                  <a:schemeClr val="bg2"/>
                </a:solidFill>
              </a:rPr>
              <a:t>The fleet's file manager mounted unmodified</a:t>
            </a:r>
            <a:endParaRPr lang="en-US" sz="2500" dirty="0"/>
          </a:p>
        </p:txBody>
      </p:sp>
      <p:sp>
        <p:nvSpPr>
          <p:cNvPr id="9" name="Shape 6"/>
          <p:cNvSpPr/>
          <p:nvPr/>
        </p:nvSpPr>
        <p:spPr>
          <a:xfrm>
            <a:off x="3497580" y="2499360"/>
            <a:ext cx="2491740" cy="3627120"/>
          </a:xfrm>
          <a:prstGeom prst="roundRect">
            <a:avLst>
              <a:gd name="adj" fmla="val 4404"/>
            </a:avLst>
          </a:prstGeom>
          <a:solidFill>
            <a:schemeClr val="tx2"/>
          </a:solidFill>
          <a:ln w="12700">
            <a:solidFill>
              <a:srgbClr val="4A1A5E"/>
            </a:solidFill>
            <a:prstDash val="solid"/>
          </a:ln>
        </p:spPr>
      </p:sp>
      <p:sp>
        <p:nvSpPr>
          <p:cNvPr id="10" name="Text 7"/>
          <p:cNvSpPr txBox="1"/>
          <p:nvPr/>
        </p:nvSpPr>
        <p:spPr>
          <a:xfrm>
            <a:off x="3771900" y="2727960"/>
            <a:ext cx="1943100" cy="45720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Timeline</a:t>
            </a:r>
            <a:endParaRPr lang="en-US" sz="1800" dirty="0"/>
          </a:p>
        </p:txBody>
      </p:sp>
      <p:sp>
        <p:nvSpPr>
          <p:cNvPr id="11" name="Text 8"/>
          <p:cNvSpPr txBox="1"/>
          <p:nvPr/>
        </p:nvSpPr>
        <p:spPr>
          <a:xfrm>
            <a:off x="3771900" y="3322320"/>
            <a:ext cx="1943100" cy="2575560"/>
          </a:xfrm>
          <a:prstGeom prst="rect">
            <a:avLst/>
          </a:prstGeom>
          <a:noFill/>
          <a:ln/>
        </p:spPr>
        <p:txBody>
          <a:bodyPr wrap="square" lIns="0" tIns="0" rIns="0" bIns="0" rtlCol="0" anchor="t"/>
          <a:lstStyle/>
          <a:p>
            <a:pPr indent="0" marL="0">
              <a:buNone/>
            </a:pPr>
            <a:r>
              <a:rPr lang="en-US" sz="2500" dirty="0">
                <a:solidFill>
                  <a:schemeClr val="bg2"/>
                </a:solidFill>
              </a:rPr>
              <a:t>Browsing history as an arrangement grid</a:t>
            </a:r>
            <a:endParaRPr lang="en-US" sz="2500" dirty="0"/>
          </a:p>
        </p:txBody>
      </p:sp>
      <p:sp>
        <p:nvSpPr>
          <p:cNvPr id="12" name="Shape 9"/>
          <p:cNvSpPr/>
          <p:nvPr/>
        </p:nvSpPr>
        <p:spPr>
          <a:xfrm>
            <a:off x="6172200" y="2499360"/>
            <a:ext cx="2491740" cy="3627120"/>
          </a:xfrm>
          <a:prstGeom prst="roundRect">
            <a:avLst>
              <a:gd name="adj" fmla="val 4404"/>
            </a:avLst>
          </a:prstGeom>
          <a:solidFill>
            <a:schemeClr val="tx2"/>
          </a:solidFill>
          <a:ln w="12700">
            <a:solidFill>
              <a:srgbClr val="4A1A5E"/>
            </a:solidFill>
            <a:prstDash val="solid"/>
          </a:ln>
        </p:spPr>
      </p:sp>
      <p:sp>
        <p:nvSpPr>
          <p:cNvPr id="13" name="Text 10"/>
          <p:cNvSpPr txBox="1"/>
          <p:nvPr/>
        </p:nvSpPr>
        <p:spPr>
          <a:xfrm>
            <a:off x="6446520" y="2727960"/>
            <a:ext cx="1943100" cy="45720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Host console</a:t>
            </a:r>
            <a:endParaRPr lang="en-US" sz="1800" dirty="0"/>
          </a:p>
        </p:txBody>
      </p:sp>
      <p:sp>
        <p:nvSpPr>
          <p:cNvPr id="14" name="Text 11"/>
          <p:cNvSpPr txBox="1"/>
          <p:nvPr/>
        </p:nvSpPr>
        <p:spPr>
          <a:xfrm>
            <a:off x="6446520" y="3322320"/>
            <a:ext cx="1943100" cy="2575560"/>
          </a:xfrm>
          <a:prstGeom prst="rect">
            <a:avLst/>
          </a:prstGeom>
          <a:noFill/>
          <a:ln/>
        </p:spPr>
        <p:txBody>
          <a:bodyPr wrap="square" lIns="0" tIns="0" rIns="0" bIns="0" rtlCol="0" anchor="t"/>
          <a:lstStyle/>
          <a:p>
            <a:pPr indent="0" marL="0">
              <a:buNone/>
            </a:pPr>
            <a:r>
              <a:rPr lang="en-US" sz="2500" dirty="0">
                <a:solidFill>
                  <a:schemeClr val="bg2"/>
                </a:solidFill>
              </a:rPr>
              <a:t>A HUD tab that talks to the zwire-host native agent</a:t>
            </a:r>
            <a:endParaRPr lang="en-US" sz="2500" dirty="0"/>
          </a:p>
        </p:txBody>
      </p:sp>
      <p:sp>
        <p:nvSpPr>
          <p:cNvPr id="15" name="Shape 12"/>
          <p:cNvSpPr/>
          <p:nvPr/>
        </p:nvSpPr>
        <p:spPr>
          <a:xfrm>
            <a:off x="8846820" y="2499360"/>
            <a:ext cx="2491740" cy="3627120"/>
          </a:xfrm>
          <a:prstGeom prst="roundRect">
            <a:avLst>
              <a:gd name="adj" fmla="val 4404"/>
            </a:avLst>
          </a:prstGeom>
          <a:solidFill>
            <a:schemeClr val="tx2"/>
          </a:solidFill>
          <a:ln w="12700">
            <a:solidFill>
              <a:srgbClr val="4A1A5E"/>
            </a:solidFill>
            <a:prstDash val="solid"/>
          </a:ln>
        </p:spPr>
      </p:sp>
      <p:sp>
        <p:nvSpPr>
          <p:cNvPr id="16" name="Text 13"/>
          <p:cNvSpPr txBox="1"/>
          <p:nvPr/>
        </p:nvSpPr>
        <p:spPr>
          <a:xfrm>
            <a:off x="9121140" y="2727960"/>
            <a:ext cx="1943100" cy="45720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App Store</a:t>
            </a:r>
            <a:endParaRPr lang="en-US" sz="1800" dirty="0"/>
          </a:p>
        </p:txBody>
      </p:sp>
      <p:sp>
        <p:nvSpPr>
          <p:cNvPr id="17" name="Text 14"/>
          <p:cNvSpPr txBox="1"/>
          <p:nvPr/>
        </p:nvSpPr>
        <p:spPr>
          <a:xfrm>
            <a:off x="9121140" y="3322320"/>
            <a:ext cx="1943100" cy="2575560"/>
          </a:xfrm>
          <a:prstGeom prst="rect">
            <a:avLst/>
          </a:prstGeom>
          <a:noFill/>
          <a:ln/>
        </p:spPr>
        <p:txBody>
          <a:bodyPr wrap="square" lIns="0" tIns="0" rIns="0" bIns="0" rtlCol="0" anchor="t"/>
          <a:lstStyle/>
          <a:p>
            <a:pPr indent="0" marL="0">
              <a:buNone/>
            </a:pPr>
            <a:r>
              <a:rPr lang="en-US" sz="2500" dirty="0">
                <a:solidFill>
                  <a:schemeClr val="bg2"/>
                </a:solidFill>
              </a:rPr>
              <a:t>A storefront for the MenkeTechnologies apps and plugins</a:t>
            </a:r>
            <a:endParaRPr lang="en-US" sz="25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Tab features</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zwire users / tabs</a:t>
            </a:r>
            <a:endParaRPr lang="en-US" sz="1200" dirty="0"/>
          </a:p>
        </p:txBody>
      </p:sp>
      <p:sp>
        <p:nvSpPr>
          <p:cNvPr id="5" name="Text 2"/>
          <p:cNvSpPr txBox="1"/>
          <p:nvPr/>
        </p:nvSpPr>
        <p:spPr>
          <a:xfrm>
            <a:off x="822960" y="1463040"/>
            <a:ext cx="10515600" cy="426720"/>
          </a:xfrm>
          <a:prstGeom prst="rect">
            <a:avLst/>
          </a:prstGeom>
          <a:noFill/>
          <a:ln/>
        </p:spPr>
        <p:txBody>
          <a:bodyPr wrap="square" lIns="0" tIns="0" rIns="0" bIns="0" rtlCol="0" anchor="t"/>
          <a:lstStyle/>
          <a:p>
            <a:pPr indent="0" marL="0">
              <a:buNone/>
            </a:pPr>
            <a:r>
              <a:rPr lang="en-US" sz="2400" dirty="0">
                <a:solidFill>
                  <a:schemeClr val="bg2"/>
                </a:solidFill>
              </a:rPr>
              <a:t>Quality-of-life features carried by the palette and verbs.</a:t>
            </a:r>
            <a:endParaRPr lang="en-US" sz="2400" dirty="0"/>
          </a:p>
        </p:txBody>
      </p:sp>
      <p:sp>
        <p:nvSpPr>
          <p:cNvPr id="6" name="Shape 3"/>
          <p:cNvSpPr/>
          <p:nvPr/>
        </p:nvSpPr>
        <p:spPr>
          <a:xfrm>
            <a:off x="822960" y="2118360"/>
            <a:ext cx="2491740" cy="4008120"/>
          </a:xfrm>
          <a:prstGeom prst="roundRect">
            <a:avLst>
              <a:gd name="adj" fmla="val 4404"/>
            </a:avLst>
          </a:prstGeom>
          <a:solidFill>
            <a:schemeClr val="tx2"/>
          </a:solidFill>
          <a:ln w="12700">
            <a:solidFill>
              <a:srgbClr val="4A1A5E"/>
            </a:solidFill>
            <a:prstDash val="solid"/>
          </a:ln>
        </p:spPr>
      </p:sp>
      <p:sp>
        <p:nvSpPr>
          <p:cNvPr id="7" name="Text 4"/>
          <p:cNvSpPr txBox="1"/>
          <p:nvPr/>
        </p:nvSpPr>
        <p:spPr>
          <a:xfrm>
            <a:off x="1097280" y="2346960"/>
            <a:ext cx="1943100" cy="457200"/>
          </a:xfrm>
          <a:prstGeom prst="rect">
            <a:avLst/>
          </a:prstGeom>
          <a:noFill/>
          <a:ln/>
        </p:spPr>
        <p:txBody>
          <a:bodyPr wrap="square" lIns="0" tIns="0" rIns="0" bIns="0" rtlCol="0" anchor="t"/>
          <a:lstStyle/>
          <a:p>
            <a:pPr indent="0" marL="0">
              <a:buNone/>
            </a:pPr>
            <a:r>
              <a:rPr lang="en-US" sz="1700" b="1" dirty="0">
                <a:solidFill>
                  <a:schemeClr val="accent1"/>
                </a:solidFill>
                <a:latin typeface="Cambria" pitchFamily="34" charset="0"/>
                <a:ea typeface="Cambria" pitchFamily="34" charset="-122"/>
                <a:cs typeface="Cambria" pitchFamily="34" charset="-120"/>
              </a:rPr>
              <a:t>Snooze</a:t>
            </a:r>
            <a:endParaRPr lang="en-US" sz="1700" dirty="0"/>
          </a:p>
        </p:txBody>
      </p:sp>
      <p:sp>
        <p:nvSpPr>
          <p:cNvPr id="8" name="Text 5"/>
          <p:cNvSpPr txBox="1"/>
          <p:nvPr/>
        </p:nvSpPr>
        <p:spPr>
          <a:xfrm>
            <a:off x="1097280" y="2941320"/>
            <a:ext cx="1943100" cy="2956560"/>
          </a:xfrm>
          <a:prstGeom prst="rect">
            <a:avLst/>
          </a:prstGeom>
          <a:noFill/>
          <a:ln/>
        </p:spPr>
        <p:txBody>
          <a:bodyPr wrap="square" lIns="0" tIns="0" rIns="0" bIns="0" rtlCol="0" anchor="t"/>
          <a:lstStyle/>
          <a:p>
            <a:pPr indent="0" marL="0">
              <a:buNone/>
            </a:pPr>
            <a:r>
              <a:rPr lang="en-US" sz="2800" dirty="0">
                <a:solidFill>
                  <a:schemeClr val="bg2"/>
                </a:solidFill>
              </a:rPr>
              <a:t>Close a tab now and reopen it later</a:t>
            </a:r>
            <a:endParaRPr lang="en-US" sz="2800" dirty="0"/>
          </a:p>
        </p:txBody>
      </p:sp>
      <p:sp>
        <p:nvSpPr>
          <p:cNvPr id="9" name="Shape 6"/>
          <p:cNvSpPr/>
          <p:nvPr/>
        </p:nvSpPr>
        <p:spPr>
          <a:xfrm>
            <a:off x="3497580" y="2118360"/>
            <a:ext cx="2491740" cy="4008120"/>
          </a:xfrm>
          <a:prstGeom prst="roundRect">
            <a:avLst>
              <a:gd name="adj" fmla="val 4404"/>
            </a:avLst>
          </a:prstGeom>
          <a:solidFill>
            <a:schemeClr val="tx2"/>
          </a:solidFill>
          <a:ln w="12700">
            <a:solidFill>
              <a:srgbClr val="4A1A5E"/>
            </a:solidFill>
            <a:prstDash val="solid"/>
          </a:ln>
        </p:spPr>
      </p:sp>
      <p:sp>
        <p:nvSpPr>
          <p:cNvPr id="10" name="Text 7"/>
          <p:cNvSpPr txBox="1"/>
          <p:nvPr/>
        </p:nvSpPr>
        <p:spPr>
          <a:xfrm>
            <a:off x="3771900" y="2346960"/>
            <a:ext cx="1943100" cy="457200"/>
          </a:xfrm>
          <a:prstGeom prst="rect">
            <a:avLst/>
          </a:prstGeom>
          <a:noFill/>
          <a:ln/>
        </p:spPr>
        <p:txBody>
          <a:bodyPr wrap="square" lIns="0" tIns="0" rIns="0" bIns="0" rtlCol="0" anchor="t"/>
          <a:lstStyle/>
          <a:p>
            <a:pPr indent="0" marL="0">
              <a:buNone/>
            </a:pPr>
            <a:r>
              <a:rPr lang="en-US" sz="1700" b="1" dirty="0">
                <a:solidFill>
                  <a:schemeClr val="accent1"/>
                </a:solidFill>
                <a:latin typeface="Cambria" pitchFamily="34" charset="0"/>
                <a:ea typeface="Cambria" pitchFamily="34" charset="-122"/>
                <a:cs typeface="Cambria" pitchFamily="34" charset="-120"/>
              </a:rPr>
              <a:t>Recent tab</a:t>
            </a:r>
            <a:endParaRPr lang="en-US" sz="1700" dirty="0"/>
          </a:p>
        </p:txBody>
      </p:sp>
      <p:sp>
        <p:nvSpPr>
          <p:cNvPr id="11" name="Text 8"/>
          <p:cNvSpPr txBox="1"/>
          <p:nvPr/>
        </p:nvSpPr>
        <p:spPr>
          <a:xfrm>
            <a:off x="3771900" y="2941320"/>
            <a:ext cx="1943100" cy="2956560"/>
          </a:xfrm>
          <a:prstGeom prst="rect">
            <a:avLst/>
          </a:prstGeom>
          <a:noFill/>
          <a:ln/>
        </p:spPr>
        <p:txBody>
          <a:bodyPr wrap="square" lIns="0" tIns="0" rIns="0" bIns="0" rtlCol="0" anchor="t"/>
          <a:lstStyle/>
          <a:p>
            <a:pPr indent="0" marL="0">
              <a:buNone/>
            </a:pPr>
            <a:r>
              <a:rPr lang="en-US" sz="2800" dirty="0">
                <a:solidFill>
                  <a:schemeClr val="bg2"/>
                </a:solidFill>
              </a:rPr>
              <a:t>Switch to the last used tab</a:t>
            </a:r>
            <a:endParaRPr lang="en-US" sz="2800" dirty="0"/>
          </a:p>
        </p:txBody>
      </p:sp>
      <p:sp>
        <p:nvSpPr>
          <p:cNvPr id="12" name="Shape 9"/>
          <p:cNvSpPr/>
          <p:nvPr/>
        </p:nvSpPr>
        <p:spPr>
          <a:xfrm>
            <a:off x="6172200" y="2118360"/>
            <a:ext cx="2491740" cy="4008120"/>
          </a:xfrm>
          <a:prstGeom prst="roundRect">
            <a:avLst>
              <a:gd name="adj" fmla="val 4404"/>
            </a:avLst>
          </a:prstGeom>
          <a:solidFill>
            <a:schemeClr val="tx2"/>
          </a:solidFill>
          <a:ln w="12700">
            <a:solidFill>
              <a:srgbClr val="4A1A5E"/>
            </a:solidFill>
            <a:prstDash val="solid"/>
          </a:ln>
        </p:spPr>
      </p:sp>
      <p:sp>
        <p:nvSpPr>
          <p:cNvPr id="13" name="Text 10"/>
          <p:cNvSpPr txBox="1"/>
          <p:nvPr/>
        </p:nvSpPr>
        <p:spPr>
          <a:xfrm>
            <a:off x="6446520" y="2346960"/>
            <a:ext cx="1943100" cy="457200"/>
          </a:xfrm>
          <a:prstGeom prst="rect">
            <a:avLst/>
          </a:prstGeom>
          <a:noFill/>
          <a:ln/>
        </p:spPr>
        <p:txBody>
          <a:bodyPr wrap="square" lIns="0" tIns="0" rIns="0" bIns="0" rtlCol="0" anchor="t"/>
          <a:lstStyle/>
          <a:p>
            <a:pPr indent="0" marL="0">
              <a:buNone/>
            </a:pPr>
            <a:r>
              <a:rPr lang="en-US" sz="1700" b="1" dirty="0">
                <a:solidFill>
                  <a:schemeClr val="accent1"/>
                </a:solidFill>
                <a:latin typeface="Cambria" pitchFamily="34" charset="0"/>
                <a:ea typeface="Cambria" pitchFamily="34" charset="-122"/>
                <a:cs typeface="Cambria" pitchFamily="34" charset="-120"/>
              </a:rPr>
              <a:t>Pop-out video</a:t>
            </a:r>
            <a:endParaRPr lang="en-US" sz="1700" dirty="0"/>
          </a:p>
        </p:txBody>
      </p:sp>
      <p:sp>
        <p:nvSpPr>
          <p:cNvPr id="14" name="Text 11"/>
          <p:cNvSpPr txBox="1"/>
          <p:nvPr/>
        </p:nvSpPr>
        <p:spPr>
          <a:xfrm>
            <a:off x="6446520" y="2941320"/>
            <a:ext cx="1943100" cy="2956560"/>
          </a:xfrm>
          <a:prstGeom prst="rect">
            <a:avLst/>
          </a:prstGeom>
          <a:noFill/>
          <a:ln/>
        </p:spPr>
        <p:txBody>
          <a:bodyPr wrap="square" lIns="0" tIns="0" rIns="0" bIns="0" rtlCol="0" anchor="t"/>
          <a:lstStyle/>
          <a:p>
            <a:pPr indent="0" marL="0">
              <a:buNone/>
            </a:pPr>
            <a:r>
              <a:rPr lang="en-US" sz="2800" dirty="0">
                <a:solidFill>
                  <a:schemeClr val="bg2"/>
                </a:solidFill>
              </a:rPr>
              <a:t>Picture-in-Picture</a:t>
            </a:r>
            <a:endParaRPr lang="en-US" sz="2800" dirty="0"/>
          </a:p>
        </p:txBody>
      </p:sp>
      <p:sp>
        <p:nvSpPr>
          <p:cNvPr id="15" name="Shape 12"/>
          <p:cNvSpPr/>
          <p:nvPr/>
        </p:nvSpPr>
        <p:spPr>
          <a:xfrm>
            <a:off x="8846820" y="2118360"/>
            <a:ext cx="2491740" cy="4008120"/>
          </a:xfrm>
          <a:prstGeom prst="roundRect">
            <a:avLst>
              <a:gd name="adj" fmla="val 4404"/>
            </a:avLst>
          </a:prstGeom>
          <a:solidFill>
            <a:schemeClr val="tx2"/>
          </a:solidFill>
          <a:ln w="12700">
            <a:solidFill>
              <a:srgbClr val="4A1A5E"/>
            </a:solidFill>
            <a:prstDash val="solid"/>
          </a:ln>
        </p:spPr>
      </p:sp>
      <p:sp>
        <p:nvSpPr>
          <p:cNvPr id="16" name="Text 13"/>
          <p:cNvSpPr txBox="1"/>
          <p:nvPr/>
        </p:nvSpPr>
        <p:spPr>
          <a:xfrm>
            <a:off x="9121140" y="2346960"/>
            <a:ext cx="1943100" cy="457200"/>
          </a:xfrm>
          <a:prstGeom prst="rect">
            <a:avLst/>
          </a:prstGeom>
          <a:noFill/>
          <a:ln/>
        </p:spPr>
        <p:txBody>
          <a:bodyPr wrap="square" lIns="0" tIns="0" rIns="0" bIns="0" rtlCol="0" anchor="t"/>
          <a:lstStyle/>
          <a:p>
            <a:pPr indent="0" marL="0">
              <a:buNone/>
            </a:pPr>
            <a:r>
              <a:rPr lang="en-US" sz="1700" b="1" dirty="0">
                <a:solidFill>
                  <a:schemeClr val="accent1"/>
                </a:solidFill>
                <a:latin typeface="Cambria" pitchFamily="34" charset="0"/>
                <a:ea typeface="Cambria" pitchFamily="34" charset="-122"/>
                <a:cs typeface="Cambria" pitchFamily="34" charset="-120"/>
              </a:rPr>
              <a:t>Quick note</a:t>
            </a:r>
            <a:endParaRPr lang="en-US" sz="1700" dirty="0"/>
          </a:p>
        </p:txBody>
      </p:sp>
      <p:sp>
        <p:nvSpPr>
          <p:cNvPr id="17" name="Text 14"/>
          <p:cNvSpPr txBox="1"/>
          <p:nvPr/>
        </p:nvSpPr>
        <p:spPr>
          <a:xfrm>
            <a:off x="9121140" y="2941320"/>
            <a:ext cx="1943100" cy="2956560"/>
          </a:xfrm>
          <a:prstGeom prst="rect">
            <a:avLst/>
          </a:prstGeom>
          <a:noFill/>
          <a:ln/>
        </p:spPr>
        <p:txBody>
          <a:bodyPr wrap="square" lIns="0" tIns="0" rIns="0" bIns="0" rtlCol="0" anchor="t"/>
          <a:lstStyle/>
          <a:p>
            <a:pPr indent="0" marL="0">
              <a:buNone/>
            </a:pPr>
            <a:r>
              <a:rPr lang="en-US" sz="2800" dirty="0">
                <a:solidFill>
                  <a:schemeClr val="bg2"/>
                </a:solidFill>
              </a:rPr>
              <a:t>Save a note from the selection</a:t>
            </a:r>
            <a:endParaRPr lang="en-US" sz="28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Browser-wide audio engine</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zwire users / audio</a:t>
            </a:r>
            <a:endParaRPr lang="en-US" sz="1200" dirty="0"/>
          </a:p>
        </p:txBody>
      </p:sp>
      <p:sp>
        <p:nvSpPr>
          <p:cNvPr id="5" name="Text 2"/>
          <p:cNvSpPr txBox="1"/>
          <p:nvPr/>
        </p:nvSpPr>
        <p:spPr>
          <a:xfrm>
            <a:off x="822960" y="1463040"/>
            <a:ext cx="10515600" cy="1141095"/>
          </a:xfrm>
          <a:prstGeom prst="rect">
            <a:avLst/>
          </a:prstGeom>
          <a:noFill/>
          <a:ln/>
        </p:spPr>
        <p:txBody>
          <a:bodyPr wrap="square" lIns="0" tIns="0" rIns="0" bIns="0" rtlCol="0" anchor="t"/>
          <a:lstStyle/>
          <a:p>
            <a:pPr indent="0" marL="0">
              <a:buNone/>
            </a:pPr>
            <a:r>
              <a:rPr lang="en-US" sz="2300" dirty="0">
                <a:solidFill>
                  <a:schemeClr val="bg2"/>
                </a:solidFill>
              </a:rPr>
              <a:t>An always-on zdsp-core chain is compiled into the audio service, so every stream is processed before the OS device, live-reconfigurable with nothing open.</a:t>
            </a:r>
            <a:endParaRPr lang="en-US" sz="2300" dirty="0"/>
          </a:p>
        </p:txBody>
      </p:sp>
      <p:sp>
        <p:nvSpPr>
          <p:cNvPr id="6" name="Shape 3"/>
          <p:cNvSpPr/>
          <p:nvPr/>
        </p:nvSpPr>
        <p:spPr>
          <a:xfrm>
            <a:off x="822960" y="2832735"/>
            <a:ext cx="2491740" cy="3293745"/>
          </a:xfrm>
          <a:prstGeom prst="roundRect">
            <a:avLst>
              <a:gd name="adj" fmla="val 4404"/>
            </a:avLst>
          </a:prstGeom>
          <a:solidFill>
            <a:schemeClr val="tx2"/>
          </a:solidFill>
          <a:ln w="12700">
            <a:solidFill>
              <a:srgbClr val="4A1A5E"/>
            </a:solidFill>
            <a:prstDash val="solid"/>
          </a:ln>
        </p:spPr>
      </p:sp>
      <p:sp>
        <p:nvSpPr>
          <p:cNvPr id="7" name="Text 4"/>
          <p:cNvSpPr txBox="1"/>
          <p:nvPr/>
        </p:nvSpPr>
        <p:spPr>
          <a:xfrm>
            <a:off x="1097280" y="3061335"/>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EQ</a:t>
            </a:r>
            <a:endParaRPr lang="en-US" sz="2600" dirty="0"/>
          </a:p>
        </p:txBody>
      </p:sp>
      <p:sp>
        <p:nvSpPr>
          <p:cNvPr id="8" name="Text 5"/>
          <p:cNvSpPr txBox="1"/>
          <p:nvPr/>
        </p:nvSpPr>
        <p:spPr>
          <a:xfrm>
            <a:off x="1097280" y="3655695"/>
            <a:ext cx="1943100" cy="2242185"/>
          </a:xfrm>
          <a:prstGeom prst="rect">
            <a:avLst/>
          </a:prstGeom>
          <a:noFill/>
          <a:ln/>
        </p:spPr>
        <p:txBody>
          <a:bodyPr wrap="square" lIns="0" tIns="0" rIns="0" bIns="0" rtlCol="0" anchor="t"/>
          <a:lstStyle/>
          <a:p>
            <a:pPr indent="0" marL="0">
              <a:buNone/>
            </a:pPr>
            <a:r>
              <a:rPr lang="en-US" sz="2800" dirty="0">
                <a:solidFill>
                  <a:schemeClr val="bg2"/>
                </a:solidFill>
              </a:rPr>
              <a:t>Preamp plus an RBJ biquad cascade</a:t>
            </a:r>
            <a:endParaRPr lang="en-US" sz="2800" dirty="0"/>
          </a:p>
        </p:txBody>
      </p:sp>
      <p:sp>
        <p:nvSpPr>
          <p:cNvPr id="9" name="Shape 6"/>
          <p:cNvSpPr/>
          <p:nvPr/>
        </p:nvSpPr>
        <p:spPr>
          <a:xfrm>
            <a:off x="3497580" y="2832735"/>
            <a:ext cx="2491740" cy="3293745"/>
          </a:xfrm>
          <a:prstGeom prst="roundRect">
            <a:avLst>
              <a:gd name="adj" fmla="val 4404"/>
            </a:avLst>
          </a:prstGeom>
          <a:solidFill>
            <a:schemeClr val="tx2"/>
          </a:solidFill>
          <a:ln w="12700">
            <a:solidFill>
              <a:srgbClr val="4A1A5E"/>
            </a:solidFill>
            <a:prstDash val="solid"/>
          </a:ln>
        </p:spPr>
      </p:sp>
      <p:sp>
        <p:nvSpPr>
          <p:cNvPr id="10" name="Text 7"/>
          <p:cNvSpPr txBox="1"/>
          <p:nvPr/>
        </p:nvSpPr>
        <p:spPr>
          <a:xfrm>
            <a:off x="3771900" y="3061335"/>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Strip</a:t>
            </a:r>
            <a:endParaRPr lang="en-US" sz="2600" dirty="0"/>
          </a:p>
        </p:txBody>
      </p:sp>
      <p:sp>
        <p:nvSpPr>
          <p:cNvPr id="11" name="Text 8"/>
          <p:cNvSpPr txBox="1"/>
          <p:nvPr/>
        </p:nvSpPr>
        <p:spPr>
          <a:xfrm>
            <a:off x="3771900" y="3655695"/>
            <a:ext cx="1943100" cy="2242185"/>
          </a:xfrm>
          <a:prstGeom prst="rect">
            <a:avLst/>
          </a:prstGeom>
          <a:noFill/>
          <a:ln/>
        </p:spPr>
        <p:txBody>
          <a:bodyPr wrap="square" lIns="0" tIns="0" rIns="0" bIns="0" rtlCol="0" anchor="t"/>
          <a:lstStyle/>
          <a:p>
            <a:pPr indent="0" marL="0">
              <a:buNone/>
            </a:pPr>
            <a:r>
              <a:rPr lang="en-US" sz="2800" dirty="0">
                <a:solidFill>
                  <a:schemeClr val="bg2"/>
                </a:solidFill>
              </a:rPr>
              <a:t>Gain, drive, pan, mono-fold</a:t>
            </a:r>
            <a:endParaRPr lang="en-US" sz="2800" dirty="0"/>
          </a:p>
        </p:txBody>
      </p:sp>
      <p:sp>
        <p:nvSpPr>
          <p:cNvPr id="12" name="Shape 9"/>
          <p:cNvSpPr/>
          <p:nvPr/>
        </p:nvSpPr>
        <p:spPr>
          <a:xfrm>
            <a:off x="6172200" y="2832735"/>
            <a:ext cx="2491740" cy="3293745"/>
          </a:xfrm>
          <a:prstGeom prst="roundRect">
            <a:avLst>
              <a:gd name="adj" fmla="val 4404"/>
            </a:avLst>
          </a:prstGeom>
          <a:solidFill>
            <a:schemeClr val="tx2"/>
          </a:solidFill>
          <a:ln w="12700">
            <a:solidFill>
              <a:srgbClr val="4A1A5E"/>
            </a:solidFill>
            <a:prstDash val="solid"/>
          </a:ln>
        </p:spPr>
      </p:sp>
      <p:sp>
        <p:nvSpPr>
          <p:cNvPr id="13" name="Text 10"/>
          <p:cNvSpPr txBox="1"/>
          <p:nvPr/>
        </p:nvSpPr>
        <p:spPr>
          <a:xfrm>
            <a:off x="6446520" y="3061335"/>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Dynamics</a:t>
            </a:r>
            <a:endParaRPr lang="en-US" sz="2600" dirty="0"/>
          </a:p>
        </p:txBody>
      </p:sp>
      <p:sp>
        <p:nvSpPr>
          <p:cNvPr id="14" name="Text 11"/>
          <p:cNvSpPr txBox="1"/>
          <p:nvPr/>
        </p:nvSpPr>
        <p:spPr>
          <a:xfrm>
            <a:off x="6446520" y="3655695"/>
            <a:ext cx="1943100" cy="2242185"/>
          </a:xfrm>
          <a:prstGeom prst="rect">
            <a:avLst/>
          </a:prstGeom>
          <a:noFill/>
          <a:ln/>
        </p:spPr>
        <p:txBody>
          <a:bodyPr wrap="square" lIns="0" tIns="0" rIns="0" bIns="0" rtlCol="0" anchor="t"/>
          <a:lstStyle/>
          <a:p>
            <a:pPr indent="0" marL="0">
              <a:buNone/>
            </a:pPr>
            <a:r>
              <a:rPr lang="en-US" sz="2800" dirty="0">
                <a:solidFill>
                  <a:schemeClr val="bg2"/>
                </a:solidFill>
              </a:rPr>
              <a:t>Saturation and a brickwall limiter</a:t>
            </a:r>
            <a:endParaRPr lang="en-US" sz="2800" dirty="0"/>
          </a:p>
        </p:txBody>
      </p:sp>
      <p:sp>
        <p:nvSpPr>
          <p:cNvPr id="15" name="Shape 12"/>
          <p:cNvSpPr/>
          <p:nvPr/>
        </p:nvSpPr>
        <p:spPr>
          <a:xfrm>
            <a:off x="8846820" y="2832735"/>
            <a:ext cx="2491740" cy="3293745"/>
          </a:xfrm>
          <a:prstGeom prst="roundRect">
            <a:avLst>
              <a:gd name="adj" fmla="val 4404"/>
            </a:avLst>
          </a:prstGeom>
          <a:solidFill>
            <a:schemeClr val="tx2"/>
          </a:solidFill>
          <a:ln w="12700">
            <a:solidFill>
              <a:srgbClr val="4A1A5E"/>
            </a:solidFill>
            <a:prstDash val="solid"/>
          </a:ln>
        </p:spPr>
      </p:sp>
      <p:sp>
        <p:nvSpPr>
          <p:cNvPr id="16" name="Text 13"/>
          <p:cNvSpPr txBox="1"/>
          <p:nvPr/>
        </p:nvSpPr>
        <p:spPr>
          <a:xfrm>
            <a:off x="9121140" y="3061335"/>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FX</a:t>
            </a:r>
            <a:endParaRPr lang="en-US" sz="2600" dirty="0"/>
          </a:p>
        </p:txBody>
      </p:sp>
      <p:sp>
        <p:nvSpPr>
          <p:cNvPr id="17" name="Text 14"/>
          <p:cNvSpPr txBox="1"/>
          <p:nvPr/>
        </p:nvSpPr>
        <p:spPr>
          <a:xfrm>
            <a:off x="9121140" y="3655695"/>
            <a:ext cx="1943100" cy="2242185"/>
          </a:xfrm>
          <a:prstGeom prst="rect">
            <a:avLst/>
          </a:prstGeom>
          <a:noFill/>
          <a:ln/>
        </p:spPr>
        <p:txBody>
          <a:bodyPr wrap="square" lIns="0" tIns="0" rIns="0" bIns="0" rtlCol="0" anchor="t"/>
          <a:lstStyle/>
          <a:p>
            <a:pPr indent="0" marL="0">
              <a:buNone/>
            </a:pPr>
            <a:r>
              <a:rPr lang="en-US" sz="2800" dirty="0">
                <a:solidFill>
                  <a:schemeClr val="bg2"/>
                </a:solidFill>
              </a:rPr>
              <a:t>Modulation, time and spatial effects</a:t>
            </a:r>
            <a:endParaRPr lang="en-US" sz="28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Audio HUD page</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zwire users / audio</a:t>
            </a:r>
            <a:endParaRPr lang="en-US" sz="1200" dirty="0"/>
          </a:p>
        </p:txBody>
      </p:sp>
      <p:sp>
        <p:nvSpPr>
          <p:cNvPr id="5" name="Text 2"/>
          <p:cNvSpPr txBox="1"/>
          <p:nvPr/>
        </p:nvSpPr>
        <p:spPr>
          <a:xfrm>
            <a:off x="822960" y="1463040"/>
            <a:ext cx="10515600" cy="426720"/>
          </a:xfrm>
          <a:prstGeom prst="rect">
            <a:avLst/>
          </a:prstGeom>
          <a:noFill/>
          <a:ln/>
        </p:spPr>
        <p:txBody>
          <a:bodyPr wrap="square" lIns="0" tIns="0" rIns="0" bIns="0" rtlCol="0" anchor="t"/>
          <a:lstStyle/>
          <a:p>
            <a:pPr indent="0" marL="0">
              <a:buNone/>
            </a:pPr>
            <a:r>
              <a:rPr lang="en-US" sz="2400" dirty="0">
                <a:solidFill>
                  <a:schemeClr val="bg2"/>
                </a:solidFill>
              </a:rPr>
              <a:t>A live dashboard over the engine with real post-DSP output.</a:t>
            </a:r>
            <a:endParaRPr lang="en-US" sz="2400" dirty="0"/>
          </a:p>
        </p:txBody>
      </p:sp>
      <p:sp>
        <p:nvSpPr>
          <p:cNvPr id="6" name="Shape 3"/>
          <p:cNvSpPr/>
          <p:nvPr/>
        </p:nvSpPr>
        <p:spPr>
          <a:xfrm>
            <a:off x="822960" y="2118360"/>
            <a:ext cx="2491740" cy="4008120"/>
          </a:xfrm>
          <a:prstGeom prst="roundRect">
            <a:avLst>
              <a:gd name="adj" fmla="val 4404"/>
            </a:avLst>
          </a:prstGeom>
          <a:solidFill>
            <a:schemeClr val="tx2"/>
          </a:solidFill>
          <a:ln w="12700">
            <a:solidFill>
              <a:srgbClr val="4A1A5E"/>
            </a:solidFill>
            <a:prstDash val="solid"/>
          </a:ln>
        </p:spPr>
      </p:sp>
      <p:sp>
        <p:nvSpPr>
          <p:cNvPr id="7" name="Text 4"/>
          <p:cNvSpPr txBox="1"/>
          <p:nvPr/>
        </p:nvSpPr>
        <p:spPr>
          <a:xfrm>
            <a:off x="1097280" y="2346960"/>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Spectrum</a:t>
            </a:r>
            <a:endParaRPr lang="en-US" sz="2600" dirty="0"/>
          </a:p>
        </p:txBody>
      </p:sp>
      <p:sp>
        <p:nvSpPr>
          <p:cNvPr id="8" name="Text 5"/>
          <p:cNvSpPr txBox="1"/>
          <p:nvPr/>
        </p:nvSpPr>
        <p:spPr>
          <a:xfrm>
            <a:off x="1097280" y="2941320"/>
            <a:ext cx="1943100" cy="2956560"/>
          </a:xfrm>
          <a:prstGeom prst="rect">
            <a:avLst/>
          </a:prstGeom>
          <a:noFill/>
          <a:ln/>
        </p:spPr>
        <p:txBody>
          <a:bodyPr wrap="square" lIns="0" tIns="0" rIns="0" bIns="0" rtlCol="0" anchor="t"/>
          <a:lstStyle/>
          <a:p>
            <a:pPr indent="0" marL="0">
              <a:buNone/>
            </a:pPr>
            <a:r>
              <a:rPr lang="en-US" sz="2800" dirty="0">
                <a:solidFill>
                  <a:schemeClr val="bg2"/>
                </a:solidFill>
              </a:rPr>
              <a:t>Goertzel spectrum bars</a:t>
            </a:r>
            <a:endParaRPr lang="en-US" sz="2800" dirty="0"/>
          </a:p>
        </p:txBody>
      </p:sp>
      <p:sp>
        <p:nvSpPr>
          <p:cNvPr id="9" name="Shape 6"/>
          <p:cNvSpPr/>
          <p:nvPr/>
        </p:nvSpPr>
        <p:spPr>
          <a:xfrm>
            <a:off x="3497580" y="2118360"/>
            <a:ext cx="2491740" cy="4008120"/>
          </a:xfrm>
          <a:prstGeom prst="roundRect">
            <a:avLst>
              <a:gd name="adj" fmla="val 4404"/>
            </a:avLst>
          </a:prstGeom>
          <a:solidFill>
            <a:schemeClr val="tx2"/>
          </a:solidFill>
          <a:ln w="12700">
            <a:solidFill>
              <a:srgbClr val="4A1A5E"/>
            </a:solidFill>
            <a:prstDash val="solid"/>
          </a:ln>
        </p:spPr>
      </p:sp>
      <p:sp>
        <p:nvSpPr>
          <p:cNvPr id="10" name="Text 7"/>
          <p:cNvSpPr txBox="1"/>
          <p:nvPr/>
        </p:nvSpPr>
        <p:spPr>
          <a:xfrm>
            <a:off x="3771900" y="2346960"/>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Meters</a:t>
            </a:r>
            <a:endParaRPr lang="en-US" sz="2600" dirty="0"/>
          </a:p>
        </p:txBody>
      </p:sp>
      <p:sp>
        <p:nvSpPr>
          <p:cNvPr id="11" name="Text 8"/>
          <p:cNvSpPr txBox="1"/>
          <p:nvPr/>
        </p:nvSpPr>
        <p:spPr>
          <a:xfrm>
            <a:off x="3771900" y="2941320"/>
            <a:ext cx="1943100" cy="2956560"/>
          </a:xfrm>
          <a:prstGeom prst="rect">
            <a:avLst/>
          </a:prstGeom>
          <a:noFill/>
          <a:ln/>
        </p:spPr>
        <p:txBody>
          <a:bodyPr wrap="square" lIns="0" tIns="0" rIns="0" bIns="0" rtlCol="0" anchor="t"/>
          <a:lstStyle/>
          <a:p>
            <a:pPr indent="0" marL="0">
              <a:buNone/>
            </a:pPr>
            <a:r>
              <a:rPr lang="en-US" sz="2800" dirty="0">
                <a:solidFill>
                  <a:schemeClr val="bg2"/>
                </a:solidFill>
              </a:rPr>
              <a:t>Peak and RMS</a:t>
            </a:r>
            <a:endParaRPr lang="en-US" sz="2800" dirty="0"/>
          </a:p>
        </p:txBody>
      </p:sp>
      <p:sp>
        <p:nvSpPr>
          <p:cNvPr id="12" name="Shape 9"/>
          <p:cNvSpPr/>
          <p:nvPr/>
        </p:nvSpPr>
        <p:spPr>
          <a:xfrm>
            <a:off x="6172200" y="2118360"/>
            <a:ext cx="2491740" cy="4008120"/>
          </a:xfrm>
          <a:prstGeom prst="roundRect">
            <a:avLst>
              <a:gd name="adj" fmla="val 4404"/>
            </a:avLst>
          </a:prstGeom>
          <a:solidFill>
            <a:schemeClr val="tx2"/>
          </a:solidFill>
          <a:ln w="12700">
            <a:solidFill>
              <a:srgbClr val="4A1A5E"/>
            </a:solidFill>
            <a:prstDash val="solid"/>
          </a:ln>
        </p:spPr>
      </p:sp>
      <p:sp>
        <p:nvSpPr>
          <p:cNvPr id="13" name="Text 10"/>
          <p:cNvSpPr txBox="1"/>
          <p:nvPr/>
        </p:nvSpPr>
        <p:spPr>
          <a:xfrm>
            <a:off x="6446520" y="2346960"/>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Capture</a:t>
            </a:r>
            <a:endParaRPr lang="en-US" sz="2600" dirty="0"/>
          </a:p>
        </p:txBody>
      </p:sp>
      <p:sp>
        <p:nvSpPr>
          <p:cNvPr id="14" name="Text 11"/>
          <p:cNvSpPr txBox="1"/>
          <p:nvPr/>
        </p:nvSpPr>
        <p:spPr>
          <a:xfrm>
            <a:off x="6446520" y="2941320"/>
            <a:ext cx="1943100" cy="2956560"/>
          </a:xfrm>
          <a:prstGeom prst="rect">
            <a:avLst/>
          </a:prstGeom>
          <a:noFill/>
          <a:ln/>
        </p:spPr>
        <p:txBody>
          <a:bodyPr wrap="square" lIns="0" tIns="0" rIns="0" bIns="0" rtlCol="0" anchor="t"/>
          <a:lstStyle/>
          <a:p>
            <a:pPr indent="0" marL="0">
              <a:buNone/>
            </a:pPr>
            <a:r>
              <a:rPr lang="en-US" sz="2800" dirty="0">
                <a:solidFill>
                  <a:schemeClr val="bg2"/>
                </a:solidFill>
              </a:rPr>
              <a:t>Tab capture with no picker</a:t>
            </a:r>
            <a:endParaRPr lang="en-US" sz="2800" dirty="0"/>
          </a:p>
        </p:txBody>
      </p:sp>
      <p:sp>
        <p:nvSpPr>
          <p:cNvPr id="15" name="Shape 12"/>
          <p:cNvSpPr/>
          <p:nvPr/>
        </p:nvSpPr>
        <p:spPr>
          <a:xfrm>
            <a:off x="8846820" y="2118360"/>
            <a:ext cx="2491740" cy="4008120"/>
          </a:xfrm>
          <a:prstGeom prst="roundRect">
            <a:avLst>
              <a:gd name="adj" fmla="val 4404"/>
            </a:avLst>
          </a:prstGeom>
          <a:solidFill>
            <a:schemeClr val="tx2"/>
          </a:solidFill>
          <a:ln w="12700">
            <a:solidFill>
              <a:srgbClr val="4A1A5E"/>
            </a:solidFill>
            <a:prstDash val="solid"/>
          </a:ln>
        </p:spPr>
      </p:sp>
      <p:sp>
        <p:nvSpPr>
          <p:cNvPr id="16" name="Text 13"/>
          <p:cNvSpPr txBox="1"/>
          <p:nvPr/>
        </p:nvSpPr>
        <p:spPr>
          <a:xfrm>
            <a:off x="9121140" y="2346960"/>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Live</a:t>
            </a:r>
            <a:endParaRPr lang="en-US" sz="2600" dirty="0"/>
          </a:p>
        </p:txBody>
      </p:sp>
      <p:sp>
        <p:nvSpPr>
          <p:cNvPr id="17" name="Text 14"/>
          <p:cNvSpPr txBox="1"/>
          <p:nvPr/>
        </p:nvSpPr>
        <p:spPr>
          <a:xfrm>
            <a:off x="9121140" y="2941320"/>
            <a:ext cx="1943100" cy="2956560"/>
          </a:xfrm>
          <a:prstGeom prst="rect">
            <a:avLst/>
          </a:prstGeom>
          <a:noFill/>
          <a:ln/>
        </p:spPr>
        <p:txBody>
          <a:bodyPr wrap="square" lIns="0" tIns="0" rIns="0" bIns="0" rtlCol="0" anchor="t"/>
          <a:lstStyle/>
          <a:p>
            <a:pPr indent="0" marL="0">
              <a:buNone/>
            </a:pPr>
            <a:r>
              <a:rPr lang="en-US" sz="2800" dirty="0">
                <a:solidFill>
                  <a:schemeClr val="bg2"/>
                </a:solidFill>
              </a:rPr>
              <a:t>Reconfigures without a restart</a:t>
            </a:r>
            <a:endParaRPr lang="en-US" sz="28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Audio chain stages</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zwire users / audio</a:t>
            </a:r>
            <a:endParaRPr lang="en-US" sz="1200" dirty="0"/>
          </a:p>
        </p:txBody>
      </p:sp>
      <p:sp>
        <p:nvSpPr>
          <p:cNvPr id="5" name="Text 2"/>
          <p:cNvSpPr txBox="1"/>
          <p:nvPr/>
        </p:nvSpPr>
        <p:spPr>
          <a:xfrm>
            <a:off x="822960" y="1463040"/>
            <a:ext cx="10515600" cy="807720"/>
          </a:xfrm>
          <a:prstGeom prst="rect">
            <a:avLst/>
          </a:prstGeom>
          <a:noFill/>
          <a:ln/>
        </p:spPr>
        <p:txBody>
          <a:bodyPr wrap="square" lIns="0" tIns="0" rIns="0" bIns="0" rtlCol="0" anchor="t"/>
          <a:lstStyle/>
          <a:p>
            <a:pPr indent="0" marL="0">
              <a:buNone/>
            </a:pPr>
            <a:r>
              <a:rPr lang="en-US" sz="2400" dirty="0">
                <a:solidFill>
                  <a:schemeClr val="bg2"/>
                </a:solidFill>
              </a:rPr>
              <a:t>The zdsp-core chain, stage by stage, with the limiter dead last so nothing re-clips.</a:t>
            </a:r>
            <a:endParaRPr lang="en-US" sz="24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822960" y="2499360"/>
          <a:ext cx="10515600" cy="914400"/>
        </p:xfrm>
        <a:graphic>
          <a:graphicData uri="http://schemas.openxmlformats.org/drawingml/2006/table">
            <a:tbl>
              <a:tblPr/>
              <a:tblGrid>
                <a:gridCol w="3108960"/>
                <a:gridCol w="7406640"/>
              </a:tblGrid>
              <a:tr h="453390">
                <a:tc>
                  <a:txBody>
                    <a:bodyPr/>
                    <a:lstStyle/>
                    <a:p>
                      <a:pPr indent="0" marL="0">
                        <a:buNone/>
                      </a:pPr>
                      <a:r>
                        <a:rPr lang="en-US" sz="1700" b="1" dirty="0">
                          <a:solidFill>
                            <a:schemeClr val="accent1"/>
                          </a:solidFill>
                        </a:rPr>
                        <a:t>Stage</a:t>
                      </a:r>
                      <a:endParaRPr lang="en-US" sz="17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c>
                  <a:txBody>
                    <a:bodyPr/>
                    <a:lstStyle/>
                    <a:p>
                      <a:pPr indent="0" marL="0">
                        <a:buNone/>
                      </a:pPr>
                      <a:r>
                        <a:rPr lang="en-US" sz="1700" b="1" dirty="0">
                          <a:solidFill>
                            <a:schemeClr val="accent1"/>
                          </a:solidFill>
                        </a:rPr>
                        <a:t>Contents</a:t>
                      </a:r>
                      <a:endParaRPr lang="en-US" sz="17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r>
              <a:tr h="453390">
                <a:tc>
                  <a:txBody>
                    <a:bodyPr/>
                    <a:lstStyle/>
                    <a:p>
                      <a:pPr indent="0" marL="0">
                        <a:buNone/>
                      </a:pPr>
                      <a:r>
                        <a:rPr lang="en-US" sz="1700" dirty="0">
                          <a:solidFill>
                            <a:schemeClr val="bg2"/>
                          </a:solidFill>
                        </a:rPr>
                        <a:t>EQ</a:t>
                      </a:r>
                      <a:endParaRPr lang="en-US" sz="17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c>
                  <a:txBody>
                    <a:bodyPr/>
                    <a:lstStyle/>
                    <a:p>
                      <a:pPr indent="0" marL="0">
                        <a:buNone/>
                      </a:pPr>
                      <a:r>
                        <a:rPr lang="en-US" sz="1700" dirty="0">
                          <a:solidFill>
                            <a:schemeClr val="bg2"/>
                          </a:solidFill>
                        </a:rPr>
                        <a:t>Preamp plus an RBJ-biquad cascade: lowshelf, peaking and more</a:t>
                      </a:r>
                      <a:endParaRPr lang="en-US" sz="17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r>
              <a:tr h="453390">
                <a:tc>
                  <a:txBody>
                    <a:bodyPr/>
                    <a:lstStyle/>
                    <a:p>
                      <a:pPr indent="0" marL="0">
                        <a:buNone/>
                      </a:pPr>
                      <a:r>
                        <a:rPr lang="en-US" sz="1700" dirty="0">
                          <a:solidFill>
                            <a:schemeClr val="bg2"/>
                          </a:solidFill>
                        </a:rPr>
                        <a:t>Channel strip</a:t>
                      </a:r>
                      <a:endParaRPr lang="en-US" sz="17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c>
                  <a:txBody>
                    <a:bodyPr/>
                    <a:lstStyle/>
                    <a:p>
                      <a:pPr indent="0" marL="0">
                        <a:buNone/>
                      </a:pPr>
                      <a:r>
                        <a:rPr lang="en-US" sz="1700" dirty="0">
                          <a:solidFill>
                            <a:schemeClr val="bg2"/>
                          </a:solidFill>
                        </a:rPr>
                        <a:t>Gain, drive (tanh soft-clip), equal-power pan, mono-fold</a:t>
                      </a:r>
                      <a:endParaRPr lang="en-US" sz="17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r>
              <a:tr h="453390">
                <a:tc>
                  <a:txBody>
                    <a:bodyPr/>
                    <a:lstStyle/>
                    <a:p>
                      <a:pPr indent="0" marL="0">
                        <a:buNone/>
                      </a:pPr>
                      <a:r>
                        <a:rPr lang="en-US" sz="1700" dirty="0">
                          <a:solidFill>
                            <a:schemeClr val="bg2"/>
                          </a:solidFill>
                        </a:rPr>
                        <a:t>Saturation and dynamics</a:t>
                      </a:r>
                      <a:endParaRPr lang="en-US" sz="17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c>
                  <a:txBody>
                    <a:bodyPr/>
                    <a:lstStyle/>
                    <a:p>
                      <a:pPr indent="0" marL="0">
                        <a:buNone/>
                      </a:pPr>
                      <a:r>
                        <a:rPr lang="en-US" sz="1700" dirty="0">
                          <a:solidFill>
                            <a:schemeClr val="bg2"/>
                          </a:solidFill>
                        </a:rPr>
                        <a:t>Waveshaper (arctan, foldback, hard-clip), harmonic stages</a:t>
                      </a:r>
                      <a:endParaRPr lang="en-US" sz="17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r>
              <a:tr h="453390">
                <a:tc>
                  <a:txBody>
                    <a:bodyPr/>
                    <a:lstStyle/>
                    <a:p>
                      <a:pPr indent="0" marL="0">
                        <a:buNone/>
                      </a:pPr>
                      <a:r>
                        <a:rPr lang="en-US" sz="1700" dirty="0">
                          <a:solidFill>
                            <a:schemeClr val="bg2"/>
                          </a:solidFill>
                        </a:rPr>
                        <a:t>Modulation</a:t>
                      </a:r>
                      <a:endParaRPr lang="en-US" sz="17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c>
                  <a:txBody>
                    <a:bodyPr/>
                    <a:lstStyle/>
                    <a:p>
                      <a:pPr indent="0" marL="0">
                        <a:buNone/>
                      </a:pPr>
                      <a:r>
                        <a:rPr lang="en-US" sz="1700" dirty="0">
                          <a:solidFill>
                            <a:schemeClr val="bg2"/>
                          </a:solidFill>
                        </a:rPr>
                        <a:t>Chorus, flanger with feedback, phaser</a:t>
                      </a:r>
                      <a:endParaRPr lang="en-US" sz="17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r>
              <a:tr h="453390">
                <a:tc>
                  <a:txBody>
                    <a:bodyPr/>
                    <a:lstStyle/>
                    <a:p>
                      <a:pPr indent="0" marL="0">
                        <a:buNone/>
                      </a:pPr>
                      <a:r>
                        <a:rPr lang="en-US" sz="1700" dirty="0">
                          <a:solidFill>
                            <a:schemeClr val="bg2"/>
                          </a:solidFill>
                        </a:rPr>
                        <a:t>Time</a:t>
                      </a:r>
                      <a:endParaRPr lang="en-US" sz="17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c>
                  <a:txBody>
                    <a:bodyPr/>
                    <a:lstStyle/>
                    <a:p>
                      <a:pPr indent="0" marL="0">
                        <a:buNone/>
                      </a:pPr>
                      <a:r>
                        <a:rPr lang="en-US" sz="1700" dirty="0">
                          <a:solidFill>
                            <a:schemeClr val="bg2"/>
                          </a:solidFill>
                        </a:rPr>
                        <a:t>Stereo feedback delay and a reduced-Freeverb reverb</a:t>
                      </a:r>
                      <a:endParaRPr lang="en-US" sz="17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r>
              <a:tr h="453390">
                <a:tc>
                  <a:txBody>
                    <a:bodyPr/>
                    <a:lstStyle/>
                    <a:p>
                      <a:pPr indent="0" marL="0">
                        <a:buNone/>
                      </a:pPr>
                      <a:r>
                        <a:rPr lang="en-US" sz="1700" dirty="0">
                          <a:solidFill>
                            <a:schemeClr val="bg2"/>
                          </a:solidFill>
                        </a:rPr>
                        <a:t>Spatial</a:t>
                      </a:r>
                      <a:endParaRPr lang="en-US" sz="17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c>
                  <a:txBody>
                    <a:bodyPr/>
                    <a:lstStyle/>
                    <a:p>
                      <a:pPr indent="0" marL="0">
                        <a:buNone/>
                      </a:pPr>
                      <a:r>
                        <a:rPr lang="en-US" sz="1700" dirty="0">
                          <a:solidFill>
                            <a:schemeClr val="bg2"/>
                          </a:solidFill>
                        </a:rPr>
                        <a:t>Haas widener, headphone cross-feed, auto-pan</a:t>
                      </a:r>
                      <a:endParaRPr lang="en-US" sz="17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r>
              <a:tr h="453390">
                <a:tc>
                  <a:txBody>
                    <a:bodyPr/>
                    <a:lstStyle/>
                    <a:p>
                      <a:pPr indent="0" marL="0">
                        <a:buNone/>
                      </a:pPr>
                      <a:r>
                        <a:rPr lang="en-US" sz="1700" dirty="0">
                          <a:solidFill>
                            <a:schemeClr val="bg2"/>
                          </a:solidFill>
                        </a:rPr>
                        <a:t>Limiter</a:t>
                      </a:r>
                      <a:endParaRPr lang="en-US" sz="17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c>
                  <a:txBody>
                    <a:bodyPr/>
                    <a:lstStyle/>
                    <a:p>
                      <a:pPr indent="0" marL="0">
                        <a:buNone/>
                      </a:pPr>
                      <a:r>
                        <a:rPr lang="en-US" sz="1700" dirty="0">
                          <a:solidFill>
                            <a:schemeClr val="bg2"/>
                          </a:solidFill>
                        </a:rPr>
                        <a:t>Brickwall peak limiter</a:t>
                      </a:r>
                      <a:endParaRPr lang="en-US" sz="17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Host console and App Store</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zwire users / host</a:t>
            </a:r>
            <a:endParaRPr lang="en-US" sz="1200" dirty="0"/>
          </a:p>
        </p:txBody>
      </p:sp>
      <p:sp>
        <p:nvSpPr>
          <p:cNvPr id="5" name="Text 2"/>
          <p:cNvSpPr txBox="1"/>
          <p:nvPr/>
        </p:nvSpPr>
        <p:spPr>
          <a:xfrm>
            <a:off x="822960" y="1463040"/>
            <a:ext cx="10515600" cy="426720"/>
          </a:xfrm>
          <a:prstGeom prst="rect">
            <a:avLst/>
          </a:prstGeom>
          <a:noFill/>
          <a:ln/>
        </p:spPr>
        <p:txBody>
          <a:bodyPr wrap="square" lIns="0" tIns="0" rIns="0" bIns="0" rtlCol="0" anchor="t"/>
          <a:lstStyle/>
          <a:p>
            <a:pPr indent="0" marL="0">
              <a:buNone/>
            </a:pPr>
            <a:r>
              <a:rPr lang="en-US" sz="2400" dirty="0">
                <a:solidFill>
                  <a:schemeClr val="bg2"/>
                </a:solidFill>
              </a:rPr>
              <a:t>Two HUD pages connect the browser to the rest of the suite.</a:t>
            </a:r>
            <a:endParaRPr lang="en-US" sz="2400" dirty="0"/>
          </a:p>
        </p:txBody>
      </p:sp>
      <p:sp>
        <p:nvSpPr>
          <p:cNvPr id="6" name="Shape 3"/>
          <p:cNvSpPr/>
          <p:nvPr/>
        </p:nvSpPr>
        <p:spPr>
          <a:xfrm>
            <a:off x="822960" y="2118360"/>
            <a:ext cx="2491740" cy="4008120"/>
          </a:xfrm>
          <a:prstGeom prst="roundRect">
            <a:avLst>
              <a:gd name="adj" fmla="val 4404"/>
            </a:avLst>
          </a:prstGeom>
          <a:solidFill>
            <a:schemeClr val="tx2"/>
          </a:solidFill>
          <a:ln w="12700">
            <a:solidFill>
              <a:srgbClr val="4A1A5E"/>
            </a:solidFill>
            <a:prstDash val="solid"/>
          </a:ln>
        </p:spPr>
      </p:sp>
      <p:sp>
        <p:nvSpPr>
          <p:cNvPr id="7" name="Text 4"/>
          <p:cNvSpPr txBox="1"/>
          <p:nvPr/>
        </p:nvSpPr>
        <p:spPr>
          <a:xfrm>
            <a:off x="1097280" y="2346960"/>
            <a:ext cx="1943100" cy="45720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Host console</a:t>
            </a:r>
            <a:endParaRPr lang="en-US" sz="1800" dirty="0"/>
          </a:p>
        </p:txBody>
      </p:sp>
      <p:sp>
        <p:nvSpPr>
          <p:cNvPr id="8" name="Text 5"/>
          <p:cNvSpPr txBox="1"/>
          <p:nvPr/>
        </p:nvSpPr>
        <p:spPr>
          <a:xfrm>
            <a:off x="1097280" y="2941320"/>
            <a:ext cx="1943100" cy="2956560"/>
          </a:xfrm>
          <a:prstGeom prst="rect">
            <a:avLst/>
          </a:prstGeom>
          <a:noFill/>
          <a:ln/>
        </p:spPr>
        <p:txBody>
          <a:bodyPr wrap="square" lIns="0" tIns="0" rIns="0" bIns="0" rtlCol="0" anchor="t"/>
          <a:lstStyle/>
          <a:p>
            <a:pPr indent="0" marL="0">
              <a:buNone/>
            </a:pPr>
            <a:r>
              <a:rPr lang="en-US" sz="2300" dirty="0">
                <a:solidFill>
                  <a:schemeClr val="bg2"/>
                </a:solidFill>
              </a:rPr>
              <a:t>A HUD tab that talks to the zwire-host native agent</a:t>
            </a:r>
            <a:endParaRPr lang="en-US" sz="2300" dirty="0"/>
          </a:p>
        </p:txBody>
      </p:sp>
      <p:sp>
        <p:nvSpPr>
          <p:cNvPr id="9" name="Shape 6"/>
          <p:cNvSpPr/>
          <p:nvPr/>
        </p:nvSpPr>
        <p:spPr>
          <a:xfrm>
            <a:off x="3497580" y="2118360"/>
            <a:ext cx="2491740" cy="4008120"/>
          </a:xfrm>
          <a:prstGeom prst="roundRect">
            <a:avLst>
              <a:gd name="adj" fmla="val 4404"/>
            </a:avLst>
          </a:prstGeom>
          <a:solidFill>
            <a:schemeClr val="tx2"/>
          </a:solidFill>
          <a:ln w="12700">
            <a:solidFill>
              <a:srgbClr val="4A1A5E"/>
            </a:solidFill>
            <a:prstDash val="solid"/>
          </a:ln>
        </p:spPr>
      </p:sp>
      <p:sp>
        <p:nvSpPr>
          <p:cNvPr id="10" name="Text 7"/>
          <p:cNvSpPr txBox="1"/>
          <p:nvPr/>
        </p:nvSpPr>
        <p:spPr>
          <a:xfrm>
            <a:off x="3771900" y="2346960"/>
            <a:ext cx="1943100" cy="45720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App Store</a:t>
            </a:r>
            <a:endParaRPr lang="en-US" sz="1800" dirty="0"/>
          </a:p>
        </p:txBody>
      </p:sp>
      <p:sp>
        <p:nvSpPr>
          <p:cNvPr id="11" name="Text 8"/>
          <p:cNvSpPr txBox="1"/>
          <p:nvPr/>
        </p:nvSpPr>
        <p:spPr>
          <a:xfrm>
            <a:off x="3771900" y="2941320"/>
            <a:ext cx="1943100" cy="2956560"/>
          </a:xfrm>
          <a:prstGeom prst="rect">
            <a:avLst/>
          </a:prstGeom>
          <a:noFill/>
          <a:ln/>
        </p:spPr>
        <p:txBody>
          <a:bodyPr wrap="square" lIns="0" tIns="0" rIns="0" bIns="0" rtlCol="0" anchor="t"/>
          <a:lstStyle/>
          <a:p>
            <a:pPr indent="0" marL="0">
              <a:buNone/>
            </a:pPr>
            <a:r>
              <a:rPr lang="en-US" sz="2300" dirty="0">
                <a:solidFill>
                  <a:schemeClr val="bg2"/>
                </a:solidFill>
              </a:rPr>
              <a:t>A storefront for the MenkeTechnologies Rust desktop apps and audio plugins</a:t>
            </a:r>
            <a:endParaRPr lang="en-US" sz="2300" dirty="0"/>
          </a:p>
        </p:txBody>
      </p:sp>
      <p:sp>
        <p:nvSpPr>
          <p:cNvPr id="12" name="Shape 9"/>
          <p:cNvSpPr/>
          <p:nvPr/>
        </p:nvSpPr>
        <p:spPr>
          <a:xfrm>
            <a:off x="6172200" y="2118360"/>
            <a:ext cx="2491740" cy="4008120"/>
          </a:xfrm>
          <a:prstGeom prst="roundRect">
            <a:avLst>
              <a:gd name="adj" fmla="val 4404"/>
            </a:avLst>
          </a:prstGeom>
          <a:solidFill>
            <a:schemeClr val="tx2"/>
          </a:solidFill>
          <a:ln w="12700">
            <a:solidFill>
              <a:srgbClr val="4A1A5E"/>
            </a:solidFill>
            <a:prstDash val="solid"/>
          </a:ln>
        </p:spPr>
      </p:sp>
      <p:sp>
        <p:nvSpPr>
          <p:cNvPr id="13" name="Text 10"/>
          <p:cNvSpPr txBox="1"/>
          <p:nvPr/>
        </p:nvSpPr>
        <p:spPr>
          <a:xfrm>
            <a:off x="6446520" y="2346960"/>
            <a:ext cx="1943100" cy="45720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Powerline</a:t>
            </a:r>
            <a:endParaRPr lang="en-US" sz="1800" dirty="0"/>
          </a:p>
        </p:txBody>
      </p:sp>
      <p:sp>
        <p:nvSpPr>
          <p:cNvPr id="14" name="Text 11"/>
          <p:cNvSpPr txBox="1"/>
          <p:nvPr/>
        </p:nvSpPr>
        <p:spPr>
          <a:xfrm>
            <a:off x="6446520" y="2941320"/>
            <a:ext cx="1943100" cy="2956560"/>
          </a:xfrm>
          <a:prstGeom prst="rect">
            <a:avLst/>
          </a:prstGeom>
          <a:noFill/>
          <a:ln/>
        </p:spPr>
        <p:txBody>
          <a:bodyPr wrap="square" lIns="0" tIns="0" rIns="0" bIns="0" rtlCol="0" anchor="t"/>
          <a:lstStyle/>
          <a:p>
            <a:pPr indent="0" marL="0">
              <a:buNone/>
            </a:pPr>
            <a:r>
              <a:rPr lang="en-US" sz="2300" dirty="0">
                <a:solidFill>
                  <a:schemeClr val="bg2"/>
                </a:solidFill>
              </a:rPr>
              <a:t>Status bar stats backed by the host</a:t>
            </a:r>
            <a:endParaRPr lang="en-US" sz="2300" dirty="0"/>
          </a:p>
        </p:txBody>
      </p:sp>
      <p:sp>
        <p:nvSpPr>
          <p:cNvPr id="15" name="Shape 12"/>
          <p:cNvSpPr/>
          <p:nvPr/>
        </p:nvSpPr>
        <p:spPr>
          <a:xfrm>
            <a:off x="8846820" y="2118360"/>
            <a:ext cx="2491740" cy="4008120"/>
          </a:xfrm>
          <a:prstGeom prst="roundRect">
            <a:avLst>
              <a:gd name="adj" fmla="val 4404"/>
            </a:avLst>
          </a:prstGeom>
          <a:solidFill>
            <a:schemeClr val="tx2"/>
          </a:solidFill>
          <a:ln w="12700">
            <a:solidFill>
              <a:srgbClr val="4A1A5E"/>
            </a:solidFill>
            <a:prstDash val="solid"/>
          </a:ln>
        </p:spPr>
      </p:sp>
      <p:sp>
        <p:nvSpPr>
          <p:cNvPr id="16" name="Text 13"/>
          <p:cNvSpPr txBox="1"/>
          <p:nvPr/>
        </p:nvSpPr>
        <p:spPr>
          <a:xfrm>
            <a:off x="9121140" y="2346960"/>
            <a:ext cx="1943100" cy="45720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Suite bus</a:t>
            </a:r>
            <a:endParaRPr lang="en-US" sz="1800" dirty="0"/>
          </a:p>
        </p:txBody>
      </p:sp>
      <p:sp>
        <p:nvSpPr>
          <p:cNvPr id="17" name="Text 14"/>
          <p:cNvSpPr txBox="1"/>
          <p:nvPr/>
        </p:nvSpPr>
        <p:spPr>
          <a:xfrm>
            <a:off x="9121140" y="2941320"/>
            <a:ext cx="1943100" cy="2956560"/>
          </a:xfrm>
          <a:prstGeom prst="rect">
            <a:avLst/>
          </a:prstGeom>
          <a:noFill/>
          <a:ln/>
        </p:spPr>
        <p:txBody>
          <a:bodyPr wrap="square" lIns="0" tIns="0" rIns="0" bIns="0" rtlCol="0" anchor="t"/>
          <a:lstStyle/>
          <a:p>
            <a:pPr indent="0" marL="0">
              <a:buNone/>
            </a:pPr>
            <a:r>
              <a:rPr lang="en-US" sz="2300" dirty="0">
                <a:solidFill>
                  <a:schemeClr val="bg2"/>
                </a:solidFill>
              </a:rPr>
              <a:t>Typed calls to other running apps</a:t>
            </a:r>
            <a:endParaRPr lang="en-US" sz="23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Tab query language</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zwire users / tabs</a:t>
            </a:r>
            <a:endParaRPr lang="en-US" sz="1200" dirty="0"/>
          </a:p>
        </p:txBody>
      </p:sp>
      <p:sp>
        <p:nvSpPr>
          <p:cNvPr id="5" name="Text 2"/>
          <p:cNvSpPr txBox="1"/>
          <p:nvPr/>
        </p:nvSpPr>
        <p:spPr>
          <a:xfrm>
            <a:off x="822960" y="1463040"/>
            <a:ext cx="10515600" cy="807720"/>
          </a:xfrm>
          <a:prstGeom prst="rect">
            <a:avLst/>
          </a:prstGeom>
          <a:noFill/>
          <a:ln/>
        </p:spPr>
        <p:txBody>
          <a:bodyPr wrap="square" lIns="0" tIns="0" rIns="0" bIns="0" rtlCol="0" anchor="t"/>
          <a:lstStyle/>
          <a:p>
            <a:pPr indent="0" marL="0">
              <a:buNone/>
            </a:pPr>
            <a:r>
              <a:rPr lang="en-US" sz="2400" dirty="0">
                <a:solidFill>
                  <a:schemeClr val="bg2"/>
                </a:solidFill>
              </a:rPr>
              <a:t>The tabs: provider is a boolean query over every open tab, available in the palette.</a:t>
            </a:r>
            <a:endParaRPr lang="en-US" sz="2400" dirty="0"/>
          </a:p>
        </p:txBody>
      </p:sp>
      <p:sp>
        <p:nvSpPr>
          <p:cNvPr id="6" name="Shape 3"/>
          <p:cNvSpPr/>
          <p:nvPr/>
        </p:nvSpPr>
        <p:spPr>
          <a:xfrm>
            <a:off x="822960" y="2499360"/>
            <a:ext cx="2491740" cy="3627120"/>
          </a:xfrm>
          <a:prstGeom prst="roundRect">
            <a:avLst>
              <a:gd name="adj" fmla="val 4404"/>
            </a:avLst>
          </a:prstGeom>
          <a:solidFill>
            <a:schemeClr val="tx2"/>
          </a:solidFill>
          <a:ln w="12700">
            <a:solidFill>
              <a:srgbClr val="4A1A5E"/>
            </a:solidFill>
            <a:prstDash val="solid"/>
          </a:ln>
        </p:spPr>
      </p:sp>
      <p:sp>
        <p:nvSpPr>
          <p:cNvPr id="7" name="Text 4"/>
          <p:cNvSpPr txBox="1"/>
          <p:nvPr/>
        </p:nvSpPr>
        <p:spPr>
          <a:xfrm>
            <a:off x="1097280" y="2727960"/>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Query</a:t>
            </a:r>
            <a:endParaRPr lang="en-US" sz="2600" dirty="0"/>
          </a:p>
        </p:txBody>
      </p:sp>
      <p:sp>
        <p:nvSpPr>
          <p:cNvPr id="8" name="Text 5"/>
          <p:cNvSpPr txBox="1"/>
          <p:nvPr/>
        </p:nvSpPr>
        <p:spPr>
          <a:xfrm>
            <a:off x="1097280" y="3322320"/>
            <a:ext cx="1943100" cy="2575560"/>
          </a:xfrm>
          <a:prstGeom prst="rect">
            <a:avLst/>
          </a:prstGeom>
          <a:noFill/>
          <a:ln/>
        </p:spPr>
        <p:txBody>
          <a:bodyPr wrap="square" lIns="0" tIns="0" rIns="0" bIns="0" rtlCol="0" anchor="t"/>
          <a:lstStyle/>
          <a:p>
            <a:pPr indent="0" marL="0">
              <a:buNone/>
            </a:pPr>
            <a:r>
              <a:rPr lang="en-US" sz="2800" dirty="0">
                <a:solidFill>
                  <a:schemeClr val="bg2"/>
                </a:solidFill>
              </a:rPr>
              <a:t>Bare words and boolean operators over tabs</a:t>
            </a:r>
            <a:endParaRPr lang="en-US" sz="2800" dirty="0"/>
          </a:p>
        </p:txBody>
      </p:sp>
      <p:sp>
        <p:nvSpPr>
          <p:cNvPr id="9" name="Shape 6"/>
          <p:cNvSpPr/>
          <p:nvPr/>
        </p:nvSpPr>
        <p:spPr>
          <a:xfrm>
            <a:off x="3497580" y="2499360"/>
            <a:ext cx="2491740" cy="3627120"/>
          </a:xfrm>
          <a:prstGeom prst="roundRect">
            <a:avLst>
              <a:gd name="adj" fmla="val 4404"/>
            </a:avLst>
          </a:prstGeom>
          <a:solidFill>
            <a:schemeClr val="tx2"/>
          </a:solidFill>
          <a:ln w="12700">
            <a:solidFill>
              <a:srgbClr val="4A1A5E"/>
            </a:solidFill>
            <a:prstDash val="solid"/>
          </a:ln>
        </p:spPr>
      </p:sp>
      <p:sp>
        <p:nvSpPr>
          <p:cNvPr id="10" name="Text 7"/>
          <p:cNvSpPr txBox="1"/>
          <p:nvPr/>
        </p:nvSpPr>
        <p:spPr>
          <a:xfrm>
            <a:off x="3771900" y="2727960"/>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Act</a:t>
            </a:r>
            <a:endParaRPr lang="en-US" sz="2600" dirty="0"/>
          </a:p>
        </p:txBody>
      </p:sp>
      <p:sp>
        <p:nvSpPr>
          <p:cNvPr id="11" name="Text 8"/>
          <p:cNvSpPr txBox="1"/>
          <p:nvPr/>
        </p:nvSpPr>
        <p:spPr>
          <a:xfrm>
            <a:off x="3771900" y="3322320"/>
            <a:ext cx="1943100" cy="2575560"/>
          </a:xfrm>
          <a:prstGeom prst="rect">
            <a:avLst/>
          </a:prstGeom>
          <a:noFill/>
          <a:ln/>
        </p:spPr>
        <p:txBody>
          <a:bodyPr wrap="square" lIns="0" tIns="0" rIns="0" bIns="0" rtlCol="0" anchor="t"/>
          <a:lstStyle/>
          <a:p>
            <a:pPr indent="0" marL="0">
              <a:buNone/>
            </a:pPr>
            <a:r>
              <a:rPr lang="en-US" sz="2800" dirty="0">
                <a:solidFill>
                  <a:schemeClr val="bg2"/>
                </a:solidFill>
              </a:rPr>
              <a:t>Operate on the matches</a:t>
            </a:r>
            <a:endParaRPr lang="en-US" sz="2800" dirty="0"/>
          </a:p>
        </p:txBody>
      </p:sp>
      <p:sp>
        <p:nvSpPr>
          <p:cNvPr id="12" name="Shape 9"/>
          <p:cNvSpPr/>
          <p:nvPr/>
        </p:nvSpPr>
        <p:spPr>
          <a:xfrm>
            <a:off x="6172200" y="2499360"/>
            <a:ext cx="2491740" cy="3627120"/>
          </a:xfrm>
          <a:prstGeom prst="roundRect">
            <a:avLst>
              <a:gd name="adj" fmla="val 4404"/>
            </a:avLst>
          </a:prstGeom>
          <a:solidFill>
            <a:schemeClr val="tx2"/>
          </a:solidFill>
          <a:ln w="12700">
            <a:solidFill>
              <a:srgbClr val="4A1A5E"/>
            </a:solidFill>
            <a:prstDash val="solid"/>
          </a:ln>
        </p:spPr>
      </p:sp>
      <p:sp>
        <p:nvSpPr>
          <p:cNvPr id="13" name="Text 10"/>
          <p:cNvSpPr txBox="1"/>
          <p:nvPr/>
        </p:nvSpPr>
        <p:spPr>
          <a:xfrm>
            <a:off x="6446520" y="2727960"/>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Snooze</a:t>
            </a:r>
            <a:endParaRPr lang="en-US" sz="2600" dirty="0"/>
          </a:p>
        </p:txBody>
      </p:sp>
      <p:sp>
        <p:nvSpPr>
          <p:cNvPr id="14" name="Text 11"/>
          <p:cNvSpPr txBox="1"/>
          <p:nvPr/>
        </p:nvSpPr>
        <p:spPr>
          <a:xfrm>
            <a:off x="6446520" y="3322320"/>
            <a:ext cx="1943100" cy="2575560"/>
          </a:xfrm>
          <a:prstGeom prst="rect">
            <a:avLst/>
          </a:prstGeom>
          <a:noFill/>
          <a:ln/>
        </p:spPr>
        <p:txBody>
          <a:bodyPr wrap="square" lIns="0" tIns="0" rIns="0" bIns="0" rtlCol="0" anchor="t"/>
          <a:lstStyle/>
          <a:p>
            <a:pPr indent="0" marL="0">
              <a:buNone/>
            </a:pPr>
            <a:r>
              <a:rPr lang="en-US" sz="2800" dirty="0">
                <a:solidFill>
                  <a:schemeClr val="bg2"/>
                </a:solidFill>
              </a:rPr>
              <a:t>snoozeTab with a duration and wakeSnoozed</a:t>
            </a:r>
            <a:endParaRPr lang="en-US" sz="2800" dirty="0"/>
          </a:p>
        </p:txBody>
      </p:sp>
      <p:sp>
        <p:nvSpPr>
          <p:cNvPr id="15" name="Shape 12"/>
          <p:cNvSpPr/>
          <p:nvPr/>
        </p:nvSpPr>
        <p:spPr>
          <a:xfrm>
            <a:off x="8846820" y="2499360"/>
            <a:ext cx="2491740" cy="3627120"/>
          </a:xfrm>
          <a:prstGeom prst="roundRect">
            <a:avLst>
              <a:gd name="adj" fmla="val 4404"/>
            </a:avLst>
          </a:prstGeom>
          <a:solidFill>
            <a:schemeClr val="tx2"/>
          </a:solidFill>
          <a:ln w="12700">
            <a:solidFill>
              <a:srgbClr val="4A1A5E"/>
            </a:solidFill>
            <a:prstDash val="solid"/>
          </a:ln>
        </p:spPr>
      </p:sp>
      <p:sp>
        <p:nvSpPr>
          <p:cNvPr id="16" name="Text 13"/>
          <p:cNvSpPr txBox="1"/>
          <p:nvPr/>
        </p:nvSpPr>
        <p:spPr>
          <a:xfrm>
            <a:off x="9121140" y="2727960"/>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Archive</a:t>
            </a:r>
            <a:endParaRPr lang="en-US" sz="2600" dirty="0"/>
          </a:p>
        </p:txBody>
      </p:sp>
      <p:sp>
        <p:nvSpPr>
          <p:cNvPr id="17" name="Text 14"/>
          <p:cNvSpPr txBox="1"/>
          <p:nvPr/>
        </p:nvSpPr>
        <p:spPr>
          <a:xfrm>
            <a:off x="9121140" y="3322320"/>
            <a:ext cx="1943100" cy="2575560"/>
          </a:xfrm>
          <a:prstGeom prst="rect">
            <a:avLst/>
          </a:prstGeom>
          <a:noFill/>
          <a:ln/>
        </p:spPr>
        <p:txBody>
          <a:bodyPr wrap="square" lIns="0" tIns="0" rIns="0" bIns="0" rtlCol="0" anchor="t"/>
          <a:lstStyle/>
          <a:p>
            <a:pPr indent="0" marL="0">
              <a:buNone/>
            </a:pPr>
            <a:r>
              <a:rPr lang="en-US" sz="2800" dirty="0">
                <a:solidFill>
                  <a:schemeClr val="bg2"/>
                </a:solidFill>
              </a:rPr>
              <a:t>archiveIdle tabs</a:t>
            </a:r>
            <a:endParaRPr lang="en-US" sz="28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Vim-style navigation</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zwire users / keys</a:t>
            </a:r>
            <a:endParaRPr lang="en-US" sz="1200" dirty="0"/>
          </a:p>
        </p:txBody>
      </p:sp>
      <p:sp>
        <p:nvSpPr>
          <p:cNvPr id="5" name="Text 2"/>
          <p:cNvSpPr txBox="1"/>
          <p:nvPr/>
        </p:nvSpPr>
        <p:spPr>
          <a:xfrm>
            <a:off x="822960" y="1463040"/>
            <a:ext cx="10515600" cy="807720"/>
          </a:xfrm>
          <a:prstGeom prst="rect">
            <a:avLst/>
          </a:prstGeom>
          <a:noFill/>
          <a:ln/>
        </p:spPr>
        <p:txBody>
          <a:bodyPr wrap="square" lIns="0" tIns="0" rIns="0" bIns="0" rtlCol="0" anchor="t"/>
          <a:lstStyle/>
          <a:p>
            <a:pPr indent="0" marL="0">
              <a:buNone/>
            </a:pPr>
            <a:r>
              <a:rPr lang="en-US" sz="2400" dirty="0">
                <a:solidFill>
                  <a:schemeClr val="bg2"/>
                </a:solidFill>
              </a:rPr>
              <a:t>A vim-style keymap and a find bar run in every page, rebindable on the Keyboard HUD page.</a:t>
            </a:r>
            <a:endParaRPr lang="en-US" sz="2400" dirty="0"/>
          </a:p>
        </p:txBody>
      </p:sp>
      <p:sp>
        <p:nvSpPr>
          <p:cNvPr id="6" name="Shape 3"/>
          <p:cNvSpPr/>
          <p:nvPr/>
        </p:nvSpPr>
        <p:spPr>
          <a:xfrm>
            <a:off x="822960" y="2499360"/>
            <a:ext cx="2491740" cy="3627120"/>
          </a:xfrm>
          <a:prstGeom prst="roundRect">
            <a:avLst>
              <a:gd name="adj" fmla="val 4404"/>
            </a:avLst>
          </a:prstGeom>
          <a:solidFill>
            <a:schemeClr val="tx2"/>
          </a:solidFill>
          <a:ln w="12700">
            <a:solidFill>
              <a:srgbClr val="4A1A5E"/>
            </a:solidFill>
            <a:prstDash val="solid"/>
          </a:ln>
        </p:spPr>
      </p:sp>
      <p:sp>
        <p:nvSpPr>
          <p:cNvPr id="7" name="Text 4"/>
          <p:cNvSpPr txBox="1"/>
          <p:nvPr/>
        </p:nvSpPr>
        <p:spPr>
          <a:xfrm>
            <a:off x="1097280" y="2727960"/>
            <a:ext cx="194310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Navigation</a:t>
            </a:r>
            <a:endParaRPr lang="en-US" sz="2200" dirty="0"/>
          </a:p>
        </p:txBody>
      </p:sp>
      <p:sp>
        <p:nvSpPr>
          <p:cNvPr id="8" name="Text 5"/>
          <p:cNvSpPr txBox="1"/>
          <p:nvPr/>
        </p:nvSpPr>
        <p:spPr>
          <a:xfrm>
            <a:off x="1097280" y="3322320"/>
            <a:ext cx="1943100" cy="2575560"/>
          </a:xfrm>
          <a:prstGeom prst="rect">
            <a:avLst/>
          </a:prstGeom>
          <a:noFill/>
          <a:ln/>
        </p:spPr>
        <p:txBody>
          <a:bodyPr wrap="square" lIns="0" tIns="0" rIns="0" bIns="0" rtlCol="0" anchor="t"/>
          <a:lstStyle/>
          <a:p>
            <a:pPr indent="0" marL="0">
              <a:buNone/>
            </a:pPr>
            <a:r>
              <a:rPr lang="en-US" sz="2800" dirty="0">
                <a:solidFill>
                  <a:schemeClr val="bg2"/>
                </a:solidFill>
              </a:rPr>
              <a:t>zvim and zkeys</a:t>
            </a:r>
            <a:endParaRPr lang="en-US" sz="2800" dirty="0"/>
          </a:p>
        </p:txBody>
      </p:sp>
      <p:sp>
        <p:nvSpPr>
          <p:cNvPr id="9" name="Shape 6"/>
          <p:cNvSpPr/>
          <p:nvPr/>
        </p:nvSpPr>
        <p:spPr>
          <a:xfrm>
            <a:off x="3497580" y="2499360"/>
            <a:ext cx="2491740" cy="3627120"/>
          </a:xfrm>
          <a:prstGeom prst="roundRect">
            <a:avLst>
              <a:gd name="adj" fmla="val 4404"/>
            </a:avLst>
          </a:prstGeom>
          <a:solidFill>
            <a:schemeClr val="tx2"/>
          </a:solidFill>
          <a:ln w="12700">
            <a:solidFill>
              <a:srgbClr val="4A1A5E"/>
            </a:solidFill>
            <a:prstDash val="solid"/>
          </a:ln>
        </p:spPr>
      </p:sp>
      <p:sp>
        <p:nvSpPr>
          <p:cNvPr id="10" name="Text 7"/>
          <p:cNvSpPr txBox="1"/>
          <p:nvPr/>
        </p:nvSpPr>
        <p:spPr>
          <a:xfrm>
            <a:off x="3771900" y="2727960"/>
            <a:ext cx="194310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Find</a:t>
            </a:r>
            <a:endParaRPr lang="en-US" sz="2200" dirty="0"/>
          </a:p>
        </p:txBody>
      </p:sp>
      <p:sp>
        <p:nvSpPr>
          <p:cNvPr id="11" name="Text 8"/>
          <p:cNvSpPr txBox="1"/>
          <p:nvPr/>
        </p:nvSpPr>
        <p:spPr>
          <a:xfrm>
            <a:off x="3771900" y="3322320"/>
            <a:ext cx="1943100" cy="2575560"/>
          </a:xfrm>
          <a:prstGeom prst="rect">
            <a:avLst/>
          </a:prstGeom>
          <a:noFill/>
          <a:ln/>
        </p:spPr>
        <p:txBody>
          <a:bodyPr wrap="square" lIns="0" tIns="0" rIns="0" bIns="0" rtlCol="0" anchor="t"/>
          <a:lstStyle/>
          <a:p>
            <a:pPr indent="0" marL="0">
              <a:buNone/>
            </a:pPr>
            <a:r>
              <a:rPr lang="en-US" sz="2800" dirty="0">
                <a:solidFill>
                  <a:schemeClr val="bg2"/>
                </a:solidFill>
              </a:rPr>
              <a:t>zfind</a:t>
            </a:r>
            <a:endParaRPr lang="en-US" sz="2800" dirty="0"/>
          </a:p>
        </p:txBody>
      </p:sp>
      <p:sp>
        <p:nvSpPr>
          <p:cNvPr id="12" name="Shape 9"/>
          <p:cNvSpPr/>
          <p:nvPr/>
        </p:nvSpPr>
        <p:spPr>
          <a:xfrm>
            <a:off x="6172200" y="2499360"/>
            <a:ext cx="2491740" cy="3627120"/>
          </a:xfrm>
          <a:prstGeom prst="roundRect">
            <a:avLst>
              <a:gd name="adj" fmla="val 4404"/>
            </a:avLst>
          </a:prstGeom>
          <a:solidFill>
            <a:schemeClr val="tx2"/>
          </a:solidFill>
          <a:ln w="12700">
            <a:solidFill>
              <a:srgbClr val="4A1A5E"/>
            </a:solidFill>
            <a:prstDash val="solid"/>
          </a:ln>
        </p:spPr>
      </p:sp>
      <p:sp>
        <p:nvSpPr>
          <p:cNvPr id="13" name="Text 10"/>
          <p:cNvSpPr txBox="1"/>
          <p:nvPr/>
        </p:nvSpPr>
        <p:spPr>
          <a:xfrm>
            <a:off x="6446520" y="2727960"/>
            <a:ext cx="194310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Prefix</a:t>
            </a:r>
            <a:endParaRPr lang="en-US" sz="2200" dirty="0"/>
          </a:p>
        </p:txBody>
      </p:sp>
      <p:sp>
        <p:nvSpPr>
          <p:cNvPr id="14" name="Text 11"/>
          <p:cNvSpPr txBox="1"/>
          <p:nvPr/>
        </p:nvSpPr>
        <p:spPr>
          <a:xfrm>
            <a:off x="6446520" y="3322320"/>
            <a:ext cx="1943100" cy="2575560"/>
          </a:xfrm>
          <a:prstGeom prst="rect">
            <a:avLst/>
          </a:prstGeom>
          <a:noFill/>
          <a:ln/>
        </p:spPr>
        <p:txBody>
          <a:bodyPr wrap="square" lIns="0" tIns="0" rIns="0" bIns="0" rtlCol="0" anchor="t"/>
          <a:lstStyle/>
          <a:p>
            <a:pPr indent="0" marL="0">
              <a:buNone/>
            </a:pPr>
            <a:r>
              <a:rPr lang="en-US" sz="2800" dirty="0">
                <a:solidFill>
                  <a:schemeClr val="bg2"/>
                </a:solidFill>
              </a:rPr>
              <a:t>Rebindable tmux prefix</a:t>
            </a:r>
            <a:endParaRPr lang="en-US" sz="2800" dirty="0"/>
          </a:p>
        </p:txBody>
      </p:sp>
      <p:sp>
        <p:nvSpPr>
          <p:cNvPr id="15" name="Shape 12"/>
          <p:cNvSpPr/>
          <p:nvPr/>
        </p:nvSpPr>
        <p:spPr>
          <a:xfrm>
            <a:off x="8846820" y="2499360"/>
            <a:ext cx="2491740" cy="3627120"/>
          </a:xfrm>
          <a:prstGeom prst="roundRect">
            <a:avLst>
              <a:gd name="adj" fmla="val 4404"/>
            </a:avLst>
          </a:prstGeom>
          <a:solidFill>
            <a:schemeClr val="tx2"/>
          </a:solidFill>
          <a:ln w="12700">
            <a:solidFill>
              <a:srgbClr val="4A1A5E"/>
            </a:solidFill>
            <a:prstDash val="solid"/>
          </a:ln>
        </p:spPr>
      </p:sp>
      <p:sp>
        <p:nvSpPr>
          <p:cNvPr id="16" name="Text 13"/>
          <p:cNvSpPr txBox="1"/>
          <p:nvPr/>
        </p:nvSpPr>
        <p:spPr>
          <a:xfrm>
            <a:off x="9121140" y="2727960"/>
            <a:ext cx="194310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Remap</a:t>
            </a:r>
            <a:endParaRPr lang="en-US" sz="2200" dirty="0"/>
          </a:p>
        </p:txBody>
      </p:sp>
      <p:sp>
        <p:nvSpPr>
          <p:cNvPr id="17" name="Text 14"/>
          <p:cNvSpPr txBox="1"/>
          <p:nvPr/>
        </p:nvSpPr>
        <p:spPr>
          <a:xfrm>
            <a:off x="9121140" y="3322320"/>
            <a:ext cx="1943100" cy="2575560"/>
          </a:xfrm>
          <a:prstGeom prst="rect">
            <a:avLst/>
          </a:prstGeom>
          <a:noFill/>
          <a:ln/>
        </p:spPr>
        <p:txBody>
          <a:bodyPr wrap="square" lIns="0" tIns="0" rIns="0" bIns="0" rtlCol="0" anchor="t"/>
          <a:lstStyle/>
          <a:p>
            <a:pPr indent="0" marL="0">
              <a:buNone/>
            </a:pPr>
            <a:r>
              <a:rPr lang="en-US" sz="2800" dirty="0">
                <a:solidFill>
                  <a:schemeClr val="bg2"/>
                </a:solidFill>
              </a:rPr>
              <a:t>Keyboard page rebinds every shortcut</a:t>
            </a:r>
            <a:endParaRPr lang="en-US" sz="28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zgui-core</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zwire users / toolkit</a:t>
            </a:r>
            <a:endParaRPr lang="en-US" sz="1200" dirty="0"/>
          </a:p>
        </p:txBody>
      </p:sp>
      <p:sp>
        <p:nvSpPr>
          <p:cNvPr id="5" name="Text 2"/>
          <p:cNvSpPr txBox="1"/>
          <p:nvPr/>
        </p:nvSpPr>
        <p:spPr>
          <a:xfrm>
            <a:off x="822960" y="1463040"/>
            <a:ext cx="10515600" cy="775970"/>
          </a:xfrm>
          <a:prstGeom prst="rect">
            <a:avLst/>
          </a:prstGeom>
          <a:noFill/>
          <a:ln/>
        </p:spPr>
        <p:txBody>
          <a:bodyPr wrap="square" lIns="0" tIns="0" rIns="0" bIns="0" rtlCol="0" anchor="t"/>
          <a:lstStyle/>
          <a:p>
            <a:pPr indent="0" marL="0">
              <a:buNone/>
            </a:pPr>
            <a:r>
              <a:rPr lang="en-US" sz="2300" dirty="0">
                <a:solidFill>
                  <a:schemeClr val="bg2"/>
                </a:solidFill>
              </a:rPr>
              <a:t>The HUD is built on zgui-core, the shared ZGui component library of 260 modules, a git submodule loaded straight from lib/zgui-core/webui.</a:t>
            </a:r>
            <a:endParaRPr lang="en-US" sz="2300" dirty="0"/>
          </a:p>
        </p:txBody>
      </p:sp>
      <p:sp>
        <p:nvSpPr>
          <p:cNvPr id="6" name="Shape 3"/>
          <p:cNvSpPr/>
          <p:nvPr/>
        </p:nvSpPr>
        <p:spPr>
          <a:xfrm>
            <a:off x="822960" y="2467610"/>
            <a:ext cx="2491740" cy="3658870"/>
          </a:xfrm>
          <a:prstGeom prst="roundRect">
            <a:avLst>
              <a:gd name="adj" fmla="val 4404"/>
            </a:avLst>
          </a:prstGeom>
          <a:solidFill>
            <a:schemeClr val="tx2"/>
          </a:solidFill>
          <a:ln w="12700">
            <a:solidFill>
              <a:srgbClr val="4A1A5E"/>
            </a:solidFill>
            <a:prstDash val="solid"/>
          </a:ln>
        </p:spPr>
      </p:sp>
      <p:sp>
        <p:nvSpPr>
          <p:cNvPr id="7" name="Text 4"/>
          <p:cNvSpPr txBox="1"/>
          <p:nvPr/>
        </p:nvSpPr>
        <p:spPr>
          <a:xfrm>
            <a:off x="1097280" y="2696210"/>
            <a:ext cx="1943100" cy="457200"/>
          </a:xfrm>
          <a:prstGeom prst="rect">
            <a:avLst/>
          </a:prstGeom>
          <a:noFill/>
          <a:ln/>
        </p:spPr>
        <p:txBody>
          <a:bodyPr wrap="square" lIns="0" tIns="0" rIns="0" bIns="0" rtlCol="0" anchor="t"/>
          <a:lstStyle/>
          <a:p>
            <a:pPr indent="0" marL="0">
              <a:buNone/>
            </a:pPr>
            <a:r>
              <a:rPr lang="en-US" sz="1600" b="1" dirty="0">
                <a:solidFill>
                  <a:schemeClr val="accent1"/>
                </a:solidFill>
                <a:latin typeface="Cambria" pitchFamily="34" charset="0"/>
                <a:ea typeface="Cambria" pitchFamily="34" charset="-122"/>
                <a:cs typeface="Cambria" pitchFamily="34" charset="-120"/>
              </a:rPr>
              <a:t>Components</a:t>
            </a:r>
            <a:endParaRPr lang="en-US" sz="1600" dirty="0"/>
          </a:p>
        </p:txBody>
      </p:sp>
      <p:sp>
        <p:nvSpPr>
          <p:cNvPr id="8" name="Text 5"/>
          <p:cNvSpPr txBox="1"/>
          <p:nvPr/>
        </p:nvSpPr>
        <p:spPr>
          <a:xfrm>
            <a:off x="1097280" y="3290570"/>
            <a:ext cx="1943100" cy="2607310"/>
          </a:xfrm>
          <a:prstGeom prst="rect">
            <a:avLst/>
          </a:prstGeom>
          <a:noFill/>
          <a:ln/>
        </p:spPr>
        <p:txBody>
          <a:bodyPr wrap="square" lIns="0" tIns="0" rIns="0" bIns="0" rtlCol="0" anchor="t"/>
          <a:lstStyle/>
          <a:p>
            <a:pPr indent="0" marL="0">
              <a:buNone/>
            </a:pPr>
            <a:r>
              <a:rPr lang="en-US" sz="2800" dirty="0">
                <a:solidFill>
                  <a:schemeClr val="bg2"/>
                </a:solidFill>
              </a:rPr>
              <a:t>260 ZGui.* modules</a:t>
            </a:r>
            <a:endParaRPr lang="en-US" sz="2800" dirty="0"/>
          </a:p>
        </p:txBody>
      </p:sp>
      <p:sp>
        <p:nvSpPr>
          <p:cNvPr id="9" name="Shape 6"/>
          <p:cNvSpPr/>
          <p:nvPr/>
        </p:nvSpPr>
        <p:spPr>
          <a:xfrm>
            <a:off x="3497580" y="2467610"/>
            <a:ext cx="2491740" cy="3658870"/>
          </a:xfrm>
          <a:prstGeom prst="roundRect">
            <a:avLst>
              <a:gd name="adj" fmla="val 4404"/>
            </a:avLst>
          </a:prstGeom>
          <a:solidFill>
            <a:schemeClr val="tx2"/>
          </a:solidFill>
          <a:ln w="12700">
            <a:solidFill>
              <a:srgbClr val="4A1A5E"/>
            </a:solidFill>
            <a:prstDash val="solid"/>
          </a:ln>
        </p:spPr>
      </p:sp>
      <p:sp>
        <p:nvSpPr>
          <p:cNvPr id="10" name="Text 7"/>
          <p:cNvSpPr txBox="1"/>
          <p:nvPr/>
        </p:nvSpPr>
        <p:spPr>
          <a:xfrm>
            <a:off x="3771900" y="2696210"/>
            <a:ext cx="1943100" cy="457200"/>
          </a:xfrm>
          <a:prstGeom prst="rect">
            <a:avLst/>
          </a:prstGeom>
          <a:noFill/>
          <a:ln/>
        </p:spPr>
        <p:txBody>
          <a:bodyPr wrap="square" lIns="0" tIns="0" rIns="0" bIns="0" rtlCol="0" anchor="t"/>
          <a:lstStyle/>
          <a:p>
            <a:pPr indent="0" marL="0">
              <a:buNone/>
            </a:pPr>
            <a:r>
              <a:rPr lang="en-US" sz="1600" b="1" dirty="0">
                <a:solidFill>
                  <a:schemeClr val="accent1"/>
                </a:solidFill>
                <a:latin typeface="Cambria" pitchFamily="34" charset="0"/>
                <a:ea typeface="Cambria" pitchFamily="34" charset="-122"/>
                <a:cs typeface="Cambria" pitchFamily="34" charset="-120"/>
              </a:rPr>
              <a:t>Shared</a:t>
            </a:r>
            <a:endParaRPr lang="en-US" sz="1600" dirty="0"/>
          </a:p>
        </p:txBody>
      </p:sp>
      <p:sp>
        <p:nvSpPr>
          <p:cNvPr id="11" name="Text 8"/>
          <p:cNvSpPr txBox="1"/>
          <p:nvPr/>
        </p:nvSpPr>
        <p:spPr>
          <a:xfrm>
            <a:off x="3771900" y="3290570"/>
            <a:ext cx="1943100" cy="2607310"/>
          </a:xfrm>
          <a:prstGeom prst="rect">
            <a:avLst/>
          </a:prstGeom>
          <a:noFill/>
          <a:ln/>
        </p:spPr>
        <p:txBody>
          <a:bodyPr wrap="square" lIns="0" tIns="0" rIns="0" bIns="0" rtlCol="0" anchor="t"/>
          <a:lstStyle/>
          <a:p>
            <a:pPr indent="0" marL="0">
              <a:buNone/>
            </a:pPr>
            <a:r>
              <a:rPr lang="en-US" sz="2800" dirty="0">
                <a:solidFill>
                  <a:schemeClr val="bg2"/>
                </a:solidFill>
              </a:rPr>
              <a:t>Used across the suite's apps</a:t>
            </a:r>
            <a:endParaRPr lang="en-US" sz="2800" dirty="0"/>
          </a:p>
        </p:txBody>
      </p:sp>
      <p:sp>
        <p:nvSpPr>
          <p:cNvPr id="12" name="Shape 9"/>
          <p:cNvSpPr/>
          <p:nvPr/>
        </p:nvSpPr>
        <p:spPr>
          <a:xfrm>
            <a:off x="6172200" y="2467610"/>
            <a:ext cx="2491740" cy="3658870"/>
          </a:xfrm>
          <a:prstGeom prst="roundRect">
            <a:avLst>
              <a:gd name="adj" fmla="val 4404"/>
            </a:avLst>
          </a:prstGeom>
          <a:solidFill>
            <a:schemeClr val="tx2"/>
          </a:solidFill>
          <a:ln w="12700">
            <a:solidFill>
              <a:srgbClr val="4A1A5E"/>
            </a:solidFill>
            <a:prstDash val="solid"/>
          </a:ln>
        </p:spPr>
      </p:sp>
      <p:sp>
        <p:nvSpPr>
          <p:cNvPr id="13" name="Text 10"/>
          <p:cNvSpPr txBox="1"/>
          <p:nvPr/>
        </p:nvSpPr>
        <p:spPr>
          <a:xfrm>
            <a:off x="6446520" y="2696210"/>
            <a:ext cx="1943100" cy="457200"/>
          </a:xfrm>
          <a:prstGeom prst="rect">
            <a:avLst/>
          </a:prstGeom>
          <a:noFill/>
          <a:ln/>
        </p:spPr>
        <p:txBody>
          <a:bodyPr wrap="square" lIns="0" tIns="0" rIns="0" bIns="0" rtlCol="0" anchor="t"/>
          <a:lstStyle/>
          <a:p>
            <a:pPr indent="0" marL="0">
              <a:buNone/>
            </a:pPr>
            <a:r>
              <a:rPr lang="en-US" sz="1600" b="1" dirty="0">
                <a:solidFill>
                  <a:schemeClr val="accent1"/>
                </a:solidFill>
                <a:latin typeface="Cambria" pitchFamily="34" charset="0"/>
                <a:ea typeface="Cambria" pitchFamily="34" charset="-122"/>
                <a:cs typeface="Cambria" pitchFamily="34" charset="-120"/>
              </a:rPr>
              <a:t>HUD pages</a:t>
            </a:r>
            <a:endParaRPr lang="en-US" sz="1600" dirty="0"/>
          </a:p>
        </p:txBody>
      </p:sp>
      <p:sp>
        <p:nvSpPr>
          <p:cNvPr id="14" name="Text 11"/>
          <p:cNvSpPr txBox="1"/>
          <p:nvPr/>
        </p:nvSpPr>
        <p:spPr>
          <a:xfrm>
            <a:off x="6446520" y="3290570"/>
            <a:ext cx="1943100" cy="2607310"/>
          </a:xfrm>
          <a:prstGeom prst="rect">
            <a:avLst/>
          </a:prstGeom>
          <a:noFill/>
          <a:ln/>
        </p:spPr>
        <p:txBody>
          <a:bodyPr wrap="square" lIns="0" tIns="0" rIns="0" bIns="0" rtlCol="0" anchor="t"/>
          <a:lstStyle/>
          <a:p>
            <a:pPr indent="0" marL="0">
              <a:buNone/>
            </a:pPr>
            <a:r>
              <a:rPr lang="en-US" sz="2800" dirty="0">
                <a:solidFill>
                  <a:schemeClr val="bg2"/>
                </a:solidFill>
              </a:rPr>
              <a:t>Compose ZGui components</a:t>
            </a:r>
            <a:endParaRPr lang="en-US" sz="2800" dirty="0"/>
          </a:p>
        </p:txBody>
      </p:sp>
      <p:sp>
        <p:nvSpPr>
          <p:cNvPr id="15" name="Shape 12"/>
          <p:cNvSpPr/>
          <p:nvPr/>
        </p:nvSpPr>
        <p:spPr>
          <a:xfrm>
            <a:off x="8846820" y="2467610"/>
            <a:ext cx="2491740" cy="3658870"/>
          </a:xfrm>
          <a:prstGeom prst="roundRect">
            <a:avLst>
              <a:gd name="adj" fmla="val 4404"/>
            </a:avLst>
          </a:prstGeom>
          <a:solidFill>
            <a:schemeClr val="tx2"/>
          </a:solidFill>
          <a:ln w="12700">
            <a:solidFill>
              <a:srgbClr val="4A1A5E"/>
            </a:solidFill>
            <a:prstDash val="solid"/>
          </a:ln>
        </p:spPr>
      </p:sp>
      <p:sp>
        <p:nvSpPr>
          <p:cNvPr id="16" name="Text 13"/>
          <p:cNvSpPr txBox="1"/>
          <p:nvPr/>
        </p:nvSpPr>
        <p:spPr>
          <a:xfrm>
            <a:off x="9121140" y="2696210"/>
            <a:ext cx="1943100" cy="457200"/>
          </a:xfrm>
          <a:prstGeom prst="rect">
            <a:avLst/>
          </a:prstGeom>
          <a:noFill/>
          <a:ln/>
        </p:spPr>
        <p:txBody>
          <a:bodyPr wrap="square" lIns="0" tIns="0" rIns="0" bIns="0" rtlCol="0" anchor="t"/>
          <a:lstStyle/>
          <a:p>
            <a:pPr indent="0" marL="0">
              <a:buNone/>
            </a:pPr>
            <a:r>
              <a:rPr lang="en-US" sz="1600" b="1" dirty="0">
                <a:solidFill>
                  <a:schemeClr val="accent1"/>
                </a:solidFill>
                <a:latin typeface="Cambria" pitchFamily="34" charset="0"/>
                <a:ea typeface="Cambria" pitchFamily="34" charset="-122"/>
                <a:cs typeface="Cambria" pitchFamily="34" charset="-120"/>
              </a:rPr>
              <a:t>zwire supplies</a:t>
            </a:r>
            <a:endParaRPr lang="en-US" sz="1600" dirty="0"/>
          </a:p>
        </p:txBody>
      </p:sp>
      <p:sp>
        <p:nvSpPr>
          <p:cNvPr id="17" name="Text 14"/>
          <p:cNvSpPr txBox="1"/>
          <p:nvPr/>
        </p:nvSpPr>
        <p:spPr>
          <a:xfrm>
            <a:off x="9121140" y="3290570"/>
            <a:ext cx="1943100" cy="2607310"/>
          </a:xfrm>
          <a:prstGeom prst="rect">
            <a:avLst/>
          </a:prstGeom>
          <a:noFill/>
          <a:ln/>
        </p:spPr>
        <p:txBody>
          <a:bodyPr wrap="square" lIns="0" tIns="0" rIns="0" bIns="0" rtlCol="0" anchor="t"/>
          <a:lstStyle/>
          <a:p>
            <a:pPr indent="0" marL="0">
              <a:buNone/>
            </a:pPr>
            <a:r>
              <a:rPr lang="en-US" sz="2800" dirty="0">
                <a:solidFill>
                  <a:schemeClr val="bg2"/>
                </a:solidFill>
              </a:rPr>
              <a:t>Only the glue</a:t>
            </a:r>
            <a:endParaRPr lang="en-US" sz="28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Notes</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zwire users / notes</a:t>
            </a:r>
            <a:endParaRPr lang="en-US" sz="1200" dirty="0"/>
          </a:p>
        </p:txBody>
      </p:sp>
      <p:sp>
        <p:nvSpPr>
          <p:cNvPr id="5" name="Text 2"/>
          <p:cNvSpPr txBox="1"/>
          <p:nvPr/>
        </p:nvSpPr>
        <p:spPr>
          <a:xfrm>
            <a:off x="822960" y="1463040"/>
            <a:ext cx="10515600" cy="426720"/>
          </a:xfrm>
          <a:prstGeom prst="rect">
            <a:avLst/>
          </a:prstGeom>
          <a:noFill/>
          <a:ln/>
        </p:spPr>
        <p:txBody>
          <a:bodyPr wrap="square" lIns="0" tIns="0" rIns="0" bIns="0" rtlCol="0" anchor="t"/>
          <a:lstStyle/>
          <a:p>
            <a:pPr indent="0" marL="0">
              <a:buNone/>
            </a:pPr>
            <a:r>
              <a:rPr lang="en-US" sz="2400" dirty="0">
                <a:solidFill>
                  <a:schemeClr val="bg2"/>
                </a:solidFill>
              </a:rPr>
              <a:t>From the README notes section.</a:t>
            </a:r>
            <a:endParaRPr lang="en-US" sz="2400" dirty="0"/>
          </a:p>
        </p:txBody>
      </p:sp>
      <p:sp>
        <p:nvSpPr>
          <p:cNvPr id="6" name="Shape 3"/>
          <p:cNvSpPr/>
          <p:nvPr/>
        </p:nvSpPr>
        <p:spPr>
          <a:xfrm>
            <a:off x="822960" y="2118360"/>
            <a:ext cx="2491740" cy="4008120"/>
          </a:xfrm>
          <a:prstGeom prst="roundRect">
            <a:avLst>
              <a:gd name="adj" fmla="val 4404"/>
            </a:avLst>
          </a:prstGeom>
          <a:solidFill>
            <a:schemeClr val="tx2"/>
          </a:solidFill>
          <a:ln w="12700">
            <a:solidFill>
              <a:srgbClr val="4A1A5E"/>
            </a:solidFill>
            <a:prstDash val="solid"/>
          </a:ln>
        </p:spPr>
      </p:sp>
      <p:sp>
        <p:nvSpPr>
          <p:cNvPr id="7" name="Text 4"/>
          <p:cNvSpPr txBox="1"/>
          <p:nvPr/>
        </p:nvSpPr>
        <p:spPr>
          <a:xfrm>
            <a:off x="1097280" y="2346960"/>
            <a:ext cx="1943100" cy="457200"/>
          </a:xfrm>
          <a:prstGeom prst="rect">
            <a:avLst/>
          </a:prstGeom>
          <a:noFill/>
          <a:ln/>
        </p:spPr>
        <p:txBody>
          <a:bodyPr wrap="square" lIns="0" tIns="0" rIns="0" bIns="0" rtlCol="0" anchor="t"/>
          <a:lstStyle/>
          <a:p>
            <a:pPr indent="0" marL="0">
              <a:buNone/>
            </a:pPr>
            <a:r>
              <a:rPr lang="en-US" sz="1400" b="1" dirty="0">
                <a:solidFill>
                  <a:schemeClr val="accent1"/>
                </a:solidFill>
                <a:latin typeface="Cambria" pitchFamily="34" charset="0"/>
                <a:ea typeface="Cambria" pitchFamily="34" charset="-122"/>
                <a:cs typeface="Cambria" pitchFamily="34" charset="-120"/>
              </a:rPr>
              <a:t>Native messaging</a:t>
            </a:r>
            <a:endParaRPr lang="en-US" sz="1400" dirty="0"/>
          </a:p>
        </p:txBody>
      </p:sp>
      <p:sp>
        <p:nvSpPr>
          <p:cNvPr id="8" name="Text 5"/>
          <p:cNvSpPr txBox="1"/>
          <p:nvPr/>
        </p:nvSpPr>
        <p:spPr>
          <a:xfrm>
            <a:off x="1097280" y="2941320"/>
            <a:ext cx="1943100" cy="2956560"/>
          </a:xfrm>
          <a:prstGeom prst="rect">
            <a:avLst/>
          </a:prstGeom>
          <a:noFill/>
          <a:ln/>
        </p:spPr>
        <p:txBody>
          <a:bodyPr wrap="square" lIns="0" tIns="0" rIns="0" bIns="0" rtlCol="0" anchor="t"/>
          <a:lstStyle/>
          <a:p>
            <a:pPr indent="0" marL="0">
              <a:buNone/>
            </a:pPr>
            <a:r>
              <a:rPr lang="en-US" sz="2300" dirty="0">
                <a:solidFill>
                  <a:schemeClr val="bg2"/>
                </a:solidFill>
              </a:rPr>
              <a:t>pass and segmented downloads need zpwrchrome's native host</a:t>
            </a:r>
            <a:endParaRPr lang="en-US" sz="2300" dirty="0"/>
          </a:p>
        </p:txBody>
      </p:sp>
      <p:sp>
        <p:nvSpPr>
          <p:cNvPr id="9" name="Shape 6"/>
          <p:cNvSpPr/>
          <p:nvPr/>
        </p:nvSpPr>
        <p:spPr>
          <a:xfrm>
            <a:off x="3497580" y="2118360"/>
            <a:ext cx="2491740" cy="4008120"/>
          </a:xfrm>
          <a:prstGeom prst="roundRect">
            <a:avLst>
              <a:gd name="adj" fmla="val 4404"/>
            </a:avLst>
          </a:prstGeom>
          <a:solidFill>
            <a:schemeClr val="tx2"/>
          </a:solidFill>
          <a:ln w="12700">
            <a:solidFill>
              <a:srgbClr val="4A1A5E"/>
            </a:solidFill>
            <a:prstDash val="solid"/>
          </a:ln>
        </p:spPr>
      </p:sp>
      <p:sp>
        <p:nvSpPr>
          <p:cNvPr id="10" name="Text 7"/>
          <p:cNvSpPr txBox="1"/>
          <p:nvPr/>
        </p:nvSpPr>
        <p:spPr>
          <a:xfrm>
            <a:off x="3771900" y="2346960"/>
            <a:ext cx="1943100" cy="457200"/>
          </a:xfrm>
          <a:prstGeom prst="rect">
            <a:avLst/>
          </a:prstGeom>
          <a:noFill/>
          <a:ln/>
        </p:spPr>
        <p:txBody>
          <a:bodyPr wrap="square" lIns="0" tIns="0" rIns="0" bIns="0" rtlCol="0" anchor="t"/>
          <a:lstStyle/>
          <a:p>
            <a:pPr indent="0" marL="0">
              <a:buNone/>
            </a:pPr>
            <a:r>
              <a:rPr lang="en-US" sz="1400" b="1" dirty="0">
                <a:solidFill>
                  <a:schemeClr val="accent1"/>
                </a:solidFill>
                <a:latin typeface="Cambria" pitchFamily="34" charset="0"/>
                <a:ea typeface="Cambria" pitchFamily="34" charset="-122"/>
                <a:cs typeface="Cambria" pitchFamily="34" charset="-120"/>
              </a:rPr>
              <a:t>Banner</a:t>
            </a:r>
            <a:endParaRPr lang="en-US" sz="1400" dirty="0"/>
          </a:p>
        </p:txBody>
      </p:sp>
      <p:sp>
        <p:nvSpPr>
          <p:cNvPr id="11" name="Text 8"/>
          <p:cNvSpPr txBox="1"/>
          <p:nvPr/>
        </p:nvSpPr>
        <p:spPr>
          <a:xfrm>
            <a:off x="3771900" y="2941320"/>
            <a:ext cx="1943100" cy="2956560"/>
          </a:xfrm>
          <a:prstGeom prst="rect">
            <a:avLst/>
          </a:prstGeom>
          <a:noFill/>
          <a:ln/>
        </p:spPr>
        <p:txBody>
          <a:bodyPr wrap="square" lIns="0" tIns="0" rIns="0" bIns="0" rtlCol="0" anchor="t"/>
          <a:lstStyle/>
          <a:p>
            <a:pPr indent="0" marL="0">
              <a:buNone/>
            </a:pPr>
            <a:r>
              <a:rPr lang="en-US" sz="2300" dirty="0">
                <a:solidFill>
                  <a:schemeClr val="bg2"/>
                </a:solidFill>
              </a:rPr>
              <a:t>Unpacked extensions show Chromium's developer-extensions notice; cosmetic</a:t>
            </a:r>
            <a:endParaRPr lang="en-US" sz="2300" dirty="0"/>
          </a:p>
        </p:txBody>
      </p:sp>
      <p:sp>
        <p:nvSpPr>
          <p:cNvPr id="12" name="Shape 9"/>
          <p:cNvSpPr/>
          <p:nvPr/>
        </p:nvSpPr>
        <p:spPr>
          <a:xfrm>
            <a:off x="6172200" y="2118360"/>
            <a:ext cx="2491740" cy="4008120"/>
          </a:xfrm>
          <a:prstGeom prst="roundRect">
            <a:avLst>
              <a:gd name="adj" fmla="val 4404"/>
            </a:avLst>
          </a:prstGeom>
          <a:solidFill>
            <a:schemeClr val="tx2"/>
          </a:solidFill>
          <a:ln w="12700">
            <a:solidFill>
              <a:srgbClr val="4A1A5E"/>
            </a:solidFill>
            <a:prstDash val="solid"/>
          </a:ln>
        </p:spPr>
      </p:sp>
      <p:sp>
        <p:nvSpPr>
          <p:cNvPr id="13" name="Text 10"/>
          <p:cNvSpPr txBox="1"/>
          <p:nvPr/>
        </p:nvSpPr>
        <p:spPr>
          <a:xfrm>
            <a:off x="6446520" y="2346960"/>
            <a:ext cx="1943100" cy="457200"/>
          </a:xfrm>
          <a:prstGeom prst="rect">
            <a:avLst/>
          </a:prstGeom>
          <a:noFill/>
          <a:ln/>
        </p:spPr>
        <p:txBody>
          <a:bodyPr wrap="square" lIns="0" tIns="0" rIns="0" bIns="0" rtlCol="0" anchor="t"/>
          <a:lstStyle/>
          <a:p>
            <a:pPr indent="0" marL="0">
              <a:buNone/>
            </a:pPr>
            <a:r>
              <a:rPr lang="en-US" sz="1400" b="1" dirty="0">
                <a:solidFill>
                  <a:schemeClr val="accent1"/>
                </a:solidFill>
                <a:latin typeface="Cambria" pitchFamily="34" charset="0"/>
                <a:ea typeface="Cambria" pitchFamily="34" charset="-122"/>
                <a:cs typeface="Cambria" pitchFamily="34" charset="-120"/>
              </a:rPr>
              <a:t>State</a:t>
            </a:r>
            <a:endParaRPr lang="en-US" sz="1400" dirty="0"/>
          </a:p>
        </p:txBody>
      </p:sp>
      <p:sp>
        <p:nvSpPr>
          <p:cNvPr id="14" name="Text 11"/>
          <p:cNvSpPr txBox="1"/>
          <p:nvPr/>
        </p:nvSpPr>
        <p:spPr>
          <a:xfrm>
            <a:off x="6446520" y="2941320"/>
            <a:ext cx="1943100" cy="2956560"/>
          </a:xfrm>
          <a:prstGeom prst="rect">
            <a:avLst/>
          </a:prstGeom>
          <a:noFill/>
          <a:ln/>
        </p:spPr>
        <p:txBody>
          <a:bodyPr wrap="square" lIns="0" tIns="0" rIns="0" bIns="0" rtlCol="0" anchor="t"/>
          <a:lstStyle/>
          <a:p>
            <a:pPr indent="0" marL="0">
              <a:buNone/>
            </a:pPr>
            <a:r>
              <a:rPr lang="en-US" sz="2300" dirty="0">
                <a:solidFill>
                  <a:schemeClr val="bg2"/>
                </a:solidFill>
              </a:rPr>
              <a:t>$ZWIRE_STATE per OS application-data directory</a:t>
            </a:r>
            <a:endParaRPr lang="en-US" sz="2300" dirty="0"/>
          </a:p>
        </p:txBody>
      </p:sp>
      <p:sp>
        <p:nvSpPr>
          <p:cNvPr id="15" name="Shape 12"/>
          <p:cNvSpPr/>
          <p:nvPr/>
        </p:nvSpPr>
        <p:spPr>
          <a:xfrm>
            <a:off x="8846820" y="2118360"/>
            <a:ext cx="2491740" cy="4008120"/>
          </a:xfrm>
          <a:prstGeom prst="roundRect">
            <a:avLst>
              <a:gd name="adj" fmla="val 4404"/>
            </a:avLst>
          </a:prstGeom>
          <a:solidFill>
            <a:schemeClr val="tx2"/>
          </a:solidFill>
          <a:ln w="12700">
            <a:solidFill>
              <a:srgbClr val="4A1A5E"/>
            </a:solidFill>
            <a:prstDash val="solid"/>
          </a:ln>
        </p:spPr>
      </p:sp>
      <p:sp>
        <p:nvSpPr>
          <p:cNvPr id="16" name="Text 13"/>
          <p:cNvSpPr txBox="1"/>
          <p:nvPr/>
        </p:nvSpPr>
        <p:spPr>
          <a:xfrm>
            <a:off x="9121140" y="2346960"/>
            <a:ext cx="1943100" cy="457200"/>
          </a:xfrm>
          <a:prstGeom prst="rect">
            <a:avLst/>
          </a:prstGeom>
          <a:noFill/>
          <a:ln/>
        </p:spPr>
        <p:txBody>
          <a:bodyPr wrap="square" lIns="0" tIns="0" rIns="0" bIns="0" rtlCol="0" anchor="t"/>
          <a:lstStyle/>
          <a:p>
            <a:pPr indent="0" marL="0">
              <a:buNone/>
            </a:pPr>
            <a:r>
              <a:rPr lang="en-US" sz="1400" b="1" dirty="0">
                <a:solidFill>
                  <a:schemeClr val="accent1"/>
                </a:solidFill>
                <a:latin typeface="Cambria" pitchFamily="34" charset="0"/>
                <a:ea typeface="Cambria" pitchFamily="34" charset="-122"/>
                <a:cs typeface="Cambria" pitchFamily="34" charset="-120"/>
              </a:rPr>
              <a:t>Base</a:t>
            </a:r>
            <a:endParaRPr lang="en-US" sz="1400" dirty="0"/>
          </a:p>
        </p:txBody>
      </p:sp>
      <p:sp>
        <p:nvSpPr>
          <p:cNvPr id="17" name="Text 14"/>
          <p:cNvSpPr txBox="1"/>
          <p:nvPr/>
        </p:nvSpPr>
        <p:spPr>
          <a:xfrm>
            <a:off x="9121140" y="2941320"/>
            <a:ext cx="1943100" cy="2956560"/>
          </a:xfrm>
          <a:prstGeom prst="rect">
            <a:avLst/>
          </a:prstGeom>
          <a:noFill/>
          <a:ln/>
        </p:spPr>
        <p:txBody>
          <a:bodyPr wrap="square" lIns="0" tIns="0" rIns="0" bIns="0" rtlCol="0" anchor="t"/>
          <a:lstStyle/>
          <a:p>
            <a:pPr indent="0" marL="0">
              <a:buNone/>
            </a:pPr>
            <a:r>
              <a:rPr lang="en-US" sz="2300" dirty="0">
                <a:solidFill>
                  <a:schemeClr val="bg2"/>
                </a:solidFill>
              </a:rPr>
              <a:t>ZWIRE_BASE overrides the Chromium binary</a:t>
            </a:r>
            <a:endParaRPr lang="en-US" sz="23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The native fork</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zwire users / fork</a:t>
            </a:r>
            <a:endParaRPr lang="en-US" sz="1200" dirty="0"/>
          </a:p>
        </p:txBody>
      </p:sp>
      <p:sp>
        <p:nvSpPr>
          <p:cNvPr id="5" name="Text 2"/>
          <p:cNvSpPr txBox="1"/>
          <p:nvPr/>
        </p:nvSpPr>
        <p:spPr>
          <a:xfrm>
            <a:off x="822960" y="1463040"/>
            <a:ext cx="10515600" cy="1045845"/>
          </a:xfrm>
          <a:prstGeom prst="rect">
            <a:avLst/>
          </a:prstGeom>
          <a:noFill/>
          <a:ln/>
        </p:spPr>
        <p:txBody>
          <a:bodyPr wrap="square" lIns="0" tIns="0" rIns="0" bIns="0" rtlCol="0" anchor="t"/>
          <a:lstStyle/>
          <a:p>
            <a:pPr indent="0" marL="0">
              <a:buNone/>
            </a:pPr>
            <a:r>
              <a:rPr lang="en-US" sz="2100" dirty="0">
                <a:solidFill>
                  <a:schemeClr val="bg2"/>
                </a:solidFill>
              </a:rPr>
              <a:t>The fork compiles a patched Chromium so the native chrome carries the HUD: sharp tab shapes, the Share Tech Mono UI font, the neon toolbar, the omnibox and native menus bound to the HUD palette.</a:t>
            </a:r>
            <a:endParaRPr lang="en-US" sz="2100" dirty="0"/>
          </a:p>
        </p:txBody>
      </p:sp>
      <p:sp>
        <p:nvSpPr>
          <p:cNvPr id="6" name="Shape 3"/>
          <p:cNvSpPr/>
          <p:nvPr/>
        </p:nvSpPr>
        <p:spPr>
          <a:xfrm>
            <a:off x="822960" y="2737485"/>
            <a:ext cx="2491740" cy="3388995"/>
          </a:xfrm>
          <a:prstGeom prst="roundRect">
            <a:avLst>
              <a:gd name="adj" fmla="val 4404"/>
            </a:avLst>
          </a:prstGeom>
          <a:solidFill>
            <a:schemeClr val="tx2"/>
          </a:solidFill>
          <a:ln w="12700">
            <a:solidFill>
              <a:srgbClr val="4A1A5E"/>
            </a:solidFill>
            <a:prstDash val="solid"/>
          </a:ln>
        </p:spPr>
      </p:sp>
      <p:sp>
        <p:nvSpPr>
          <p:cNvPr id="7" name="Text 4"/>
          <p:cNvSpPr txBox="1"/>
          <p:nvPr/>
        </p:nvSpPr>
        <p:spPr>
          <a:xfrm>
            <a:off x="1097280" y="2966085"/>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Patches</a:t>
            </a:r>
            <a:endParaRPr lang="en-US" sz="2600" dirty="0"/>
          </a:p>
        </p:txBody>
      </p:sp>
      <p:sp>
        <p:nvSpPr>
          <p:cNvPr id="8" name="Text 5"/>
          <p:cNvSpPr txBox="1"/>
          <p:nvPr/>
        </p:nvSpPr>
        <p:spPr>
          <a:xfrm>
            <a:off x="1097280" y="3560445"/>
            <a:ext cx="1943100" cy="2337435"/>
          </a:xfrm>
          <a:prstGeom prst="rect">
            <a:avLst/>
          </a:prstGeom>
          <a:noFill/>
          <a:ln/>
        </p:spPr>
        <p:txBody>
          <a:bodyPr wrap="square" lIns="0" tIns="0" rIns="0" bIns="0" rtlCol="0" anchor="t"/>
          <a:lstStyle/>
          <a:p>
            <a:pPr indent="0" marL="0">
              <a:buNone/>
            </a:pPr>
            <a:r>
              <a:rPr lang="en-US" sz="2500" dirty="0">
                <a:solidFill>
                  <a:schemeClr val="bg2"/>
                </a:solidFill>
              </a:rPr>
              <a:t>28 HUD patches</a:t>
            </a:r>
            <a:endParaRPr lang="en-US" sz="2500" dirty="0"/>
          </a:p>
        </p:txBody>
      </p:sp>
      <p:sp>
        <p:nvSpPr>
          <p:cNvPr id="9" name="Shape 6"/>
          <p:cNvSpPr/>
          <p:nvPr/>
        </p:nvSpPr>
        <p:spPr>
          <a:xfrm>
            <a:off x="3497580" y="2737485"/>
            <a:ext cx="2491740" cy="3388995"/>
          </a:xfrm>
          <a:prstGeom prst="roundRect">
            <a:avLst>
              <a:gd name="adj" fmla="val 4404"/>
            </a:avLst>
          </a:prstGeom>
          <a:solidFill>
            <a:schemeClr val="tx2"/>
          </a:solidFill>
          <a:ln w="12700">
            <a:solidFill>
              <a:srgbClr val="4A1A5E"/>
            </a:solidFill>
            <a:prstDash val="solid"/>
          </a:ln>
        </p:spPr>
      </p:sp>
      <p:sp>
        <p:nvSpPr>
          <p:cNvPr id="10" name="Text 7"/>
          <p:cNvSpPr txBox="1"/>
          <p:nvPr/>
        </p:nvSpPr>
        <p:spPr>
          <a:xfrm>
            <a:off x="3771900" y="2966085"/>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Pinned</a:t>
            </a:r>
            <a:endParaRPr lang="en-US" sz="2600" dirty="0"/>
          </a:p>
        </p:txBody>
      </p:sp>
      <p:sp>
        <p:nvSpPr>
          <p:cNvPr id="11" name="Text 8"/>
          <p:cNvSpPr txBox="1"/>
          <p:nvPr/>
        </p:nvSpPr>
        <p:spPr>
          <a:xfrm>
            <a:off x="3771900" y="3560445"/>
            <a:ext cx="1943100" cy="2337435"/>
          </a:xfrm>
          <a:prstGeom prst="rect">
            <a:avLst/>
          </a:prstGeom>
          <a:noFill/>
          <a:ln/>
        </p:spPr>
        <p:txBody>
          <a:bodyPr wrap="square" lIns="0" tIns="0" rIns="0" bIns="0" rtlCol="0" anchor="t"/>
          <a:lstStyle/>
          <a:p>
            <a:pPr indent="0" marL="0">
              <a:buNone/>
            </a:pPr>
            <a:r>
              <a:rPr lang="en-US" sz="2500" dirty="0">
                <a:solidFill>
                  <a:schemeClr val="bg2"/>
                </a:solidFill>
              </a:rPr>
              <a:t>Chromium tag 150.0.7871.46</a:t>
            </a:r>
            <a:endParaRPr lang="en-US" sz="2500" dirty="0"/>
          </a:p>
        </p:txBody>
      </p:sp>
      <p:sp>
        <p:nvSpPr>
          <p:cNvPr id="12" name="Shape 9"/>
          <p:cNvSpPr/>
          <p:nvPr/>
        </p:nvSpPr>
        <p:spPr>
          <a:xfrm>
            <a:off x="6172200" y="2737485"/>
            <a:ext cx="2491740" cy="3388995"/>
          </a:xfrm>
          <a:prstGeom prst="roundRect">
            <a:avLst>
              <a:gd name="adj" fmla="val 4404"/>
            </a:avLst>
          </a:prstGeom>
          <a:solidFill>
            <a:schemeClr val="tx2"/>
          </a:solidFill>
          <a:ln w="12700">
            <a:solidFill>
              <a:srgbClr val="4A1A5E"/>
            </a:solidFill>
            <a:prstDash val="solid"/>
          </a:ln>
        </p:spPr>
      </p:sp>
      <p:sp>
        <p:nvSpPr>
          <p:cNvPr id="13" name="Text 10"/>
          <p:cNvSpPr txBox="1"/>
          <p:nvPr/>
        </p:nvSpPr>
        <p:spPr>
          <a:xfrm>
            <a:off x="6446520" y="2966085"/>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Cost</a:t>
            </a:r>
            <a:endParaRPr lang="en-US" sz="2600" dirty="0"/>
          </a:p>
        </p:txBody>
      </p:sp>
      <p:sp>
        <p:nvSpPr>
          <p:cNvPr id="14" name="Text 11"/>
          <p:cNvSpPr txBox="1"/>
          <p:nvPr/>
        </p:nvSpPr>
        <p:spPr>
          <a:xfrm>
            <a:off x="6446520" y="3560445"/>
            <a:ext cx="1943100" cy="2337435"/>
          </a:xfrm>
          <a:prstGeom prst="rect">
            <a:avLst/>
          </a:prstGeom>
          <a:noFill/>
          <a:ln/>
        </p:spPr>
        <p:txBody>
          <a:bodyPr wrap="square" lIns="0" tIns="0" rIns="0" bIns="0" rtlCol="0" anchor="t"/>
          <a:lstStyle/>
          <a:p>
            <a:pPr indent="0" marL="0">
              <a:buNone/>
            </a:pPr>
            <a:r>
              <a:rPr lang="en-US" sz="2500" dirty="0">
                <a:solidFill>
                  <a:schemeClr val="bg2"/>
                </a:solidFill>
              </a:rPr>
              <a:t>About 100 GB checkout, 1 to 4 hours first build</a:t>
            </a:r>
            <a:endParaRPr lang="en-US" sz="2500" dirty="0"/>
          </a:p>
        </p:txBody>
      </p:sp>
      <p:sp>
        <p:nvSpPr>
          <p:cNvPr id="15" name="Shape 12"/>
          <p:cNvSpPr/>
          <p:nvPr/>
        </p:nvSpPr>
        <p:spPr>
          <a:xfrm>
            <a:off x="8846820" y="2737485"/>
            <a:ext cx="2491740" cy="3388995"/>
          </a:xfrm>
          <a:prstGeom prst="roundRect">
            <a:avLst>
              <a:gd name="adj" fmla="val 4404"/>
            </a:avLst>
          </a:prstGeom>
          <a:solidFill>
            <a:schemeClr val="tx2"/>
          </a:solidFill>
          <a:ln w="12700">
            <a:solidFill>
              <a:srgbClr val="4A1A5E"/>
            </a:solidFill>
            <a:prstDash val="solid"/>
          </a:ln>
        </p:spPr>
      </p:sp>
      <p:sp>
        <p:nvSpPr>
          <p:cNvPr id="16" name="Text 13"/>
          <p:cNvSpPr txBox="1"/>
          <p:nvPr/>
        </p:nvSpPr>
        <p:spPr>
          <a:xfrm>
            <a:off x="9121140" y="2966085"/>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Not CI</a:t>
            </a:r>
            <a:endParaRPr lang="en-US" sz="2600" dirty="0"/>
          </a:p>
        </p:txBody>
      </p:sp>
      <p:sp>
        <p:nvSpPr>
          <p:cNvPr id="17" name="Text 14"/>
          <p:cNvSpPr txBox="1"/>
          <p:nvPr/>
        </p:nvSpPr>
        <p:spPr>
          <a:xfrm>
            <a:off x="9121140" y="3560445"/>
            <a:ext cx="1943100" cy="2337435"/>
          </a:xfrm>
          <a:prstGeom prst="rect">
            <a:avLst/>
          </a:prstGeom>
          <a:noFill/>
          <a:ln/>
        </p:spPr>
        <p:txBody>
          <a:bodyPr wrap="square" lIns="0" tIns="0" rIns="0" bIns="0" rtlCol="0" anchor="t"/>
          <a:lstStyle/>
          <a:p>
            <a:pPr indent="0" marL="0">
              <a:buNone/>
            </a:pPr>
            <a:r>
              <a:rPr lang="en-US" sz="2500" dirty="0">
                <a:solidFill>
                  <a:schemeClr val="bg2"/>
                </a:solidFill>
              </a:rPr>
              <a:t>Does not fit on stock GitHub runners</a:t>
            </a:r>
            <a:endParaRPr lang="en-US" sz="25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Platforms</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zwire users / platforms</a:t>
            </a:r>
            <a:endParaRPr lang="en-US" sz="1200" dirty="0"/>
          </a:p>
        </p:txBody>
      </p:sp>
      <p:sp>
        <p:nvSpPr>
          <p:cNvPr id="5" name="Text 2"/>
          <p:cNvSpPr txBox="1"/>
          <p:nvPr/>
        </p:nvSpPr>
        <p:spPr>
          <a:xfrm>
            <a:off x="822960" y="1463040"/>
            <a:ext cx="10515600" cy="426720"/>
          </a:xfrm>
          <a:prstGeom prst="rect">
            <a:avLst/>
          </a:prstGeom>
          <a:noFill/>
          <a:ln/>
        </p:spPr>
        <p:txBody>
          <a:bodyPr wrap="square" lIns="0" tIns="0" rIns="0" bIns="0" rtlCol="0" anchor="t"/>
          <a:lstStyle/>
          <a:p>
            <a:pPr indent="0" marL="0">
              <a:buNone/>
            </a:pPr>
            <a:r>
              <a:rPr lang="en-US" sz="2400" dirty="0">
                <a:solidFill>
                  <a:schemeClr val="bg2"/>
                </a:solidFill>
              </a:rPr>
              <a:t>From the README notes.</a:t>
            </a:r>
            <a:endParaRPr lang="en-US" sz="24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822960" y="2118360"/>
          <a:ext cx="10515600" cy="914400"/>
        </p:xfrm>
        <a:graphic>
          <a:graphicData uri="http://schemas.openxmlformats.org/drawingml/2006/table">
            <a:tbl>
              <a:tblPr/>
              <a:tblGrid>
                <a:gridCol w="2743200"/>
                <a:gridCol w="7772400"/>
              </a:tblGrid>
              <a:tr h="822960">
                <a:tc>
                  <a:txBody>
                    <a:bodyPr/>
                    <a:lstStyle/>
                    <a:p>
                      <a:pPr indent="0" marL="0">
                        <a:buNone/>
                      </a:pPr>
                      <a:r>
                        <a:rPr lang="en-US" sz="2100" b="1" dirty="0">
                          <a:solidFill>
                            <a:schemeClr val="accent1"/>
                          </a:solidFill>
                        </a:rPr>
                        <a:t>Platform</a:t>
                      </a:r>
                      <a:endParaRPr lang="en-US" sz="21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c>
                  <a:txBody>
                    <a:bodyPr/>
                    <a:lstStyle/>
                    <a:p>
                      <a:pPr indent="0" marL="0">
                        <a:buNone/>
                      </a:pPr>
                      <a:r>
                        <a:rPr lang="en-US" sz="2100" b="1" dirty="0">
                          <a:solidFill>
                            <a:schemeClr val="accent1"/>
                          </a:solidFill>
                        </a:rPr>
                        <a:t>Support</a:t>
                      </a:r>
                      <a:endParaRPr lang="en-US" sz="21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r>
              <a:tr h="822960">
                <a:tc>
                  <a:txBody>
                    <a:bodyPr/>
                    <a:lstStyle/>
                    <a:p>
                      <a:pPr indent="0" marL="0">
                        <a:buNone/>
                      </a:pPr>
                      <a:r>
                        <a:rPr lang="en-US" sz="2100" dirty="0">
                          <a:solidFill>
                            <a:schemeClr val="bg2"/>
                          </a:solidFill>
                        </a:rPr>
                        <a:t>macOS</a:t>
                      </a:r>
                      <a:endParaRPr lang="en-US" sz="21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c>
                  <a:txBody>
                    <a:bodyPr/>
                    <a:lstStyle/>
                    <a:p>
                      <a:pPr indent="0" marL="0">
                        <a:buNone/>
                      </a:pPr>
                      <a:r>
                        <a:rPr lang="en-US" sz="2100" dirty="0">
                          <a:solidFill>
                            <a:schemeClr val="bg2"/>
                          </a:solidFill>
                        </a:rPr>
                        <a:t>aarch64 and x64 with bin/zwire; in-place Dock rebrand</a:t>
                      </a:r>
                      <a:endParaRPr lang="en-US" sz="21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r>
              <a:tr h="822960">
                <a:tc>
                  <a:txBody>
                    <a:bodyPr/>
                    <a:lstStyle/>
                    <a:p>
                      <a:pPr indent="0" marL="0">
                        <a:buNone/>
                      </a:pPr>
                      <a:r>
                        <a:rPr lang="en-US" sz="2100" dirty="0">
                          <a:solidFill>
                            <a:schemeClr val="bg2"/>
                          </a:solidFill>
                        </a:rPr>
                        <a:t>Linux</a:t>
                      </a:r>
                      <a:endParaRPr lang="en-US" sz="21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c>
                  <a:txBody>
                    <a:bodyPr/>
                    <a:lstStyle/>
                    <a:p>
                      <a:pPr indent="0" marL="0">
                        <a:buNone/>
                      </a:pPr>
                      <a:r>
                        <a:rPr lang="en-US" sz="2100" dirty="0">
                          <a:solidFill>
                            <a:schemeClr val="bg2"/>
                          </a:solidFill>
                        </a:rPr>
                        <a:t>x86_64 with bin/zwire</a:t>
                      </a:r>
                      <a:endParaRPr lang="en-US" sz="21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r>
              <a:tr h="822960">
                <a:tc>
                  <a:txBody>
                    <a:bodyPr/>
                    <a:lstStyle/>
                    <a:p>
                      <a:pPr indent="0" marL="0">
                        <a:buNone/>
                      </a:pPr>
                      <a:r>
                        <a:rPr lang="en-US" sz="2100" dirty="0">
                          <a:solidFill>
                            <a:schemeClr val="bg2"/>
                          </a:solidFill>
                        </a:rPr>
                        <a:t>Windows</a:t>
                      </a:r>
                      <a:endParaRPr lang="en-US" sz="21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c>
                  <a:txBody>
                    <a:bodyPr/>
                    <a:lstStyle/>
                    <a:p>
                      <a:pPr indent="0" marL="0">
                        <a:buNone/>
                      </a:pPr>
                      <a:r>
                        <a:rPr lang="en-US" sz="2100" dirty="0">
                          <a:solidFill>
                            <a:schemeClr val="bg2"/>
                          </a:solidFill>
                        </a:rPr>
                        <a:t>localinstall-windows.ps1 with its own zwire.cmd launcher</a:t>
                      </a:r>
                      <a:endParaRPr lang="en-US" sz="21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Updating the base</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zwire users / update</a:t>
            </a:r>
            <a:endParaRPr lang="en-US" sz="1200" dirty="0"/>
          </a:p>
        </p:txBody>
      </p:sp>
      <p:sp>
        <p:nvSpPr>
          <p:cNvPr id="5" name="Text 2"/>
          <p:cNvSpPr txBox="1"/>
          <p:nvPr/>
        </p:nvSpPr>
        <p:spPr>
          <a:xfrm>
            <a:off x="822960" y="1463040"/>
            <a:ext cx="10515600" cy="426720"/>
          </a:xfrm>
          <a:prstGeom prst="rect">
            <a:avLst/>
          </a:prstGeom>
          <a:noFill/>
          <a:ln/>
        </p:spPr>
        <p:txBody>
          <a:bodyPr wrap="square" lIns="0" tIns="0" rIns="0" bIns="0" rtlCol="0" anchor="t"/>
          <a:lstStyle/>
          <a:p>
            <a:pPr indent="0" marL="0">
              <a:buNone/>
            </a:pPr>
            <a:r>
              <a:rPr lang="en-US" sz="2400" dirty="0">
                <a:solidFill>
                  <a:schemeClr val="bg2"/>
                </a:solidFill>
              </a:rPr>
              <a:t>Swap the Chromium base and re-apply the rebrand.</a:t>
            </a:r>
            <a:endParaRPr lang="en-US" sz="2400" dirty="0"/>
          </a:p>
        </p:txBody>
      </p:sp>
      <p:sp>
        <p:nvSpPr>
          <p:cNvPr id="6" name="Shape 3"/>
          <p:cNvSpPr/>
          <p:nvPr/>
        </p:nvSpPr>
        <p:spPr>
          <a:xfrm>
            <a:off x="822960" y="2118360"/>
            <a:ext cx="10515600" cy="1920240"/>
          </a:xfrm>
          <a:prstGeom prst="roundRect">
            <a:avLst>
              <a:gd name="adj" fmla="val 5714"/>
            </a:avLst>
          </a:prstGeom>
          <a:solidFill>
            <a:schemeClr val="tx2"/>
          </a:solidFill>
          <a:ln w="12700">
            <a:solidFill>
              <a:srgbClr val="4A1A5E"/>
            </a:solidFill>
            <a:prstDash val="solid"/>
          </a:ln>
        </p:spPr>
      </p:sp>
      <p:sp>
        <p:nvSpPr>
          <p:cNvPr id="7" name="Text 4"/>
          <p:cNvSpPr txBox="1"/>
          <p:nvPr/>
        </p:nvSpPr>
        <p:spPr>
          <a:xfrm>
            <a:off x="1143000" y="2346960"/>
            <a:ext cx="9875520" cy="1463040"/>
          </a:xfrm>
          <a:prstGeom prst="rect">
            <a:avLst/>
          </a:prstGeom>
          <a:noFill/>
          <a:ln/>
        </p:spPr>
        <p:txBody>
          <a:bodyPr wrap="square" lIns="0" tIns="0" rIns="0" bIns="0" rtlCol="0" anchor="t"/>
          <a:lstStyle/>
          <a:p>
            <a:pPr indent="0" marL="0">
              <a:lnSpc>
                <a:spcPct val="125000"/>
              </a:lnSpc>
              <a:buNone/>
            </a:pPr>
            <a:r>
              <a:rPr lang="en-US" sz="2400" dirty="0">
                <a:solidFill>
                  <a:schemeClr val="accent1"/>
                </a:solidFill>
                <a:latin typeface="Courier New" pitchFamily="34" charset="0"/>
                <a:ea typeface="Courier New" pitchFamily="34" charset="-122"/>
                <a:cs typeface="Courier New" pitchFamily="34" charset="-120"/>
              </a:rPr>
              <a:t>scripts/fetch-base.sh              # latest snapshot</a:t>
            </a:r>
            <a:endParaRPr lang="en-US" sz="2400" dirty="0"/>
          </a:p>
          <a:p>
            <a:pPr indent="0" marL="0">
              <a:lnSpc>
                <a:spcPct val="125000"/>
              </a:lnSpc>
              <a:buNone/>
            </a:pPr>
            <a:r>
              <a:rPr lang="en-US" sz="2400" dirty="0">
                <a:solidFill>
                  <a:schemeClr val="accent1"/>
                </a:solidFill>
                <a:latin typeface="Courier New" pitchFamily="34" charset="0"/>
                <a:ea typeface="Courier New" pitchFamily="34" charset="-122"/>
                <a:cs typeface="Courier New" pitchFamily="34" charset="-120"/>
              </a:rPr>
              <a:t>scripts/fetch-base.sh 1656770      # pin a revision</a:t>
            </a:r>
            <a:endParaRPr lang="en-US" sz="2400" dirty="0"/>
          </a:p>
          <a:p>
            <a:pPr indent="0" marL="0">
              <a:lnSpc>
                <a:spcPct val="125000"/>
              </a:lnSpc>
              <a:buNone/>
            </a:pPr>
            <a:r>
              <a:rPr lang="en-US" sz="2400" dirty="0">
                <a:solidFill>
                  <a:schemeClr val="accent1"/>
                </a:solidFill>
                <a:latin typeface="Courier New" pitchFamily="34" charset="0"/>
                <a:ea typeface="Courier New" pitchFamily="34" charset="-122"/>
                <a:cs typeface="Courier New" pitchFamily="34" charset="-120"/>
              </a:rPr>
              <a:t>scripts/rebrand-macos.sh</a:t>
            </a:r>
            <a:endParaRPr lang="en-US" sz="24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Cheat sheet</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zwire users / cheat-sheet</a:t>
            </a:r>
            <a:endParaRPr lang="en-US" sz="1200" dirty="0"/>
          </a:p>
        </p:txBody>
      </p:sp>
      <p:sp>
        <p:nvSpPr>
          <p:cNvPr id="5" name="Text 2"/>
          <p:cNvSpPr txBox="1"/>
          <p:nvPr/>
        </p:nvSpPr>
        <p:spPr>
          <a:xfrm>
            <a:off x="822960" y="1463040"/>
            <a:ext cx="10515600" cy="426720"/>
          </a:xfrm>
          <a:prstGeom prst="rect">
            <a:avLst/>
          </a:prstGeom>
          <a:noFill/>
          <a:ln/>
        </p:spPr>
        <p:txBody>
          <a:bodyPr wrap="square" lIns="0" tIns="0" rIns="0" bIns="0" rtlCol="0" anchor="t"/>
          <a:lstStyle/>
          <a:p>
            <a:pPr indent="0" marL="0">
              <a:buNone/>
            </a:pPr>
            <a:r>
              <a:rPr lang="en-US" sz="2400" dirty="0">
                <a:solidFill>
                  <a:schemeClr val="bg2"/>
                </a:solidFill>
              </a:rPr>
              <a:t>A page people can photograph.</a:t>
            </a:r>
            <a:endParaRPr lang="en-US" sz="2400" dirty="0"/>
          </a:p>
        </p:txBody>
      </p:sp>
      <p:sp>
        <p:nvSpPr>
          <p:cNvPr id="6" name="Shape 3"/>
          <p:cNvSpPr/>
          <p:nvPr/>
        </p:nvSpPr>
        <p:spPr>
          <a:xfrm>
            <a:off x="822960" y="2118360"/>
            <a:ext cx="10515600" cy="3728720"/>
          </a:xfrm>
          <a:prstGeom prst="roundRect">
            <a:avLst>
              <a:gd name="adj" fmla="val 2943"/>
            </a:avLst>
          </a:prstGeom>
          <a:solidFill>
            <a:schemeClr val="tx2"/>
          </a:solidFill>
          <a:ln w="12700">
            <a:solidFill>
              <a:srgbClr val="4A1A5E"/>
            </a:solidFill>
            <a:prstDash val="solid"/>
          </a:ln>
        </p:spPr>
      </p:sp>
      <p:sp>
        <p:nvSpPr>
          <p:cNvPr id="7" name="Text 4"/>
          <p:cNvSpPr txBox="1"/>
          <p:nvPr/>
        </p:nvSpPr>
        <p:spPr>
          <a:xfrm>
            <a:off x="1143000" y="2346960"/>
            <a:ext cx="9875520" cy="3271520"/>
          </a:xfrm>
          <a:prstGeom prst="rect">
            <a:avLst/>
          </a:prstGeom>
          <a:noFill/>
          <a:ln/>
        </p:spPr>
        <p:txBody>
          <a:bodyPr wrap="square" lIns="0" tIns="0" rIns="0" bIns="0" rtlCol="0" anchor="t"/>
          <a:lstStyle/>
          <a:p>
            <a:pPr indent="0" marL="0">
              <a:lnSpc>
                <a:spcPct val="125000"/>
              </a:lnSpc>
              <a:buNone/>
            </a:pPr>
            <a:r>
              <a:rPr lang="en-US" sz="2300" dirty="0">
                <a:solidFill>
                  <a:schemeClr val="accent1"/>
                </a:solidFill>
                <a:latin typeface="Courier New" pitchFamily="34" charset="0"/>
                <a:ea typeface="Courier New" pitchFamily="34" charset="-122"/>
                <a:cs typeface="Courier New" pitchFamily="34" charset="-120"/>
              </a:rPr>
              <a:t>scripts/install.sh</a:t>
            </a:r>
            <a:endParaRPr lang="en-US" sz="2300" dirty="0"/>
          </a:p>
          <a:p>
            <a:pPr indent="0" marL="0">
              <a:lnSpc>
                <a:spcPct val="125000"/>
              </a:lnSpc>
              <a:buNone/>
            </a:pPr>
            <a:r>
              <a:rPr lang="en-US" sz="2300" dirty="0">
                <a:solidFill>
                  <a:schemeClr val="accent1"/>
                </a:solidFill>
                <a:latin typeface="Courier New" pitchFamily="34" charset="0"/>
                <a:ea typeface="Courier New" pitchFamily="34" charset="-122"/>
                <a:cs typeface="Courier New" pitchFamily="34" charset="-120"/>
              </a:rPr>
              <a:t>zwire</a:t>
            </a:r>
            <a:endParaRPr lang="en-US" sz="2300" dirty="0"/>
          </a:p>
          <a:p>
            <a:pPr indent="0" marL="0">
              <a:lnSpc>
                <a:spcPct val="125000"/>
              </a:lnSpc>
              <a:buNone/>
            </a:pPr>
            <a:r>
              <a:rPr lang="en-US" sz="2300" dirty="0">
                <a:solidFill>
                  <a:schemeClr val="accent1"/>
                </a:solidFill>
                <a:latin typeface="Courier New" pitchFamily="34" charset="0"/>
                <a:ea typeface="Courier New" pitchFamily="34" charset="-122"/>
                <a:cs typeface="Courier New" pitchFamily="34" charset="-120"/>
              </a:rPr>
              <a:t>zwire &lt;url&gt;</a:t>
            </a:r>
            <a:endParaRPr lang="en-US" sz="2300" dirty="0"/>
          </a:p>
          <a:p>
            <a:pPr indent="0" marL="0">
              <a:lnSpc>
                <a:spcPct val="125000"/>
              </a:lnSpc>
              <a:buNone/>
            </a:pPr>
            <a:r>
              <a:rPr lang="en-US" sz="2300" dirty="0">
                <a:solidFill>
                  <a:schemeClr val="accent1"/>
                </a:solidFill>
                <a:latin typeface="Courier New" pitchFamily="34" charset="0"/>
                <a:ea typeface="Courier New" pitchFamily="34" charset="-122"/>
                <a:cs typeface="Courier New" pitchFamily="34" charset="-120"/>
              </a:rPr>
              <a:t>Ctrl-b then a pane or window action</a:t>
            </a:r>
            <a:endParaRPr lang="en-US" sz="2300" dirty="0"/>
          </a:p>
          <a:p>
            <a:pPr indent="0" marL="0">
              <a:lnSpc>
                <a:spcPct val="125000"/>
              </a:lnSpc>
              <a:buNone/>
            </a:pPr>
            <a:r>
              <a:rPr lang="en-US" sz="2300" dirty="0">
                <a:solidFill>
                  <a:schemeClr val="accent1"/>
                </a:solidFill>
                <a:latin typeface="Courier New" pitchFamily="34" charset="0"/>
                <a:ea typeface="Courier New" pitchFamily="34" charset="-122"/>
                <a:cs typeface="Courier New" pitchFamily="34" charset="-120"/>
              </a:rPr>
              <a:t>Cmd-K    palette</a:t>
            </a:r>
            <a:endParaRPr lang="en-US" sz="2300" dirty="0"/>
          </a:p>
          <a:p>
            <a:pPr indent="0" marL="0">
              <a:lnSpc>
                <a:spcPct val="125000"/>
              </a:lnSpc>
              <a:buNone/>
            </a:pPr>
            <a:r>
              <a:rPr lang="en-US" sz="2300" dirty="0">
                <a:solidFill>
                  <a:schemeClr val="accent1"/>
                </a:solidFill>
                <a:latin typeface="Courier New" pitchFamily="34" charset="0"/>
                <a:ea typeface="Courier New" pitchFamily="34" charset="-122"/>
                <a:cs typeface="Courier New" pitchFamily="34" charset="-120"/>
              </a:rPr>
              <a:t>Cmd-Y    history</a:t>
            </a:r>
            <a:endParaRPr lang="en-US" sz="2300" dirty="0"/>
          </a:p>
          <a:p>
            <a:pPr indent="0" marL="0">
              <a:lnSpc>
                <a:spcPct val="125000"/>
              </a:lnSpc>
              <a:buNone/>
            </a:pPr>
            <a:r>
              <a:rPr lang="en-US" sz="2300" dirty="0">
                <a:solidFill>
                  <a:schemeClr val="accent1"/>
                </a:solidFill>
                <a:latin typeface="Courier New" pitchFamily="34" charset="0"/>
                <a:ea typeface="Courier New" pitchFamily="34" charset="-122"/>
                <a:cs typeface="Courier New" pitchFamily="34" charset="-120"/>
              </a:rPr>
              <a:t>ZWIRE_BASE=/path zwire</a:t>
            </a:r>
            <a:endParaRPr lang="en-US" sz="23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3" name="Image 0" descr="/private/tmp/claude-501/-Users-wizard-RustroverProjects-zshrs/2555d359-9a79-4736-9207-869cc21577b1/scratchpad/zwire_logo/logo-mark.png">    </p:cNvPr>
          <p:cNvPicPr>
            <a:picLocks noChangeAspect="1"/>
          </p:cNvPicPr>
          <p:nvPr/>
        </p:nvPicPr>
        <p:blipFill>
          <a:blip r:embed="rId1"/>
          <a:stretch>
            <a:fillRect/>
          </a:stretch>
        </p:blipFill>
        <p:spPr>
          <a:xfrm>
            <a:off x="822960" y="640080"/>
            <a:ext cx="2011680" cy="2011680"/>
          </a:xfrm>
          <a:prstGeom prst="rect">
            <a:avLst/>
          </a:prstGeom>
        </p:spPr>
      </p:pic>
      <p:sp>
        <p:nvSpPr>
          <p:cNvPr id="4" name="Text 0"/>
          <p:cNvSpPr txBox="1"/>
          <p:nvPr/>
        </p:nvSpPr>
        <p:spPr>
          <a:xfrm>
            <a:off x="3200400" y="822960"/>
            <a:ext cx="7315200" cy="1188720"/>
          </a:xfrm>
          <a:prstGeom prst="rect">
            <a:avLst/>
          </a:prstGeom>
          <a:noFill/>
          <a:ln/>
        </p:spPr>
        <p:txBody>
          <a:bodyPr wrap="square" lIns="0" tIns="0" rIns="0" bIns="0" rtlCol="0" anchor="t"/>
          <a:lstStyle/>
          <a:p>
            <a:pPr indent="0" marL="0">
              <a:buNone/>
            </a:pPr>
            <a:r>
              <a:rPr lang="en-US" sz="6600" b="1" dirty="0">
                <a:solidFill>
                  <a:schemeClr val="bg2"/>
                </a:solidFill>
                <a:latin typeface="Cambria" pitchFamily="34" charset="0"/>
                <a:ea typeface="Cambria" pitchFamily="34" charset="-122"/>
                <a:cs typeface="Cambria" pitchFamily="34" charset="-120"/>
              </a:rPr>
              <a:t>zwire</a:t>
            </a:r>
            <a:endParaRPr lang="en-US" sz="6600" dirty="0"/>
          </a:p>
        </p:txBody>
      </p:sp>
      <p:sp>
        <p:nvSpPr>
          <p:cNvPr id="5" name="Text 1"/>
          <p:cNvSpPr txBox="1"/>
          <p:nvPr/>
        </p:nvSpPr>
        <p:spPr>
          <a:xfrm>
            <a:off x="3200400" y="2011680"/>
            <a:ext cx="7315200" cy="457200"/>
          </a:xfrm>
          <a:prstGeom prst="rect">
            <a:avLst/>
          </a:prstGeom>
          <a:noFill/>
          <a:ln/>
        </p:spPr>
        <p:txBody>
          <a:bodyPr wrap="square" lIns="0" tIns="0" rIns="0" bIns="0" rtlCol="0" anchor="t"/>
          <a:lstStyle/>
          <a:p>
            <a:pPr indent="0" marL="0">
              <a:buNone/>
            </a:pPr>
            <a:r>
              <a:rPr lang="en-US" sz="2200" dirty="0">
                <a:solidFill>
                  <a:schemeClr val="accent1"/>
                </a:solidFill>
                <a:latin typeface="Courier New" pitchFamily="34" charset="0"/>
                <a:ea typeface="Courier New" pitchFamily="34" charset="-122"/>
                <a:cs typeface="Courier New" pitchFamily="34" charset="-120"/>
              </a:rPr>
              <a:t>zwire for users</a:t>
            </a:r>
            <a:endParaRPr lang="en-US" sz="2200" dirty="0"/>
          </a:p>
        </p:txBody>
      </p:sp>
      <p:sp>
        <p:nvSpPr>
          <p:cNvPr id="6" name="Text 2"/>
          <p:cNvSpPr txBox="1"/>
          <p:nvPr/>
        </p:nvSpPr>
        <p:spPr>
          <a:xfrm>
            <a:off x="822960" y="3200400"/>
            <a:ext cx="10515600" cy="1280160"/>
          </a:xfrm>
          <a:prstGeom prst="rect">
            <a:avLst/>
          </a:prstGeom>
          <a:noFill/>
          <a:ln/>
        </p:spPr>
        <p:txBody>
          <a:bodyPr wrap="square" lIns="0" tIns="0" rIns="0" bIns="0" rtlCol="0" anchor="t"/>
          <a:lstStyle/>
          <a:p>
            <a:pPr indent="0" marL="0">
              <a:buNone/>
            </a:pPr>
            <a:r>
              <a:rPr lang="en-US" sz="4400" b="1" dirty="0">
                <a:solidFill>
                  <a:schemeClr val="bg2"/>
                </a:solidFill>
                <a:latin typeface="Cambria" pitchFamily="34" charset="0"/>
                <a:ea typeface="Cambria" pitchFamily="34" charset="-122"/>
                <a:cs typeface="Cambria" pitchFamily="34" charset="-120"/>
              </a:rPr>
              <a:t>Questions</a:t>
            </a:r>
            <a:endParaRPr lang="en-US" sz="4400" dirty="0"/>
          </a:p>
        </p:txBody>
      </p:sp>
      <p:sp>
        <p:nvSpPr>
          <p:cNvPr id="7" name="Text 3"/>
          <p:cNvSpPr txBox="1"/>
          <p:nvPr/>
        </p:nvSpPr>
        <p:spPr>
          <a:xfrm>
            <a:off x="822960" y="4937760"/>
            <a:ext cx="10058400" cy="548640"/>
          </a:xfrm>
          <a:prstGeom prst="rect">
            <a:avLst/>
          </a:prstGeom>
          <a:noFill/>
          <a:ln/>
        </p:spPr>
        <p:txBody>
          <a:bodyPr wrap="square" lIns="0" tIns="0" rIns="0" bIns="0" rtlCol="0" anchor="t"/>
          <a:lstStyle/>
          <a:p>
            <a:pPr indent="0" marL="0">
              <a:buNone/>
            </a:pPr>
            <a:r>
              <a:rPr lang="en-US" sz="2600" dirty="0">
                <a:solidFill>
                  <a:schemeClr val="accent5"/>
                </a:solidFill>
              </a:rPr>
              <a:t>github.com/MenkeTechnologies/zwire</a:t>
            </a:r>
            <a:endParaRPr lang="en-US" sz="2600" dirty="0"/>
          </a:p>
        </p:txBody>
      </p:sp>
      <p:sp>
        <p:nvSpPr>
          <p:cNvPr id="8"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39</a:t>
            </a:fld>
            <a:endParaRPr lang="en-US"/>
          </a:p>
        </p:txBody>
      </p:sp>
    </p:spTree>
  </p:cSld>
  <p:clrMapOvr>
    <a:masterClrMapping/>
  </p:clrMapOvr>
</p:sld>
</file>

<file path=ppt/theme/theme1.xml><?xml version="1.0" encoding="utf-8"?>
<a:theme xmlns:a="http://schemas.openxmlformats.org/drawingml/2006/main" name="zshrs talk">
  <a:themeElements>
    <a:clrScheme name="zshrs talk">
      <a:dk1>
        <a:srgbClr val="05050A"/>
      </a:dk1>
      <a:lt1>
        <a:srgbClr val="0D0A1E"/>
      </a:lt1>
      <a:dk2>
        <a:srgbClr val="11112A"/>
      </a:dk2>
      <a:lt2>
        <a:srgbClr val="E6F4FF"/>
      </a:lt2>
      <a:accent1>
        <a:srgbClr val="05D9E8"/>
      </a:accent1>
      <a:accent2>
        <a:srgbClr val="05D9E8"/>
      </a:accent2>
      <a:accent3>
        <a:srgbClr val="FF2A6D"/>
      </a:accent3>
      <a:accent4>
        <a:srgbClr val="D300C5"/>
      </a:accent4>
      <a:accent5>
        <a:srgbClr val="9A9AB8"/>
      </a:accent5>
      <a:accent6>
        <a:srgbClr val="6A6A8C"/>
      </a:accent6>
      <a:hlink>
        <a:srgbClr val="05D9E8"/>
      </a:hlink>
      <a:folHlink>
        <a:srgbClr val="9A9AB8"/>
      </a:folHlink>
    </a:clrScheme>
    <a:fontScheme name="zshrs tal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zwire for users</dc:title>
  <dc:subject>PptxGenJS Presentation</dc:subject>
  <dc:creator>PptxGenJS</dc:creator>
  <cp:lastModifiedBy>PptxGenJS</cp:lastModifiedBy>
  <cp:revision>1</cp:revision>
  <dcterms:created xsi:type="dcterms:W3CDTF">2026-10-10T01:26:59Z</dcterms:created>
  <dcterms:modified xsi:type="dcterms:W3CDTF">2026-10-10T01:26:59Z</dcterms:modified>
</cp:coreProperties>
</file>